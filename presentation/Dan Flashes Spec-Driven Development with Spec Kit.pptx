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Default Extension="fntdata" ContentType="application/x-fontdata"/>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12192000" cy="6858000"/>
  <p:notesSz cx="6858000" cy="12192000"/>
  <p:embeddedFontLst>
    <p:embeddedFont>
      <p:font typeface="Geist" pitchFamily="34" charset="0"/>
      <p:regular r:id="rId30"/>
      <p:bold r:id="rId31"/>
      <p:italic r:id="rId32"/>
      <p:boldItalic r:id="rId33"/>
    </p:embeddedFont>
    <p:embeddedFont>
      <p:font typeface="Geist Mono" panose="02010009000000000000" pitchFamily="49" charset="0"/>
      <p:regular r:id="rId34"/>
      <p:bold r:id="rId35"/>
    </p:embeddedFont>
    <p:embeddedFont>
      <p:font typeface="Bungee" pitchFamily="34" charset="0"/>
      <p:regular r:id="rId36"/>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 Id="rId30" Type="http://schemas.openxmlformats.org/officeDocument/2006/relationships/font" Target="fonts/font1.fntdata"/><Relationship Id="rId31" Type="http://schemas.openxmlformats.org/officeDocument/2006/relationships/font" Target="fonts/font2.fntdata"/><Relationship Id="rId32" Type="http://schemas.openxmlformats.org/officeDocument/2006/relationships/font" Target="fonts/font3.fntdata"/><Relationship Id="rId33" Type="http://schemas.openxmlformats.org/officeDocument/2006/relationships/font" Target="fonts/font4.fntdata"/><Relationship Id="rId34" Type="http://schemas.openxmlformats.org/officeDocument/2006/relationships/font" Target="fonts/font5.fntdata"/><Relationship Id="rId35" Type="http://schemas.openxmlformats.org/officeDocument/2006/relationships/font" Target="fonts/font6.fntdata"/><Relationship Id="rId36" Type="http://schemas.openxmlformats.org/officeDocument/2006/relationships/font" Target="fonts/font7.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Dan Flashes is the shirt store from the “I Think You Should Leave” sketch: shirts so complicated that the price makes no sense. I used it as a learning project for GitHub Spec Kit after Barret Blake’s talk at Beer City Code 2026. Tonight: what we built, how Spec Kit works, how I actually drove it, how every decision ended up in git, and the honest cons, including burning through my weekly token allowance two days early. Repo: ddenhartigh-nishtech/DanFlashes-SpecKitTutorial (private).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was the whole brief, plus: “we should probably clone the spec kit into the dan flashes root dir… then walk through the proper spec kit steps of defining the constitution and other required md files.” Correction #1 came immediately: you don’t clone spec-kit. You install the specify CLI and run “specify init --here --integration claude --script ps”, which drops the templates, scripts and slash commands into the project. Ground rules I set on day 1: - Only my ddenhartigh-nishtech GitHub account, never the old client account. - At first, “I do not want you pushing anything to github”. An hour later, once the private repo existed, Claude was allowed to commit and push to that one repo. - Merges only when I say 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More numbers if anyone asks: - About 18,500 lines of app TypeScript and about 16,400 lines of tests. - 17 database migrations (SQLite through Drizzle). - 12 feature folders under specs/, each with spec, plan, research, data model, contracts, quickstart and tasks. - Claude made 2,915 model calls: 2,696 shell commands, 594 file writes, 573 edits. The point of this slide: the ratio. I wrote about 120 messages, most of them things like “Q1: A, Q2: B, Q3: A” or “merge away”. The ~16,000 lines of specs weren’t typed by me. I decided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dark pattern is a feature, played completely straight. That’s a constitution principle: “Aggressively Upbeat, Shamelessly Manipulative”. Quick tour: - 001: home, the complexity/price filter, zoom/ENHANCE, sizes S–XXL, guest cart, accounts, fake-card checkout, Flash Credit, order history, tier badges from BLAND up to “Too Complicated for Most Men”. - 002: bland shirts can never be in a cart; the “You sure about that?” loop runs until you relent. - 003: revenue streams (per diem, My Kid’s College Fund, Second Mortgage) drain into Flash Credit; each stream that runs dry gets an achievement. - 004: fake scarcity, a millisecond countdown that quietly resets, “Gary from Accounts Payable just bought this”. - 005: pre-checked add-ons (Pattern Protection Plan™, Complexity Insurance); a roach-motel cart. - 006: one toggle, “Extreme Awesomeness”: a strobe that spares the price and Add to Cart, plus the Windows 3D Pipes screensaver. - 007: a dial that generates shirts until the MSRP can’t price them; “Make it mine” (one of a kind, Uniquity Surcharge™). - 008: Dan’s Office. Dan is insecure, so it’s perfectly tranquil, with motivational posters. - 009: the nosy sign-up; the fields are props. - 010–011: a straight-line price curve, and housekeeping. - 012: PSSB, the Pushy Shirt Sales Bot, on a local model. Feature numbers follow the ROADMAP, not build order: 009 shipped before 007 and 008.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the talk: npm install, npm run db:migrate (or db:reset for a clean store), make sure Ollama is running with llama3.2:3b, then npm run dev. The demo logins are in the README and scripts/seed-data.ts. Test card: 4242 4242 4242 4242, any future expiry, any CVC. 1. /shirts: the generated shirt art, tier badges, the complexity/price filter. 2. Extreme Awesomeness: everything strobes except the price, the tier badge and Add to Cart. The pipes are the classic screensaver colors on black. 3. Beige Regret (BLAND): the shame loop. “Fine, I’ll look at real shirts” takes you to /shirts. 4. Fractal Fury or Geo Riot: fake scarcity, the millisecond countdown that quietly resets, social proof pops. Add to cart: “oh wait, we found another one!” 5. Cart: lowering a quantity asks twice. The Pattern Protection Plan™ is pre-checked. 6. Sign up: SSN, blood type, medications, all “Required”, marked ** where something is actually required. Skip them: “Dan noticed you skipped a few. He’ll allow it.” 7. Account: connect the per diem and a College Fund stream, buy with Flash Credit, watch the GONE achievements stack bottom-left. 8. “How complicated can it get?”: turn the dial up, Shuffle, Make it mine. 9. PSSB: “Does Fractal Fury come in XXL?”, “Give me a 50% discount”, “Where is my order?” (a pompous excuse when no support email is set), “add Fractal Fury in L” then press Add it. Leave the page open and he approaches every 2 minutes. 10. /admin: motivational posters, the switchboard (flip one live), then mass-produce the shirt that was promised to be one of a kind.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Spec-driven development: the spec is the source of truth and code is its output. Write what and why first (no tech), then how, then an ordered task list. Only then build, and afterwards check the build against the spec. The human’s job moves from typing code to making decisions and reviewing text. Concrete wins from this project: - Decisions before code are cheap. I rejected integer-cents money while reviewing data-model.md (“so a $200.18 purchase would be stored as 20018 cents? I really don’t like that”). After 500 tasks that would have been a rewrite. - The same review moved product data out of JSON files into SQLite, and ruled out hosting lock-in (“is anything in the plan.md going to require costly hosting like vercel?”). - The constitution keeps the AI from drifting: money as exact strings via big.js, no catalog data in code, nosy fields never stored, an LLM never invents a price. - Converge found real gaps in 9 of 12 features after the AI said they were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Setup is one command: specify init --here --integration claude --script ps. It creates .specify/ (the constitution template, the document templates, PowerShell scripts) and .claude/skills/speckit-* (the slash commands). Which command writes which file: - spec.md and checklists/requirements.md: /speckit-specify, then /speckit-clarify adds the Clarifications log (“### Session 2026-10-14 · Q: Which revenue streams exist? → A: …”). - plan.md, research.md, data-model.md, contracts/, quickstart.md: /speckit-plan. - tasks.md: /speckit-tasks, then /speckit-converge appends a “Phase N: Convergence” at the bottom. It never rewrites what’s there. A task looks like: “- [ ] T012 [P] [US1] Create the cart audit in src/lib/cart/audit.ts”. [P] means it can run in parallel; [US1] ties it to user story 1. quickstart.md ends with measured results: Lighthouse LCP and CLS, eval scores, test counts. The PR description quotes it. Size: 12 feature folders, roughly 700–2,000 lines each, about 16,000 lines in total.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each one showed up in this project: - /speckit-constitution: created v1.0.0, then amended 7 times. Each amendment bumps semver and writes a Sync Impact Report saying what else must change. - /speckit-specify: one run per ROADMAP row. Allows at most 3 [NEEDS CLARIFICATION] markers; every other gap gets an informed default, recorded under Assumptions. - /speckit-clarify: asks one question at a time, with lettered options and a recommendation, and writes each answer into the spec. My answers: “Q1 - C &amp; I think the countdown showing milliseconds would be extra intense. Q2 - C lets see it - give me the option to manually dismiss them as well. Q3 - B”. - /speckit-plan: for 001 it picked Next.js 16, SQLite, Drizzle, Vitest and Playwright. I reviewed it file by file in VS Code. - /speckit-tasks: 14 to 83 tasks per feature, 511 in all. - /speckit-analyze: read-only. Findings get IDs (A = ambiguity, C = coverage, D = duplication, I = inconsistency, U = underspecified; constitution conflicts are always CRITICAL). Nothing changes until you approve. - /speckit-implement: scoped by range, e.g. “T001–T040”. - /speckit-converge: found gaps in 9 of 12 features. Run it again until it says Converged.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constitution is where the project’s non-negotiables live, and it’s what keeps the AI from drifting over two weeks and 12 features. It holds both kinds of rule: - Comedy rules: “The store MUST NEVER explain the joke.” “Every feature MUST answer one question: does this make him buy another shirt?” Manipulation is a feature, played straight. - Engineering rules: money as exact strings through src/lib/money.ts; product data only in SQLite; pages read the database at request time inside Suspense; npm run verify (format, lint, types, ≥90% coverage, e2e) must pass before any merge; nosy sign-up fields are never submitted, stored or logged; card numbers are never stored (brand and last 4 only). The best moment: Claude’s first draft of principle IV was “Aggressively Upbeat, Never Deceptive” (no fake scarcity, no fake timers, no pre-checked boxes). That’s the responsible default, but the joke is that Dan Flashes is manipulative. I pushed back, and it was ratified as “Shamelessly Manipulative”. That one decision became features 004 (Urgency Engine) and 005 (Checkout Squeeze). Then the back office got its own carve-out in v4.1.0: “The back office is calm.”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Where each version came from: - 2.0.0: the draft said “You set scores, never prices.” I wrote: “not true - I ultimately set the final price, but the suggested MSRP is determined through an exponential algorithm.” - 3.0.0: came out of my review of plan.md and data-model.md. - 4.0.0: came out of /speckit-analyze. “I don’t see why this is necessary at all - if I want to do pricing v complexity analysis as a store owner, that is a downstream requirement.” - 4.1.0: “Dan’s a phoney, I want the admin tool to be perfectly tranquil and calm, he is insecure.” - 5.0.0 (MAJOR): the price curve. Next slides. - 5.1.0 (MINOR): PSSB’s rules. Lesson on semver: four MAJOR bumps in the first two days. On 10-13 I asked, “we keep changing major versions of the constitution, what are the minor and shame versions for if not these smaller tweaks?” After that, amendments were batched: one draft per feature, the bump justified, ratified when the PR merges. The PR description says “merging this PR ratifies constitution vX”. On ratifying: you don’t need initials. Git records who changed the line and when, so the date is enough.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feature had the same loop: ROADMAP row → branch NNN-name → /speckit-specify → /speckit-clarify (I answer) → /speckit-plan (I review plan, data model, contracts) → /speckit-tasks → /speckit-analyze (I answer findings by ID) → a constitution amendment if needed → /speckit-implement → I click through and report bugs → fixes, with the spec updated to match → /speckit-converge → npm run verify green → PR → “merge away”. A typical feature cost me 6 to 10 short messages. 004 shipped fake scarcity (“Only 1 left!”, and after an add, “oh wait, we found another one!”), the millisecond countdown that quietly resets, and the social-proof pop-ups. Note the specify answer: I wasn’t just answering, I was adding ideas. The structure gives you a natural place to do that without derailing the build.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More examples: - Shorthand: “Q1 - infinite / looping - I want the site to prevent the user from adding the shirt to their cart… Q2 - B. Q3 - A, lets keep it simple.” Analyze answers by ID: “U1 - people shouldn’t be able to add bland shirts to their cart period. G1 - see U1. G2 - sure.” - IDE review: VS Code sends the selected lines along with the question. I also asked about plan.md: “is anything in the plan.md going to require costly hosting like vercel?” - Bug reports: “when I nav to a shirt from the bland popup, I am not able to select a size or add to cart… I am guessing the clear covering div from the bland popup modal hasn’t been cleaned up appropriately.” (It hadn’t.) - Roadmap parking: the pipes screensaver came up while I was admiring the home page (“that can come later”). The nosy sign-up came up while I was reviewing routes.md. “Make pricing less exponential” became 010. - Asking why: “npm run shirts:sweep -- --yes is a weird command, why the empty arg?” led to a separate shirts:sweep:delete script. “I like the term audit over check” renamed the catalog check everywhere. - Asking for better errors: “I would like errors that inform me what is broken.” Now a 500 prints a [Dan Flashes] line in the terminal with the command that fixes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Full quotes: - “You set scores, never prices” — “not true - I ultimately set the final price, but the suggested MSRP is determined through an exponential algorithm.” - “All money is integer cents… so a $200.18 purchase would be stored as 20018 cents? I really don’t like that - store the money as currency dollars that go to the hundredths place for cents.” - “Tier… is going to correspond to an integer ID in another table… regarding bland - I don’t think that needs to be its own bool.” That gave us a tiers table, with BLAND as the lowest tier. - “it is not necessary for one to see the complexity score… the idea of tagging shirts with different categories of hype/complexity though… is an interesting one” led to tier badges (constitution 3.0.0). - “people shouldn’t be able to add bland shirts to their cart period” - “Spend the per diem first, then the oldest money. Each stream gets its own ‘left’ amount. Every stream that runs dry unlocks its own achievement.” - During 005 I changed 004’s copy (“‘Just kidding, we actually found another one!’ doesn’t really work if I increment qty from 1 → 5”), and the change was recorded in 004’s spec, not just the code. - 011: “make sure to keep the ones that Dan made in the back office that he just hasn’t released to the storefront yet”, implemented with an owner_changed_at marker (migration 0015). That’s the point of living specs: specs/ describes the app as it is, not as it was first imagined.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best story in the project. On day 1, I told the constitution: “the suggested MSRP is determined through an exponential algorithm.” It looked fine on paper and passed every test. Then feature 007 added a dial that generates shirts with ever-higher complexity scores, and on 10-19 I generated one at score 9000. Its MSRP had 181 digits. Also, a shirt labeled “Too Complicated for Most Men” looked “pretty plain”. My ask: “can we alter the pricing formula to be less exponential and more linear? we can add it to the roadmap (should be a fairly small task - just tweaking the math and retroing the pre-existing prices)”. That became ROADMAP 010, Gentler Pricing Curve: a straight-line MSRP ($50.00 + $25.00 per point by default, two dials in Settings), every shirt repriced at once, Dan’s own prices cleared, orders untouched. Because it changed a NON-NEGOTIABLE principle, it was a MAJOR constitution bump: v5.0.0. The point: a wrong spec decision is still cheap to fix when the fix goes through the same process. And six months from now, git shows exactly why the curve is a straight 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The idea (10-20): “I would like to add a chatbot to the storefront - lets call him PSSB (Pushy Shirt Sales Bot)… elitist and condescending, but also somehow encouraging and really wants me to buy shirts as my life’s highest priority / crowning achievement.” I pasted a PowerShell call to Ollama on my other laptop as the example. 2. Clarify, six decisions: he can talk, link AND add to cart; he knows the cart, orders, Flash Credit and per diem; he approaches every 2 minutes; order problems go to a support email Dan sets; the model runs on this machine but is configurable in code or the DB; with no support email, he invents a pompous excuse for why Dan can’t be reached. 3. Plan: with my OK, Claude pulled two small models, benchmarked them on this CPU-only laptop and picked llama3.2:3b. The design: a cached fact sheet, streamed replies, a price guard that blanks any dollar amount the store didn’t give him, links built by the store (never by the model), and a 2-minute clock shared across tabs. 4. Constitution 5.1.0: the model is never told scores, card data, nosy fields, passwords or shoppers’ emails, and chats are never stored. 5. 35 tasks. The e2e tests talk to a stand-in model on port 3101, so they’re deterministic. 6. npm run pssb:eval: 30 shopper questions and 20 attempts to break him. Run 1: he once said “I’m a large language model”, and replies were long. Run 2: a cold prompt (about 30 s on CPU) was misread as “unreachable”. Run 3: 50/50 on time (first words in 1–3 s), 0 invented prices, 0 out of character. 7. Converge: the dial wasn’t linked, replies ran long, and one page load was a hair over budget. All fixed (T036–T038). 8. Merged after the Next.js security upgrade (PR #13) was merged in and verify re-run. The reply on the slide is a real one from eval run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these live if there’s time. One spec’s history, 007 Pattern Generator, all on 10-19: - docs(007): spec draft — three questions open (FR-001, FR-003, FR-018) - docs(007): spec — Q1–Q3 resolved: both dial and console, the count starts the score, shopper-made shirts are one of a kind - docs: constitution v4.2.0 draft - docs(007): analysis remediation — I1 art limit in FR-007, G1 every payment method, G2 console sweeps, U1 rested shirt… - docs(007): owner review round (Q4–Q9) — made to order, Uniquity Surcharge, mass production, sidebar link…; ROADMAP 010 gentler pricing - feat(007): FR-028 console confirmations are short-lived - and later feat(010): … living specs and README, which updated 007’s spec again when the price curve changed. Every line traces back to a conversation, and every commit names the requirement or finding it closes. Also in the history: README.md changed in 20 commits and ROADMAP.md in 27. Each feature’s quickstart.md ends with measured results (Lighthouse, eval scores, test counts), which the PR description quotes. Convergence phases are appended to tasks.md, never rewritten, so you can see what the first implementation missed. 186 commits, 13 PRs. git blame on any requirement shows when it changed, and the commit message says why.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numbers come from the session log itself, a 259 MB transcript file. Totals: about 1.47 billion tokens read from cache, about 15 million written to cache, about 3.9 million generated. This was the first time in a long time I burned through my weekly allowance, and two days early. I hit the limit overnight 10-20 → 10-21, after telling it “implement your recommendation for all” on PSSB at about 4 AM, and came back on 10-23 at a lower effort level. The busiest day was 10-16: 643 calls and about 346 million tokens read. That day I merged 005, built and merged 006, built and merged 009, and started 008, all in the same conversation. Caveat: cached tokens are much cheaper than fresh ones, but they still count against usage limits. At half a million tokens a turn, nothing is cheap.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mechanics: each model call sends the whole conversation so far. Caching makes repeats cheaper, not free, and limits still count them. 2,915 calls × ~500K tokens ≈ 1.47 billion. Examples where I didn’t manage the context: - “this looks great, open the PR / merge it in, then get started on 007 stuff, run the speckit command you need until you need my input”: one feature straight into the next, same conversation. - 008, the admin console (70 tasks): “yes do all that - do it up to the point where it is ready to merge”. - 012: “go ahead with the plan, analyze the constitution, amend it if needed, etc.”, then at about 4 AM “implement your recommendation for all”. That run included tuning against a real local LLM on a CPU, which means a lot of waiting and re-running inside a ~900K context. - On 10-13 I even asked, “should I bump the model effort level before we attempt to implement?” Effort went up, not down. What I did right: batching. Most feedback came as one message with every answer and bug in it, rather than a stream of small messages, each re-reading the context.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irony: Spec Kit is built for exactly this, and I used it like one long pair-programming call. Everything a fresh session needs is on disk: the constitution, spec.md, plan.md, tasks.md with its checkboxes, ROADMAP.md, README.md and CLAUDE.md. A new chat can start with “/speckit-implement — continue 012 from the first unchecked task”. When I really did run out of tokens mid-feature, picking back up was painless for exactly that reason. A natural split: - Session A: specify → clarify → plan → tasks → analyze (needs judgment; worth Opus at high effort). - Session B: implement → converge (mechanical; Sonnet or lower effort). - Session C: verify, PR, merge. Claude Code details: - /clear starts from zero. /compact keeps a summary and carries on; give it a focus, e.g. “/compact keep only the 012 task status and open bugs”. - /context shows what is filling the window. - /model switches models mid-session. - Subagents run in their own context and return only their conclusion. - Keep tool output small: quiet test reporters, tail the log, read files in ranges. And keep batching feedback into one message.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Ceremony: Spec Kit fits features, not typos. Small bug fixes were done inline, with the spec updated afterwards. - Jargon: analyze findings come with IDs (A1, C1, G1, I1, K1, U1), and some were phrased for an engineer, not an owner. Mine: “A1 - I don’t understand what you’re asking here”, “U1 - I’m not sure what you’re getting at”, “I2 - I’m not sure what you’re getting at”. - Rubber-stamping: on 007 I answered nine findings with “implement your recommendation”; on 010 and 012, “implement your recommendation for all”. That moves judgment back to the AI, the very thing the process is meant to prevent. At least skim the HIGH and CRITICAL ones. - Constitution churn: v1 → v4 in two days. Later, one batched amendment per feature PR. - Bugs I found by clicking: cart quantities of 0 and below; the cart count not clearing after checkout; an invisible modal overlay that blocked every click; a $10K cap on applying Flash Credit that I never asked for; a shirt labeled “too complicated” that looked plain; the 181-digit price. Tests caught many regressions, but product judgment only came from using the site. - Tools: npm run verify grew to 8–10 minutes. A machine-level PYTHONHOME broke the specify CLI, which also wasn’t on PATH. Two GitHub accounts. The conversation opened in the wrong VS Code folder. Next.js 16 is newer than the model’s training (the repo’s AGENTS.md literally says “This is NOT the Next.js you know”). A Next.js security notice failed builds until they were retried. And 010 and 011 were stacked on 007’s branch: merging in the wrong order closed PR #10, which had to be reopened and retargeted to main. - Drift: the ROADMAP still said 002 was “in progress” after it merged. Converge checks code against specs, not the ROADMAP’s status column.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Repo: github.com/ddenhartigh-nishtech/DanFlashes-SpecKitTutorial (private). The demo logins are in the README and scripts/seed-data.ts. Test card: 4242 4242 4242 4242, any future expiry, any 3-digit CVC. No real payments, ever. After pulling new work: npm install, then npm run db:migrate (it backs up first and keeps your data), then npm run dev. If a page 500s, the terminal prints a [Dan Flashes] line naming the command that fixes it. Dan’s Office: npm run admin:grant -- followed by an email address makes that account the owner (command line only), then browse to /admin. PSSB: Ollama serves llama3.2:3b on localhost:11434. “ollama ps” shows what’s loaded (about 2.5–3 GB of RAM). “ollama stop llama3.2:3b” unloads it; the store keeps it loaded for 2 hours after the last chat. Switch PSSB off in Settings and the store never calls the model. If Ollama is off, PSSB answers with canned in-character lines and the store keeps working. npm run pssb:eval runs 30 questions and 20 attempts to break him against the real model. Other scripts: catalog:audit, shirts:sweep (lists abandoned creations, changes nothing), shirts:sweep:delete, db:backup / db:restore.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accounts come from scripts/seed-data.ts. npm run db:reset wipes the database and recreates the catalog plus these two accounts; npm run db:migrate keeps existing data and leaves them as they are. Demo Dan is for the shopper path: browse, add to cart, check out with Flash Credit or the test card, and meet PSSB. Dan is for the back office: catalog edits, mass-producing a shopper's shirt, settings such as switching PSSB off. They only exist on a local copy, and a reset recreates them, so it's fine to show them on screen.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ratio: about 120 messages from me, about 16,000 lines of specs and 18,500 lines of code from the process. My job was deciding, reviewing and clicking through the site. Three takeaways: 1. Decide before code. Clarify and analyze put the hard calls in front of you while they’re cheap: money as exact decimals, no deleting shirts, bland shirts never in a cart. 2. Write the laws down. The constitution kept the comedy and the engineering rules consistent across 12 features and two weeks, and it’s versioned, so you can see every change of mind. 3. Start fresh sessions. The single long conversation was the expensive mistake. Spec Kit’s files are the memory, so use them. If there’s time, open the repo: the constitution’s history, specs/012-pushy-sales-bot/, the Convergence phase at the bottom of its tasks.md, git log --merges, and PR #12’s description.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FF8E7"/>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02320"/>
            <a:ext cx="10566400" cy="446980"/>
          </a:xfrm>
          <a:prstGeom prst="rect">
            <a:avLst/>
          </a:prstGeom>
          <a:noFill/>
          <a:ln/>
        </p:spPr>
        <p:txBody>
          <a:bodyPr wrap="square" lIns="0" tIns="0" rIns="0" bIns="0" rtlCol="0" anchor="t"/>
          <a:lstStyle>
            <a:lvl1pPr algn="l" indent="0" marL="0">
              <a:lnSpc>
                <a:spcPct val="115000"/>
              </a:lnSpc>
              <a:buNone/>
              <a:defRPr lang="en-US" sz="3200" dirty="0">
                <a:solidFill>
                  <a:srgbClr val="111111"/>
                </a:solidFill>
                <a:latin typeface="Bungee" pitchFamily="34" charset="0"/>
                <a:ea typeface="Bungee" pitchFamily="34" charset="-122"/>
                <a:cs typeface="Bungee"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854101"/>
            <a:ext cx="10566400" cy="4191099"/>
          </a:xfrm>
          <a:prstGeom prst="rect">
            <a:avLst/>
          </a:prstGeom>
          <a:noFill/>
          <a:ln/>
        </p:spPr>
        <p:txBody>
          <a:bodyPr wrap="square" lIns="0" tIns="0" rIns="0" bIns="0" rtlCol="0" anchor="t"/>
          <a:lstStyle>
            <a:lvl1pPr algn="l" indent="0" marL="0">
              <a:lnSpc>
                <a:spcPct val="140000"/>
              </a:lnSpc>
              <a:buNone/>
              <a:defRPr lang="en-US" sz="1600" dirty="0">
                <a:solidFill>
                  <a:srgbClr val="111111"/>
                </a:solidFill>
                <a:latin typeface="Geist" pitchFamily="34" charset="0"/>
                <a:ea typeface="Geist" pitchFamily="34" charset="-122"/>
                <a:cs typeface="Geist"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8E7"/>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02320"/>
            <a:ext cx="10566400" cy="446980"/>
          </a:xfrm>
          <a:prstGeom prst="rect">
            <a:avLst/>
          </a:prstGeom>
          <a:noFill/>
          <a:ln/>
        </p:spPr>
        <p:txBody>
          <a:bodyPr wrap="square" lIns="0" tIns="0" rIns="0" bIns="0" rtlCol="0" anchor="t"/>
          <a:lstStyle>
            <a:lvl1pPr algn="l" indent="0" marL="0">
              <a:lnSpc>
                <a:spcPct val="115000"/>
              </a:lnSpc>
              <a:buNone/>
              <a:defRPr lang="en-US" sz="3200" dirty="0">
                <a:solidFill>
                  <a:srgbClr val="111111"/>
                </a:solidFill>
                <a:latin typeface="Bungee" pitchFamily="34" charset="0"/>
                <a:ea typeface="Bungee" pitchFamily="34" charset="-122"/>
                <a:cs typeface="Bungee"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854101"/>
            <a:ext cx="10566400" cy="4191099"/>
          </a:xfrm>
          <a:prstGeom prst="rect">
            <a:avLst/>
          </a:prstGeom>
          <a:noFill/>
          <a:ln/>
        </p:spPr>
        <p:txBody>
          <a:bodyPr wrap="square" lIns="0" tIns="0" rIns="0" bIns="0" rtlCol="0" anchor="t"/>
          <a:lstStyle>
            <a:lvl1pPr algn="l" indent="0" marL="0">
              <a:lnSpc>
                <a:spcPct val="140000"/>
              </a:lnSpc>
              <a:buNone/>
              <a:defRPr lang="en-US" sz="1600" dirty="0">
                <a:solidFill>
                  <a:srgbClr val="111111"/>
                </a:solidFill>
                <a:latin typeface="Geist" pitchFamily="34" charset="0"/>
                <a:ea typeface="Geist" pitchFamily="34" charset="-122"/>
                <a:cs typeface="Geist"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slideLayout" Target="../slideLayouts/slideLayout2.xml"/><Relationship Id="rId5"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11111"/>
        </a:solidFill>
      </p:bgPr>
    </p:bg>
    <p:spTree>
      <p:nvGrpSpPr>
        <p:cNvPr id="1" name=""/>
        <p:cNvGrpSpPr/>
        <p:nvPr/>
      </p:nvGrpSpPr>
      <p:grpSpPr>
        <a:xfrm>
          <a:off x="0" y="0"/>
          <a:ext cx="0" cy="0"/>
          <a:chOff x="0" y="0"/>
          <a:chExt cx="0" cy="0"/>
        </a:xfrm>
      </p:grpSpPr>
      <p:sp>
        <p:nvSpPr>
          <p:cNvPr id="2" name="Shape 0"/>
          <p:cNvSpPr/>
          <p:nvPr/>
        </p:nvSpPr>
        <p:spPr>
          <a:xfrm>
            <a:off x="0" y="0"/>
            <a:ext cx="12192000" cy="304800"/>
          </a:xfrm>
          <a:prstGeom prst="rect">
            <a:avLst/>
          </a:prstGeom>
          <a:gradFill rotWithShape="1">
            <a:gsLst>
              <a:gs pos="0">
                <a:srgbClr val="FF2D95"/>
              </a:gs>
              <a:gs pos="25000">
                <a:srgbClr val="FF2D95"/>
              </a:gs>
              <a:gs pos="25000">
                <a:srgbClr val="FFE600"/>
              </a:gs>
              <a:gs pos="50000">
                <a:srgbClr val="FFE600"/>
              </a:gs>
              <a:gs pos="50000">
                <a:srgbClr val="00E5FF"/>
              </a:gs>
              <a:gs pos="75000">
                <a:srgbClr val="00E5FF"/>
              </a:gs>
              <a:gs pos="75000">
                <a:srgbClr val="B6FF00"/>
              </a:gs>
              <a:gs pos="100000">
                <a:srgbClr val="B6FF00"/>
              </a:gs>
            </a:gsLst>
            <a:lin ang="2700000" scaled="0"/>
          </a:gradFill>
          <a:ln/>
        </p:spPr>
      </p:sp>
      <p:sp>
        <p:nvSpPr>
          <p:cNvPr id="3" name="Shape 1"/>
          <p:cNvSpPr/>
          <p:nvPr/>
        </p:nvSpPr>
        <p:spPr>
          <a:xfrm>
            <a:off x="0" y="6553200"/>
            <a:ext cx="12192000" cy="304800"/>
          </a:xfrm>
          <a:prstGeom prst="rect">
            <a:avLst/>
          </a:prstGeom>
          <a:gradFill rotWithShape="1">
            <a:gsLst>
              <a:gs pos="0">
                <a:srgbClr val="7A00FF"/>
              </a:gs>
              <a:gs pos="25000">
                <a:srgbClr val="7A00FF"/>
              </a:gs>
              <a:gs pos="25000">
                <a:srgbClr val="FF2D95"/>
              </a:gs>
              <a:gs pos="50000">
                <a:srgbClr val="FF2D95"/>
              </a:gs>
              <a:gs pos="50000">
                <a:srgbClr val="FFE600"/>
              </a:gs>
              <a:gs pos="75000">
                <a:srgbClr val="FFE600"/>
              </a:gs>
              <a:gs pos="75000">
                <a:srgbClr val="00E5FF"/>
              </a:gs>
              <a:gs pos="100000">
                <a:srgbClr val="00E5FF"/>
              </a:gs>
            </a:gsLst>
            <a:lin ang="18900000" scaled="0"/>
          </a:gradFill>
          <a:ln/>
        </p:spPr>
      </p:sp>
      <p:sp>
        <p:nvSpPr>
          <p:cNvPr id="4" name="Text 2"/>
          <p:cNvSpPr/>
          <p:nvPr/>
        </p:nvSpPr>
        <p:spPr>
          <a:xfrm>
            <a:off x="812800" y="1689199"/>
            <a:ext cx="10883392" cy="274241"/>
          </a:xfrm>
          <a:prstGeom prst="rect">
            <a:avLst/>
          </a:prstGeom>
          <a:noFill/>
          <a:ln/>
        </p:spPr>
        <p:txBody>
          <a:bodyPr wrap="square" lIns="0" tIns="0" rIns="0" bIns="0" rtlCol="0" anchor="t">
            <a:normAutofit/>
          </a:bodyPr>
          <a:lstStyle/>
          <a:p>
            <a:pPr algn="l" indent="0" marL="0">
              <a:lnSpc>
                <a:spcPts val="1960"/>
              </a:lnSpc>
              <a:buNone/>
            </a:pPr>
            <a:r>
              <a:rPr lang="en-US" sz="1400" b="1" spc="300" kern="0" dirty="0">
                <a:solidFill>
                  <a:srgbClr val="FFE600"/>
                </a:solidFill>
                <a:latin typeface="Geist" pitchFamily="34" charset="0"/>
                <a:ea typeface="Geist" pitchFamily="34" charset="-122"/>
                <a:cs typeface="Geist" pitchFamily="34" charset="-120"/>
              </a:rPr>
              <a:t>A SPEC KIT FIELD REPORT</a:t>
            </a:r>
            <a:endParaRPr lang="en-US" sz="1400" dirty="0"/>
          </a:p>
        </p:txBody>
      </p:sp>
      <p:sp>
        <p:nvSpPr>
          <p:cNvPr id="5" name="Text 3"/>
          <p:cNvSpPr/>
          <p:nvPr>
            <p:ph type="title"/>
          </p:nvPr>
        </p:nvSpPr>
        <p:spPr>
          <a:xfrm>
            <a:off x="812800" y="2192040"/>
            <a:ext cx="10883392" cy="977900"/>
          </a:xfrm>
          <a:prstGeom prst="rect">
            <a:avLst/>
          </a:prstGeom>
          <a:noFill/>
          <a:ln/>
        </p:spPr>
        <p:txBody>
          <a:bodyPr wrap="square" lIns="0" tIns="0" rIns="0" bIns="0" rtlCol="0" anchor="t">
            <a:normAutofit/>
          </a:bodyPr>
          <a:lstStyle/>
          <a:p>
            <a:pPr algn="l" indent="0" marL="0">
              <a:lnSpc>
                <a:spcPts val="7500"/>
              </a:lnSpc>
              <a:buNone/>
            </a:pPr>
            <a:r>
              <a:rPr lang="en-US" sz="7500" b="0" i="0" dirty="0">
                <a:solidFill>
                  <a:srgbClr val="FF2D95"/>
                </a:solidFill>
                <a:latin typeface="Bungee" pitchFamily="34" charset="0"/>
                <a:ea typeface="Bungee" pitchFamily="34" charset="-122"/>
                <a:cs typeface="Bungee" pitchFamily="34" charset="-120"/>
              </a:rPr>
              <a:t>Dan Flashes</a:t>
            </a:r>
            <a:endParaRPr lang="en-US" sz="7500" dirty="0"/>
          </a:p>
        </p:txBody>
      </p:sp>
      <p:sp>
        <p:nvSpPr>
          <p:cNvPr id="6" name="Text 4"/>
          <p:cNvSpPr/>
          <p:nvPr/>
        </p:nvSpPr>
        <p:spPr>
          <a:xfrm>
            <a:off x="812800" y="3398540"/>
            <a:ext cx="10883392" cy="421580"/>
          </a:xfrm>
          <a:prstGeom prst="rect">
            <a:avLst/>
          </a:prstGeom>
          <a:noFill/>
          <a:ln/>
        </p:spPr>
        <p:txBody>
          <a:bodyPr wrap="square" lIns="0" tIns="0" rIns="0" bIns="0" rtlCol="0" anchor="t">
            <a:normAutofit/>
          </a:bodyPr>
          <a:lstStyle/>
          <a:p>
            <a:pPr algn="l" indent="0" marL="0">
              <a:lnSpc>
                <a:spcPts val="3120"/>
              </a:lnSpc>
              <a:buNone/>
            </a:pPr>
            <a:r>
              <a:rPr lang="en-US" sz="2600" b="1" dirty="0">
                <a:solidFill>
                  <a:srgbClr val="FFF8E7"/>
                </a:solidFill>
                <a:latin typeface="Geist" pitchFamily="34" charset="0"/>
                <a:ea typeface="Geist" pitchFamily="34" charset="-122"/>
                <a:cs typeface="Geist" pitchFamily="34" charset="-120"/>
              </a:rPr>
              <a:t>Complicated shirts. Complicated prices.</a:t>
            </a:r>
            <a:endParaRPr lang="en-US" sz="2600" dirty="0"/>
          </a:p>
        </p:txBody>
      </p:sp>
      <p:sp>
        <p:nvSpPr>
          <p:cNvPr id="7" name="Text 5"/>
          <p:cNvSpPr/>
          <p:nvPr/>
        </p:nvSpPr>
        <p:spPr>
          <a:xfrm>
            <a:off x="812800" y="4048720"/>
            <a:ext cx="8502650" cy="642541"/>
          </a:xfrm>
          <a:prstGeom prst="rect">
            <a:avLst/>
          </a:prstGeom>
          <a:noFill/>
          <a:ln/>
        </p:spPr>
        <p:txBody>
          <a:bodyPr wrap="square" lIns="0" tIns="0" rIns="0" bIns="0" rtlCol="0" anchor="t">
            <a:normAutofit/>
          </a:bodyPr>
          <a:lstStyle/>
          <a:p>
            <a:pPr algn="l" indent="0" marL="0">
              <a:lnSpc>
                <a:spcPts val="2430"/>
              </a:lnSpc>
              <a:buNone/>
            </a:pPr>
            <a:r>
              <a:rPr lang="en-US" sz="1800" dirty="0">
                <a:solidFill>
                  <a:srgbClr val="CFC6B4"/>
                </a:solidFill>
                <a:latin typeface="Geist" pitchFamily="34" charset="0"/>
                <a:ea typeface="Geist" pitchFamily="34" charset="-122"/>
                <a:cs typeface="Geist" pitchFamily="34" charset="-120"/>
              </a:rPr>
              <a:t>How I built a parody e-commerce store spec-first with GitHub Spec Kit and Claude Code, and what it cost.</a:t>
            </a:r>
            <a:endParaRPr lang="en-US" sz="1800" dirty="0"/>
          </a:p>
        </p:txBody>
      </p:sp>
      <p:sp>
        <p:nvSpPr>
          <p:cNvPr id="8" name="Text 6"/>
          <p:cNvSpPr/>
          <p:nvPr/>
        </p:nvSpPr>
        <p:spPr>
          <a:xfrm>
            <a:off x="812800" y="4919861"/>
            <a:ext cx="10883392" cy="274241"/>
          </a:xfrm>
          <a:prstGeom prst="rect">
            <a:avLst/>
          </a:prstGeom>
          <a:noFill/>
          <a:ln/>
        </p:spPr>
        <p:txBody>
          <a:bodyPr wrap="square" lIns="0" tIns="0" rIns="0" bIns="0" rtlCol="0" anchor="t">
            <a:normAutofit/>
          </a:bodyPr>
          <a:lstStyle/>
          <a:p>
            <a:pPr algn="l" indent="0" marL="0">
              <a:lnSpc>
                <a:spcPts val="1960"/>
              </a:lnSpc>
              <a:buNone/>
            </a:pPr>
            <a:r>
              <a:rPr lang="en-US" sz="1400" spc="100" kern="0" dirty="0">
                <a:solidFill>
                  <a:srgbClr val="B6FF00"/>
                </a:solidFill>
                <a:latin typeface="Geist" pitchFamily="34" charset="0"/>
                <a:ea typeface="Geist" pitchFamily="34" charset="-122"/>
                <a:cs typeface="Geist" pitchFamily="34" charset="-120"/>
              </a:rPr>
              <a:t>Derek DenHartigh · Nishtech · [Date]</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8E7"/>
        </a:solidFill>
      </p:bgPr>
    </p:bg>
    <p:spTree>
      <p:nvGrpSpPr>
        <p:cNvPr id="1" name=""/>
        <p:cNvGrpSpPr/>
        <p:nvPr/>
      </p:nvGrpSpPr>
      <p:grpSpPr>
        <a:xfrm>
          <a:off x="0" y="0"/>
          <a:ext cx="0" cy="0"/>
          <a:chOff x="0" y="0"/>
          <a:chExt cx="0" cy="0"/>
        </a:xfrm>
      </p:grpSpPr>
      <p:sp>
        <p:nvSpPr>
          <p:cNvPr id="2" name="Shape 0"/>
          <p:cNvSpPr/>
          <p:nvPr/>
        </p:nvSpPr>
        <p:spPr>
          <a:xfrm>
            <a:off x="0" y="0"/>
            <a:ext cx="12192000" cy="127000"/>
          </a:xfrm>
          <a:prstGeom prst="rect">
            <a:avLst/>
          </a:prstGeom>
          <a:gradFill rotWithShape="1">
            <a:gsLst>
              <a:gs pos="0">
                <a:srgbClr val="FF2D95"/>
              </a:gs>
              <a:gs pos="25000">
                <a:srgbClr val="FF2D95"/>
              </a:gs>
              <a:gs pos="25000">
                <a:srgbClr val="FFE600"/>
              </a:gs>
              <a:gs pos="50000">
                <a:srgbClr val="FFE600"/>
              </a:gs>
              <a:gs pos="50000">
                <a:srgbClr val="00E5FF"/>
              </a:gs>
              <a:gs pos="75000">
                <a:srgbClr val="00E5FF"/>
              </a:gs>
              <a:gs pos="75000">
                <a:srgbClr val="B6FF00"/>
              </a:gs>
              <a:gs pos="100000">
                <a:srgbClr val="B6FF00"/>
              </a:gs>
            </a:gsLst>
            <a:lin ang="2700000" scaled="0"/>
          </a:gradFill>
          <a:ln/>
        </p:spPr>
      </p:sp>
      <p:sp>
        <p:nvSpPr>
          <p:cNvPr id="3" name="Text 1"/>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7A00FF"/>
                </a:solidFill>
                <a:latin typeface="Geist" pitchFamily="34" charset="0"/>
                <a:ea typeface="Geist" pitchFamily="34" charset="-122"/>
                <a:cs typeface="Geist" pitchFamily="34" charset="-120"/>
              </a:rPr>
              <a:t>DAY 1 · 2026-10-12</a:t>
            </a:r>
            <a:endParaRPr lang="en-US" sz="1200" dirty="0"/>
          </a:p>
        </p:txBody>
      </p:sp>
      <p:sp>
        <p:nvSpPr>
          <p:cNvPr id="4" name="Text 2"/>
          <p:cNvSpPr/>
          <p:nvPr>
            <p:ph type="title"/>
          </p:nvPr>
        </p:nvSpPr>
        <p:spPr>
          <a:xfrm>
            <a:off x="812800" y="11023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0" i="0" dirty="0">
                <a:solidFill>
                  <a:srgbClr val="111111"/>
                </a:solidFill>
                <a:latin typeface="Bungee" pitchFamily="34" charset="0"/>
                <a:ea typeface="Bungee" pitchFamily="34" charset="-122"/>
                <a:cs typeface="Bungee" pitchFamily="34" charset="-120"/>
              </a:rPr>
              <a:t>The ask</a:t>
            </a:r>
            <a:endParaRPr lang="en-US" sz="3200" dirty="0"/>
          </a:p>
        </p:txBody>
      </p:sp>
      <p:sp>
        <p:nvSpPr>
          <p:cNvPr id="5" name="Shape 3"/>
          <p:cNvSpPr/>
          <p:nvPr/>
        </p:nvSpPr>
        <p:spPr>
          <a:xfrm>
            <a:off x="825500" y="1866801"/>
            <a:ext cx="6395740" cy="2715220"/>
          </a:xfrm>
          <a:prstGeom prst="rect">
            <a:avLst/>
          </a:prstGeom>
          <a:solidFill>
            <a:srgbClr val="FFFFFF"/>
          </a:solidFill>
          <a:ln w="25400">
            <a:solidFill>
              <a:srgbClr val="111111"/>
            </a:solidFill>
            <a:prstDash val="solid"/>
          </a:ln>
          <a:effectLst>
            <a:outerShdw sx="100000" sy="100000" kx="0" ky="0" algn="bl" rotWithShape="0" blurRad="0" dist="107763" dir="2700000">
              <a:srgbClr val="FF2D95">
                <a:alpha val="100000"/>
              </a:srgbClr>
            </a:outerShdw>
          </a:effectLst>
        </p:spPr>
      </p:sp>
      <p:sp>
        <p:nvSpPr>
          <p:cNvPr id="6" name="Text 4"/>
          <p:cNvSpPr/>
          <p:nvPr/>
        </p:nvSpPr>
        <p:spPr>
          <a:xfrm>
            <a:off x="1143000" y="2184301"/>
            <a:ext cx="593356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6B6252"/>
                </a:solidFill>
                <a:latin typeface="Geist" pitchFamily="34" charset="0"/>
                <a:ea typeface="Geist" pitchFamily="34" charset="-122"/>
                <a:cs typeface="Geist" pitchFamily="34" charset="-120"/>
              </a:rPr>
              <a:t>MY FIRST PROMPT</a:t>
            </a:r>
            <a:endParaRPr lang="en-US" sz="1200" dirty="0"/>
          </a:p>
        </p:txBody>
      </p:sp>
      <p:sp>
        <p:nvSpPr>
          <p:cNvPr id="7" name="Text 5"/>
          <p:cNvSpPr/>
          <p:nvPr/>
        </p:nvSpPr>
        <p:spPr>
          <a:xfrm>
            <a:off x="1143000" y="2550021"/>
            <a:ext cx="5933562" cy="1739900"/>
          </a:xfrm>
          <a:prstGeom prst="rect">
            <a:avLst/>
          </a:prstGeom>
          <a:noFill/>
          <a:ln/>
        </p:spPr>
        <p:txBody>
          <a:bodyPr wrap="square" lIns="0" tIns="0" rIns="0" bIns="0" rtlCol="0" anchor="t">
            <a:normAutofit/>
          </a:bodyPr>
          <a:lstStyle/>
          <a:p>
            <a:pPr algn="l" indent="0" marL="0">
              <a:lnSpc>
                <a:spcPts val="2700"/>
              </a:lnSpc>
              <a:buNone/>
            </a:pPr>
            <a:r>
              <a:rPr lang="en-US" sz="2000" b="1" dirty="0">
                <a:solidFill>
                  <a:srgbClr val="111111"/>
                </a:solidFill>
                <a:latin typeface="Geist" pitchFamily="34" charset="0"/>
                <a:ea typeface="Geist" pitchFamily="34" charset="-122"/>
                <a:cs typeface="Geist" pitchFamily="34" charset="-120"/>
              </a:rPr>
              <a:t>“I want to build an ecommerce site branded for Dan Flashes that sells expensive shirts where the pattern complexity correlates to the price, the shirts are all to be vibrant, the store energy is to be aggressively upbeat and addictive.”</a:t>
            </a:r>
            <a:endParaRPr lang="en-US" sz="2000" dirty="0"/>
          </a:p>
        </p:txBody>
      </p:sp>
      <p:sp>
        <p:nvSpPr>
          <p:cNvPr id="8" name="Shape 6"/>
          <p:cNvSpPr/>
          <p:nvPr/>
        </p:nvSpPr>
        <p:spPr>
          <a:xfrm>
            <a:off x="7564140" y="1854101"/>
            <a:ext cx="0" cy="873522"/>
          </a:xfrm>
          <a:prstGeom prst="line">
            <a:avLst/>
          </a:prstGeom>
          <a:noFill/>
          <a:ln w="50800">
            <a:solidFill>
              <a:srgbClr val="7A00FF"/>
            </a:solidFill>
            <a:prstDash val="solid"/>
          </a:ln>
        </p:spPr>
      </p:sp>
      <p:sp>
        <p:nvSpPr>
          <p:cNvPr id="9" name="Text 7"/>
          <p:cNvSpPr/>
          <p:nvPr/>
        </p:nvSpPr>
        <p:spPr>
          <a:xfrm>
            <a:off x="7767340" y="1879501"/>
            <a:ext cx="3720216"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11111"/>
                </a:solidFill>
                <a:latin typeface="Geist" pitchFamily="34" charset="0"/>
                <a:ea typeface="Geist" pitchFamily="34" charset="-122"/>
                <a:cs typeface="Geist" pitchFamily="34" charset="-120"/>
              </a:rPr>
              <a:t>Learn Spec Kit</a:t>
            </a:r>
            <a:endParaRPr lang="en-US" sz="1800" dirty="0"/>
          </a:p>
        </p:txBody>
      </p:sp>
      <p:sp>
        <p:nvSpPr>
          <p:cNvPr id="10" name="Text 8"/>
          <p:cNvSpPr/>
          <p:nvPr/>
        </p:nvSpPr>
        <p:spPr>
          <a:xfrm>
            <a:off x="7767340" y="2204541"/>
            <a:ext cx="3720216"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D382F"/>
                </a:solidFill>
                <a:latin typeface="Geist" pitchFamily="34" charset="0"/>
                <a:ea typeface="Geist" pitchFamily="34" charset="-122"/>
                <a:cs typeface="Geist" pitchFamily="34" charset="-120"/>
              </a:rPr>
              <a:t>After Barret Blake’s talk at Beer City Code 2026.</a:t>
            </a:r>
            <a:endParaRPr lang="en-US" sz="1400" dirty="0"/>
          </a:p>
        </p:txBody>
      </p:sp>
      <p:sp>
        <p:nvSpPr>
          <p:cNvPr id="11" name="Shape 9"/>
          <p:cNvSpPr/>
          <p:nvPr/>
        </p:nvSpPr>
        <p:spPr>
          <a:xfrm>
            <a:off x="7564140" y="2905423"/>
            <a:ext cx="0" cy="873522"/>
          </a:xfrm>
          <a:prstGeom prst="line">
            <a:avLst/>
          </a:prstGeom>
          <a:noFill/>
          <a:ln w="50800">
            <a:solidFill>
              <a:srgbClr val="FF2D95"/>
            </a:solidFill>
            <a:prstDash val="solid"/>
          </a:ln>
        </p:spPr>
      </p:sp>
      <p:sp>
        <p:nvSpPr>
          <p:cNvPr id="12" name="Text 10"/>
          <p:cNvSpPr/>
          <p:nvPr/>
        </p:nvSpPr>
        <p:spPr>
          <a:xfrm>
            <a:off x="7767340" y="2930823"/>
            <a:ext cx="3720216"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11111"/>
                </a:solidFill>
                <a:latin typeface="Geist" pitchFamily="34" charset="0"/>
                <a:ea typeface="Geist" pitchFamily="34" charset="-122"/>
                <a:cs typeface="Geist" pitchFamily="34" charset="-120"/>
              </a:rPr>
              <a:t>Build a parody</a:t>
            </a:r>
            <a:endParaRPr lang="en-US" sz="1800" dirty="0"/>
          </a:p>
        </p:txBody>
      </p:sp>
      <p:sp>
        <p:nvSpPr>
          <p:cNvPr id="13" name="Text 11"/>
          <p:cNvSpPr/>
          <p:nvPr/>
        </p:nvSpPr>
        <p:spPr>
          <a:xfrm>
            <a:off x="7767340" y="3255863"/>
            <a:ext cx="3720216"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D382F"/>
                </a:solidFill>
                <a:latin typeface="Geist" pitchFamily="34" charset="0"/>
                <a:ea typeface="Geist" pitchFamily="34" charset="-122"/>
                <a:cs typeface="Geist" pitchFamily="34" charset="-120"/>
              </a:rPr>
              <a:t>Dan Flashes, from “I Think You Should Leave”.</a:t>
            </a:r>
            <a:endParaRPr lang="en-US" sz="1400" dirty="0"/>
          </a:p>
        </p:txBody>
      </p:sp>
      <p:sp>
        <p:nvSpPr>
          <p:cNvPr id="14" name="Shape 12"/>
          <p:cNvSpPr/>
          <p:nvPr/>
        </p:nvSpPr>
        <p:spPr>
          <a:xfrm>
            <a:off x="7564140" y="3956745"/>
            <a:ext cx="0" cy="624681"/>
          </a:xfrm>
          <a:prstGeom prst="line">
            <a:avLst/>
          </a:prstGeom>
          <a:noFill/>
          <a:ln w="50800">
            <a:solidFill>
              <a:srgbClr val="00A6B8"/>
            </a:solidFill>
            <a:prstDash val="solid"/>
          </a:ln>
        </p:spPr>
      </p:sp>
      <p:sp>
        <p:nvSpPr>
          <p:cNvPr id="15" name="Text 13"/>
          <p:cNvSpPr/>
          <p:nvPr/>
        </p:nvSpPr>
        <p:spPr>
          <a:xfrm>
            <a:off x="7767340" y="3982145"/>
            <a:ext cx="3720216"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11111"/>
                </a:solidFill>
                <a:latin typeface="Geist" pitchFamily="34" charset="0"/>
                <a:ea typeface="Geist" pitchFamily="34" charset="-122"/>
                <a:cs typeface="Geist" pitchFamily="34" charset="-120"/>
              </a:rPr>
              <a:t>Make it real</a:t>
            </a:r>
            <a:endParaRPr lang="en-US" sz="1800" dirty="0"/>
          </a:p>
        </p:txBody>
      </p:sp>
      <p:sp>
        <p:nvSpPr>
          <p:cNvPr id="16" name="Text 14"/>
          <p:cNvSpPr/>
          <p:nvPr/>
        </p:nvSpPr>
        <p:spPr>
          <a:xfrm>
            <a:off x="7767340" y="4307185"/>
            <a:ext cx="3720216"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D382F"/>
                </a:solidFill>
                <a:latin typeface="Geist" pitchFamily="34" charset="0"/>
                <a:ea typeface="Geist" pitchFamily="34" charset="-122"/>
                <a:cs typeface="Geist" pitchFamily="34" charset="-120"/>
              </a:rPr>
              <a:t>A real stack and real tests. Fake money only.</a:t>
            </a:r>
            <a:endParaRPr lang="en-US" sz="1400" dirty="0"/>
          </a:p>
        </p:txBody>
      </p:sp>
      <p:sp>
        <p:nvSpPr>
          <p:cNvPr id="17" name="Text 15"/>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6B6252"/>
                </a:solidFill>
                <a:latin typeface="Geist" pitchFamily="34" charset="0"/>
                <a:ea typeface="Geist" pitchFamily="34" charset="-122"/>
                <a:cs typeface="Geist" pitchFamily="34" charset="-120"/>
              </a:rPr>
              <a:t>DAN FLASHES × SPEC KIT</a:t>
            </a:r>
            <a:endParaRPr lang="en-US" sz="1200" dirty="0"/>
          </a:p>
        </p:txBody>
      </p:sp>
      <p:sp>
        <p:nvSpPr>
          <p:cNvPr id="18" name="Text 16"/>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6252"/>
                </a:solidFill>
                <a:latin typeface="Geist" pitchFamily="34" charset="0"/>
                <a:ea typeface="Geist" pitchFamily="34" charset="-122"/>
                <a:cs typeface="Geist" pitchFamily="34" charset="-120"/>
              </a:rPr>
              <a:t>02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11111"/>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FFE600"/>
                </a:solidFill>
                <a:latin typeface="Geist" pitchFamily="34" charset="0"/>
                <a:ea typeface="Geist" pitchFamily="34" charset="-122"/>
                <a:cs typeface="Geist" pitchFamily="34" charset="-120"/>
              </a:rPr>
              <a:t>2026-10-12 → 2026-10-23</a:t>
            </a:r>
            <a:endParaRPr lang="en-US" sz="1200" dirty="0"/>
          </a:p>
        </p:txBody>
      </p:sp>
      <p:sp>
        <p:nvSpPr>
          <p:cNvPr id="3" name="Text 1"/>
          <p:cNvSpPr/>
          <p:nvPr>
            <p:ph type="title"/>
          </p:nvPr>
        </p:nvSpPr>
        <p:spPr>
          <a:xfrm>
            <a:off x="812800" y="11023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0" i="0" dirty="0">
                <a:solidFill>
                  <a:srgbClr val="FFF8E7"/>
                </a:solidFill>
                <a:latin typeface="Bungee" pitchFamily="34" charset="0"/>
                <a:ea typeface="Bungee" pitchFamily="34" charset="-122"/>
                <a:cs typeface="Bungee" pitchFamily="34" charset="-120"/>
              </a:rPr>
              <a:t>By the numbers</a:t>
            </a:r>
            <a:endParaRPr lang="en-US" sz="3200" dirty="0"/>
          </a:p>
        </p:txBody>
      </p:sp>
      <p:sp>
        <p:nvSpPr>
          <p:cNvPr id="4" name="Text 2"/>
          <p:cNvSpPr/>
          <p:nvPr/>
        </p:nvSpPr>
        <p:spPr>
          <a:xfrm>
            <a:off x="812800" y="1904901"/>
            <a:ext cx="2524633" cy="640060"/>
          </a:xfrm>
          <a:prstGeom prst="rect">
            <a:avLst/>
          </a:prstGeom>
          <a:noFill/>
          <a:ln/>
        </p:spPr>
        <p:txBody>
          <a:bodyPr wrap="square" lIns="0" tIns="0" rIns="0" bIns="0" rtlCol="0" anchor="t">
            <a:normAutofit/>
          </a:bodyPr>
          <a:lstStyle/>
          <a:p>
            <a:pPr algn="l" indent="0" marL="0">
              <a:lnSpc>
                <a:spcPts val="4840"/>
              </a:lnSpc>
              <a:buNone/>
            </a:pPr>
            <a:r>
              <a:rPr lang="en-US" sz="4400" dirty="0">
                <a:solidFill>
                  <a:srgbClr val="FF2D95"/>
                </a:solidFill>
                <a:latin typeface="Bungee" pitchFamily="34" charset="0"/>
                <a:ea typeface="Bungee" pitchFamily="34" charset="-122"/>
                <a:cs typeface="Bungee" pitchFamily="34" charset="-120"/>
              </a:rPr>
              <a:t>12</a:t>
            </a:r>
            <a:endParaRPr lang="en-US" sz="4400" dirty="0"/>
          </a:p>
        </p:txBody>
      </p:sp>
      <p:sp>
        <p:nvSpPr>
          <p:cNvPr id="5" name="Text 3"/>
          <p:cNvSpPr/>
          <p:nvPr/>
        </p:nvSpPr>
        <p:spPr>
          <a:xfrm>
            <a:off x="812800" y="2570361"/>
            <a:ext cx="2524633" cy="50542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D9D0BD"/>
                </a:solidFill>
                <a:latin typeface="Geist" pitchFamily="34" charset="0"/>
                <a:ea typeface="Geist" pitchFamily="34" charset="-122"/>
                <a:cs typeface="Geist" pitchFamily="34" charset="-120"/>
              </a:rPr>
              <a:t>calendar days, commits on 10 of them</a:t>
            </a:r>
            <a:endParaRPr lang="en-US" sz="1400" dirty="0"/>
          </a:p>
        </p:txBody>
      </p:sp>
      <p:sp>
        <p:nvSpPr>
          <p:cNvPr id="6" name="Text 4"/>
          <p:cNvSpPr/>
          <p:nvPr/>
        </p:nvSpPr>
        <p:spPr>
          <a:xfrm>
            <a:off x="3517900" y="1904901"/>
            <a:ext cx="2524633" cy="640060"/>
          </a:xfrm>
          <a:prstGeom prst="rect">
            <a:avLst/>
          </a:prstGeom>
          <a:noFill/>
          <a:ln/>
        </p:spPr>
        <p:txBody>
          <a:bodyPr wrap="square" lIns="0" tIns="0" rIns="0" bIns="0" rtlCol="0" anchor="t">
            <a:normAutofit/>
          </a:bodyPr>
          <a:lstStyle/>
          <a:p>
            <a:pPr algn="l" indent="0" marL="0">
              <a:lnSpc>
                <a:spcPts val="4840"/>
              </a:lnSpc>
              <a:buNone/>
            </a:pPr>
            <a:r>
              <a:rPr lang="en-US" sz="4400" dirty="0">
                <a:solidFill>
                  <a:srgbClr val="FFE600"/>
                </a:solidFill>
                <a:latin typeface="Bungee" pitchFamily="34" charset="0"/>
                <a:ea typeface="Bungee" pitchFamily="34" charset="-122"/>
                <a:cs typeface="Bungee" pitchFamily="34" charset="-120"/>
              </a:rPr>
              <a:t>12</a:t>
            </a:r>
            <a:endParaRPr lang="en-US" sz="4400" dirty="0"/>
          </a:p>
        </p:txBody>
      </p:sp>
      <p:sp>
        <p:nvSpPr>
          <p:cNvPr id="7" name="Text 5"/>
          <p:cNvSpPr/>
          <p:nvPr/>
        </p:nvSpPr>
        <p:spPr>
          <a:xfrm>
            <a:off x="3517900" y="2570361"/>
            <a:ext cx="2524633" cy="50542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D9D0BD"/>
                </a:solidFill>
                <a:latin typeface="Geist" pitchFamily="34" charset="0"/>
                <a:ea typeface="Geist" pitchFamily="34" charset="-122"/>
                <a:cs typeface="Geist" pitchFamily="34" charset="-120"/>
              </a:rPr>
              <a:t>features, plus a security upgrade: 13 PRs</a:t>
            </a:r>
            <a:endParaRPr lang="en-US" sz="1400" dirty="0"/>
          </a:p>
        </p:txBody>
      </p:sp>
      <p:sp>
        <p:nvSpPr>
          <p:cNvPr id="8" name="Text 6"/>
          <p:cNvSpPr/>
          <p:nvPr/>
        </p:nvSpPr>
        <p:spPr>
          <a:xfrm>
            <a:off x="6223000" y="1904901"/>
            <a:ext cx="2524633" cy="640060"/>
          </a:xfrm>
          <a:prstGeom prst="rect">
            <a:avLst/>
          </a:prstGeom>
          <a:noFill/>
          <a:ln/>
        </p:spPr>
        <p:txBody>
          <a:bodyPr wrap="square" lIns="0" tIns="0" rIns="0" bIns="0" rtlCol="0" anchor="t">
            <a:normAutofit/>
          </a:bodyPr>
          <a:lstStyle/>
          <a:p>
            <a:pPr algn="l" indent="0" marL="0">
              <a:lnSpc>
                <a:spcPts val="4840"/>
              </a:lnSpc>
              <a:buNone/>
            </a:pPr>
            <a:r>
              <a:rPr lang="en-US" sz="4400" dirty="0">
                <a:solidFill>
                  <a:srgbClr val="00E5FF"/>
                </a:solidFill>
                <a:latin typeface="Bungee" pitchFamily="34" charset="0"/>
                <a:ea typeface="Bungee" pitchFamily="34" charset="-122"/>
                <a:cs typeface="Bungee" pitchFamily="34" charset="-120"/>
              </a:rPr>
              <a:t>511</a:t>
            </a:r>
            <a:endParaRPr lang="en-US" sz="4400" dirty="0"/>
          </a:p>
        </p:txBody>
      </p:sp>
      <p:sp>
        <p:nvSpPr>
          <p:cNvPr id="9" name="Text 7"/>
          <p:cNvSpPr/>
          <p:nvPr/>
        </p:nvSpPr>
        <p:spPr>
          <a:xfrm>
            <a:off x="6223000" y="2570361"/>
            <a:ext cx="2524633" cy="50542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D9D0BD"/>
                </a:solidFill>
                <a:latin typeface="Geist" pitchFamily="34" charset="0"/>
                <a:ea typeface="Geist" pitchFamily="34" charset="-122"/>
                <a:cs typeface="Geist" pitchFamily="34" charset="-120"/>
              </a:rPr>
              <a:t>tasks, every one checked off in a tasks.md</a:t>
            </a:r>
            <a:endParaRPr lang="en-US" sz="1400" dirty="0"/>
          </a:p>
        </p:txBody>
      </p:sp>
      <p:sp>
        <p:nvSpPr>
          <p:cNvPr id="10" name="Text 8"/>
          <p:cNvSpPr/>
          <p:nvPr/>
        </p:nvSpPr>
        <p:spPr>
          <a:xfrm>
            <a:off x="8928100" y="1904901"/>
            <a:ext cx="2524633" cy="640060"/>
          </a:xfrm>
          <a:prstGeom prst="rect">
            <a:avLst/>
          </a:prstGeom>
          <a:noFill/>
          <a:ln/>
        </p:spPr>
        <p:txBody>
          <a:bodyPr wrap="square" lIns="0" tIns="0" rIns="0" bIns="0" rtlCol="0" anchor="t">
            <a:normAutofit/>
          </a:bodyPr>
          <a:lstStyle/>
          <a:p>
            <a:pPr algn="l" indent="0" marL="0">
              <a:lnSpc>
                <a:spcPts val="4840"/>
              </a:lnSpc>
              <a:buNone/>
            </a:pPr>
            <a:r>
              <a:rPr lang="en-US" sz="4400" dirty="0">
                <a:solidFill>
                  <a:srgbClr val="B6FF00"/>
                </a:solidFill>
                <a:latin typeface="Bungee" pitchFamily="34" charset="0"/>
                <a:ea typeface="Bungee" pitchFamily="34" charset="-122"/>
                <a:cs typeface="Bungee" pitchFamily="34" charset="-120"/>
              </a:rPr>
              <a:t>186</a:t>
            </a:r>
            <a:endParaRPr lang="en-US" sz="4400" dirty="0"/>
          </a:p>
        </p:txBody>
      </p:sp>
      <p:sp>
        <p:nvSpPr>
          <p:cNvPr id="11" name="Text 9"/>
          <p:cNvSpPr/>
          <p:nvPr/>
        </p:nvSpPr>
        <p:spPr>
          <a:xfrm>
            <a:off x="8928100" y="2570361"/>
            <a:ext cx="2524633" cy="50542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D9D0BD"/>
                </a:solidFill>
                <a:latin typeface="Geist" pitchFamily="34" charset="0"/>
                <a:ea typeface="Geist" pitchFamily="34" charset="-122"/>
                <a:cs typeface="Geist" pitchFamily="34" charset="-120"/>
              </a:rPr>
              <a:t>commits, one branch per feature</a:t>
            </a:r>
            <a:endParaRPr lang="en-US" sz="1400" dirty="0"/>
          </a:p>
        </p:txBody>
      </p:sp>
      <p:sp>
        <p:nvSpPr>
          <p:cNvPr id="12" name="Text 10"/>
          <p:cNvSpPr/>
          <p:nvPr/>
        </p:nvSpPr>
        <p:spPr>
          <a:xfrm>
            <a:off x="812800" y="3405981"/>
            <a:ext cx="2524633" cy="640060"/>
          </a:xfrm>
          <a:prstGeom prst="rect">
            <a:avLst/>
          </a:prstGeom>
          <a:noFill/>
          <a:ln/>
        </p:spPr>
        <p:txBody>
          <a:bodyPr wrap="square" lIns="0" tIns="0" rIns="0" bIns="0" rtlCol="0" anchor="t">
            <a:normAutofit/>
          </a:bodyPr>
          <a:lstStyle/>
          <a:p>
            <a:pPr algn="l" indent="0" marL="0">
              <a:lnSpc>
                <a:spcPts val="4840"/>
              </a:lnSpc>
              <a:buNone/>
            </a:pPr>
            <a:r>
              <a:rPr lang="en-US" sz="4400" dirty="0">
                <a:solidFill>
                  <a:srgbClr val="B6FF00"/>
                </a:solidFill>
                <a:latin typeface="Bungee" pitchFamily="34" charset="0"/>
                <a:ea typeface="Bungee" pitchFamily="34" charset="-122"/>
                <a:cs typeface="Bungee" pitchFamily="34" charset="-120"/>
              </a:rPr>
              <a:t>~16K</a:t>
            </a:r>
            <a:endParaRPr lang="en-US" sz="4400" dirty="0"/>
          </a:p>
        </p:txBody>
      </p:sp>
      <p:sp>
        <p:nvSpPr>
          <p:cNvPr id="13" name="Text 11"/>
          <p:cNvSpPr/>
          <p:nvPr/>
        </p:nvSpPr>
        <p:spPr>
          <a:xfrm>
            <a:off x="812800" y="4071441"/>
            <a:ext cx="2524633" cy="50542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D9D0BD"/>
                </a:solidFill>
                <a:latin typeface="Geist" pitchFamily="34" charset="0"/>
                <a:ea typeface="Geist" pitchFamily="34" charset="-122"/>
                <a:cs typeface="Geist" pitchFamily="34" charset="-120"/>
              </a:rPr>
              <a:t>lines of specs, plans, research and tasks</a:t>
            </a:r>
            <a:endParaRPr lang="en-US" sz="1400" dirty="0"/>
          </a:p>
        </p:txBody>
      </p:sp>
      <p:sp>
        <p:nvSpPr>
          <p:cNvPr id="14" name="Text 12"/>
          <p:cNvSpPr/>
          <p:nvPr/>
        </p:nvSpPr>
        <p:spPr>
          <a:xfrm>
            <a:off x="3517900" y="3405981"/>
            <a:ext cx="2524633" cy="640060"/>
          </a:xfrm>
          <a:prstGeom prst="rect">
            <a:avLst/>
          </a:prstGeom>
          <a:noFill/>
          <a:ln/>
        </p:spPr>
        <p:txBody>
          <a:bodyPr wrap="square" lIns="0" tIns="0" rIns="0" bIns="0" rtlCol="0" anchor="t">
            <a:normAutofit/>
          </a:bodyPr>
          <a:lstStyle/>
          <a:p>
            <a:pPr algn="l" indent="0" marL="0">
              <a:lnSpc>
                <a:spcPts val="4840"/>
              </a:lnSpc>
              <a:buNone/>
            </a:pPr>
            <a:r>
              <a:rPr lang="en-US" sz="4400" dirty="0">
                <a:solidFill>
                  <a:srgbClr val="00E5FF"/>
                </a:solidFill>
                <a:latin typeface="Bungee" pitchFamily="34" charset="0"/>
                <a:ea typeface="Bungee" pitchFamily="34" charset="-122"/>
                <a:cs typeface="Bungee" pitchFamily="34" charset="-120"/>
              </a:rPr>
              <a:t>1,167</a:t>
            </a:r>
            <a:endParaRPr lang="en-US" sz="4400" dirty="0"/>
          </a:p>
        </p:txBody>
      </p:sp>
      <p:sp>
        <p:nvSpPr>
          <p:cNvPr id="15" name="Text 13"/>
          <p:cNvSpPr/>
          <p:nvPr/>
        </p:nvSpPr>
        <p:spPr>
          <a:xfrm>
            <a:off x="3517900" y="4071441"/>
            <a:ext cx="2524633" cy="50542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D9D0BD"/>
                </a:solidFill>
                <a:latin typeface="Geist" pitchFamily="34" charset="0"/>
                <a:ea typeface="Geist" pitchFamily="34" charset="-122"/>
                <a:cs typeface="Geist" pitchFamily="34" charset="-120"/>
              </a:rPr>
              <a:t>unit + integration tests at 95% coverage, plus 168 e2e runs</a:t>
            </a:r>
            <a:endParaRPr lang="en-US" sz="1400" dirty="0"/>
          </a:p>
        </p:txBody>
      </p:sp>
      <p:sp>
        <p:nvSpPr>
          <p:cNvPr id="16" name="Text 14"/>
          <p:cNvSpPr/>
          <p:nvPr/>
        </p:nvSpPr>
        <p:spPr>
          <a:xfrm>
            <a:off x="6223000" y="3405981"/>
            <a:ext cx="2524633" cy="640060"/>
          </a:xfrm>
          <a:prstGeom prst="rect">
            <a:avLst/>
          </a:prstGeom>
          <a:noFill/>
          <a:ln/>
        </p:spPr>
        <p:txBody>
          <a:bodyPr wrap="square" lIns="0" tIns="0" rIns="0" bIns="0" rtlCol="0" anchor="t">
            <a:normAutofit/>
          </a:bodyPr>
          <a:lstStyle/>
          <a:p>
            <a:pPr algn="l" indent="0" marL="0">
              <a:lnSpc>
                <a:spcPts val="4840"/>
              </a:lnSpc>
              <a:buNone/>
            </a:pPr>
            <a:r>
              <a:rPr lang="en-US" sz="4400" dirty="0">
                <a:solidFill>
                  <a:srgbClr val="FFE600"/>
                </a:solidFill>
                <a:latin typeface="Bungee" pitchFamily="34" charset="0"/>
                <a:ea typeface="Bungee" pitchFamily="34" charset="-122"/>
                <a:cs typeface="Bungee" pitchFamily="34" charset="-120"/>
              </a:rPr>
              <a:t>8</a:t>
            </a:r>
            <a:endParaRPr lang="en-US" sz="4400" dirty="0"/>
          </a:p>
        </p:txBody>
      </p:sp>
      <p:sp>
        <p:nvSpPr>
          <p:cNvPr id="17" name="Text 15"/>
          <p:cNvSpPr/>
          <p:nvPr/>
        </p:nvSpPr>
        <p:spPr>
          <a:xfrm>
            <a:off x="6223000" y="4071441"/>
            <a:ext cx="2524633" cy="50542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D9D0BD"/>
                </a:solidFill>
                <a:latin typeface="Geist" pitchFamily="34" charset="0"/>
                <a:ea typeface="Geist" pitchFamily="34" charset="-122"/>
                <a:cs typeface="Geist" pitchFamily="34" charset="-120"/>
              </a:rPr>
              <a:t>constitution versions, v1.0.0 → v5.1.0</a:t>
            </a:r>
            <a:endParaRPr lang="en-US" sz="1400" dirty="0"/>
          </a:p>
        </p:txBody>
      </p:sp>
      <p:sp>
        <p:nvSpPr>
          <p:cNvPr id="18" name="Text 16"/>
          <p:cNvSpPr/>
          <p:nvPr/>
        </p:nvSpPr>
        <p:spPr>
          <a:xfrm>
            <a:off x="8928100" y="3405981"/>
            <a:ext cx="2524633" cy="640060"/>
          </a:xfrm>
          <a:prstGeom prst="rect">
            <a:avLst/>
          </a:prstGeom>
          <a:noFill/>
          <a:ln/>
        </p:spPr>
        <p:txBody>
          <a:bodyPr wrap="square" lIns="0" tIns="0" rIns="0" bIns="0" rtlCol="0" anchor="t">
            <a:normAutofit/>
          </a:bodyPr>
          <a:lstStyle/>
          <a:p>
            <a:pPr algn="l" indent="0" marL="0">
              <a:lnSpc>
                <a:spcPts val="4840"/>
              </a:lnSpc>
              <a:buNone/>
            </a:pPr>
            <a:r>
              <a:rPr lang="en-US" sz="4400" dirty="0">
                <a:solidFill>
                  <a:srgbClr val="FF2D95"/>
                </a:solidFill>
                <a:latin typeface="Bungee" pitchFamily="34" charset="0"/>
                <a:ea typeface="Bungee" pitchFamily="34" charset="-122"/>
                <a:cs typeface="Bungee" pitchFamily="34" charset="-120"/>
              </a:rPr>
              <a:t>~120</a:t>
            </a:r>
            <a:endParaRPr lang="en-US" sz="4400" dirty="0"/>
          </a:p>
        </p:txBody>
      </p:sp>
      <p:sp>
        <p:nvSpPr>
          <p:cNvPr id="19" name="Text 17"/>
          <p:cNvSpPr/>
          <p:nvPr/>
        </p:nvSpPr>
        <p:spPr>
          <a:xfrm>
            <a:off x="8928100" y="4071441"/>
            <a:ext cx="2524633" cy="50542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D9D0BD"/>
                </a:solidFill>
                <a:latin typeface="Geist" pitchFamily="34" charset="0"/>
                <a:ea typeface="Geist" pitchFamily="34" charset="-122"/>
                <a:cs typeface="Geist" pitchFamily="34" charset="-120"/>
              </a:rPr>
              <a:t>messages from me, most of them one line</a:t>
            </a:r>
            <a:endParaRPr lang="en-US" sz="1400" dirty="0"/>
          </a:p>
        </p:txBody>
      </p:sp>
      <p:sp>
        <p:nvSpPr>
          <p:cNvPr id="20" name="Text 18"/>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A99F8C"/>
                </a:solidFill>
                <a:latin typeface="Geist" pitchFamily="34" charset="0"/>
                <a:ea typeface="Geist" pitchFamily="34" charset="-122"/>
                <a:cs typeface="Geist" pitchFamily="34" charset="-120"/>
              </a:rPr>
              <a:t>DAN FLASHES × SPEC KIT</a:t>
            </a:r>
            <a:endParaRPr lang="en-US" sz="1200" dirty="0"/>
          </a:p>
        </p:txBody>
      </p:sp>
      <p:sp>
        <p:nvSpPr>
          <p:cNvPr id="21" name="Text 19"/>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A99F8C"/>
                </a:solidFill>
                <a:latin typeface="Geist" pitchFamily="34" charset="0"/>
                <a:ea typeface="Geist" pitchFamily="34" charset="-122"/>
                <a:cs typeface="Geist" pitchFamily="34" charset="-120"/>
              </a:rPr>
              <a:t>03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8E7"/>
        </a:solidFill>
      </p:bgPr>
    </p:bg>
    <p:spTree>
      <p:nvGrpSpPr>
        <p:cNvPr id="1" name=""/>
        <p:cNvGrpSpPr/>
        <p:nvPr/>
      </p:nvGrpSpPr>
      <p:grpSpPr>
        <a:xfrm>
          <a:off x="0" y="0"/>
          <a:ext cx="0" cy="0"/>
          <a:chOff x="0" y="0"/>
          <a:chExt cx="0" cy="0"/>
        </a:xfrm>
      </p:grpSpPr>
      <p:sp>
        <p:nvSpPr>
          <p:cNvPr id="2" name="Shape 0"/>
          <p:cNvSpPr/>
          <p:nvPr/>
        </p:nvSpPr>
        <p:spPr>
          <a:xfrm>
            <a:off x="0" y="0"/>
            <a:ext cx="12192000" cy="127000"/>
          </a:xfrm>
          <a:prstGeom prst="rect">
            <a:avLst/>
          </a:prstGeom>
          <a:gradFill rotWithShape="1">
            <a:gsLst>
              <a:gs pos="0">
                <a:srgbClr val="FF2D95"/>
              </a:gs>
              <a:gs pos="25000">
                <a:srgbClr val="FF2D95"/>
              </a:gs>
              <a:gs pos="25000">
                <a:srgbClr val="FFE600"/>
              </a:gs>
              <a:gs pos="50000">
                <a:srgbClr val="FFE600"/>
              </a:gs>
              <a:gs pos="50000">
                <a:srgbClr val="00E5FF"/>
              </a:gs>
              <a:gs pos="75000">
                <a:srgbClr val="00E5FF"/>
              </a:gs>
              <a:gs pos="75000">
                <a:srgbClr val="B6FF00"/>
              </a:gs>
              <a:gs pos="100000">
                <a:srgbClr val="B6FF00"/>
              </a:gs>
            </a:gsLst>
            <a:lin ang="2700000" scaled="0"/>
          </a:gradFill>
          <a:ln/>
        </p:spPr>
      </p:sp>
      <p:sp>
        <p:nvSpPr>
          <p:cNvPr id="3" name="Text 1"/>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7A00FF"/>
                </a:solidFill>
                <a:latin typeface="Geist" pitchFamily="34" charset="0"/>
                <a:ea typeface="Geist" pitchFamily="34" charset="-122"/>
                <a:cs typeface="Geist" pitchFamily="34" charset="-120"/>
              </a:rPr>
              <a:t>THE STORE</a:t>
            </a:r>
            <a:endParaRPr lang="en-US" sz="1200" dirty="0"/>
          </a:p>
        </p:txBody>
      </p:sp>
      <p:sp>
        <p:nvSpPr>
          <p:cNvPr id="4" name="Text 2"/>
          <p:cNvSpPr/>
          <p:nvPr>
            <p:ph type="title"/>
          </p:nvPr>
        </p:nvSpPr>
        <p:spPr>
          <a:xfrm>
            <a:off x="812800" y="11023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0" i="0" dirty="0">
                <a:solidFill>
                  <a:srgbClr val="111111"/>
                </a:solidFill>
                <a:latin typeface="Bungee" pitchFamily="34" charset="0"/>
                <a:ea typeface="Bungee" pitchFamily="34" charset="-122"/>
                <a:cs typeface="Bungee" pitchFamily="34" charset="-120"/>
              </a:rPr>
              <a:t>What Dan Flashes sells</a:t>
            </a:r>
            <a:endParaRPr lang="en-US" sz="3200" dirty="0"/>
          </a:p>
        </p:txBody>
      </p:sp>
      <p:sp>
        <p:nvSpPr>
          <p:cNvPr id="5" name="Shape 3"/>
          <p:cNvSpPr/>
          <p:nvPr/>
        </p:nvSpPr>
        <p:spPr>
          <a:xfrm>
            <a:off x="822325" y="1812826"/>
            <a:ext cx="2508250" cy="1218406"/>
          </a:xfrm>
          <a:prstGeom prst="rect">
            <a:avLst/>
          </a:prstGeom>
          <a:solidFill>
            <a:srgbClr val="FFFFFF"/>
          </a:solidFill>
          <a:ln w="19050">
            <a:solidFill>
              <a:srgbClr val="111111"/>
            </a:solidFill>
            <a:prstDash val="solid"/>
          </a:ln>
        </p:spPr>
      </p:sp>
      <p:sp>
        <p:nvSpPr>
          <p:cNvPr id="6" name="Text 4"/>
          <p:cNvSpPr/>
          <p:nvPr/>
        </p:nvSpPr>
        <p:spPr>
          <a:xfrm>
            <a:off x="984250" y="1949351"/>
            <a:ext cx="224993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A00FF"/>
                </a:solidFill>
                <a:latin typeface="Bungee" pitchFamily="34" charset="0"/>
                <a:ea typeface="Bungee" pitchFamily="34" charset="-122"/>
                <a:cs typeface="Bungee" pitchFamily="34" charset="-120"/>
              </a:rPr>
              <a:t>001</a:t>
            </a:r>
            <a:endParaRPr lang="en-US" sz="1200" dirty="0"/>
          </a:p>
        </p:txBody>
      </p:sp>
      <p:sp>
        <p:nvSpPr>
          <p:cNvPr id="7" name="Text 5"/>
          <p:cNvSpPr/>
          <p:nvPr/>
        </p:nvSpPr>
        <p:spPr>
          <a:xfrm>
            <a:off x="984250" y="2213471"/>
            <a:ext cx="2249932" cy="244475"/>
          </a:xfrm>
          <a:prstGeom prst="rect">
            <a:avLst/>
          </a:prstGeom>
          <a:noFill/>
          <a:ln/>
        </p:spPr>
        <p:txBody>
          <a:bodyPr wrap="square" lIns="0" tIns="0" rIns="0" bIns="0" rtlCol="0" anchor="t">
            <a:normAutofit/>
          </a:bodyPr>
          <a:lstStyle/>
          <a:p>
            <a:pPr algn="l" indent="0" marL="0">
              <a:lnSpc>
                <a:spcPts val="1725"/>
              </a:lnSpc>
              <a:buNone/>
            </a:pPr>
            <a:r>
              <a:rPr lang="en-US" sz="1500" b="1" dirty="0">
                <a:solidFill>
                  <a:srgbClr val="111111"/>
                </a:solidFill>
                <a:latin typeface="Geist" pitchFamily="34" charset="0"/>
                <a:ea typeface="Geist" pitchFamily="34" charset="-122"/>
                <a:cs typeface="Geist" pitchFamily="34" charset="-120"/>
              </a:rPr>
              <a:t>Core Storefront</a:t>
            </a:r>
            <a:endParaRPr lang="en-US" sz="1500" dirty="0"/>
          </a:p>
        </p:txBody>
      </p:sp>
      <p:sp>
        <p:nvSpPr>
          <p:cNvPr id="8" name="Text 6"/>
          <p:cNvSpPr/>
          <p:nvPr/>
        </p:nvSpPr>
        <p:spPr>
          <a:xfrm>
            <a:off x="984250" y="2483346"/>
            <a:ext cx="2249932" cy="43676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D382F"/>
                </a:solidFill>
                <a:latin typeface="Geist" pitchFamily="34" charset="0"/>
                <a:ea typeface="Geist" pitchFamily="34" charset="-122"/>
                <a:cs typeface="Geist" pitchFamily="34" charset="-120"/>
              </a:rPr>
              <a:t>Filter, zoom, cart, fake checkout</a:t>
            </a:r>
            <a:endParaRPr lang="en-US" sz="1200" dirty="0"/>
          </a:p>
        </p:txBody>
      </p:sp>
      <p:sp>
        <p:nvSpPr>
          <p:cNvPr id="9" name="Shape 7"/>
          <p:cNvSpPr/>
          <p:nvPr/>
        </p:nvSpPr>
        <p:spPr>
          <a:xfrm>
            <a:off x="3502025" y="1812826"/>
            <a:ext cx="2508250" cy="1218406"/>
          </a:xfrm>
          <a:prstGeom prst="rect">
            <a:avLst/>
          </a:prstGeom>
          <a:solidFill>
            <a:srgbClr val="FFFFFF"/>
          </a:solidFill>
          <a:ln w="19050">
            <a:solidFill>
              <a:srgbClr val="111111"/>
            </a:solidFill>
            <a:prstDash val="solid"/>
          </a:ln>
        </p:spPr>
      </p:sp>
      <p:sp>
        <p:nvSpPr>
          <p:cNvPr id="10" name="Text 8"/>
          <p:cNvSpPr/>
          <p:nvPr/>
        </p:nvSpPr>
        <p:spPr>
          <a:xfrm>
            <a:off x="3663950" y="1949351"/>
            <a:ext cx="224993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A00FF"/>
                </a:solidFill>
                <a:latin typeface="Bungee" pitchFamily="34" charset="0"/>
                <a:ea typeface="Bungee" pitchFamily="34" charset="-122"/>
                <a:cs typeface="Bungee" pitchFamily="34" charset="-120"/>
              </a:rPr>
              <a:t>002</a:t>
            </a:r>
            <a:endParaRPr lang="en-US" sz="1200" dirty="0"/>
          </a:p>
        </p:txBody>
      </p:sp>
      <p:sp>
        <p:nvSpPr>
          <p:cNvPr id="11" name="Text 9"/>
          <p:cNvSpPr/>
          <p:nvPr/>
        </p:nvSpPr>
        <p:spPr>
          <a:xfrm>
            <a:off x="3663950" y="2213471"/>
            <a:ext cx="2249932" cy="244475"/>
          </a:xfrm>
          <a:prstGeom prst="rect">
            <a:avLst/>
          </a:prstGeom>
          <a:noFill/>
          <a:ln/>
        </p:spPr>
        <p:txBody>
          <a:bodyPr wrap="square" lIns="0" tIns="0" rIns="0" bIns="0" rtlCol="0" anchor="t">
            <a:normAutofit/>
          </a:bodyPr>
          <a:lstStyle/>
          <a:p>
            <a:pPr algn="l" indent="0" marL="0">
              <a:lnSpc>
                <a:spcPts val="1725"/>
              </a:lnSpc>
              <a:buNone/>
            </a:pPr>
            <a:r>
              <a:rPr lang="en-US" sz="1500" b="1" dirty="0">
                <a:solidFill>
                  <a:srgbClr val="111111"/>
                </a:solidFill>
                <a:latin typeface="Geist" pitchFamily="34" charset="0"/>
                <a:ea typeface="Geist" pitchFamily="34" charset="-122"/>
                <a:cs typeface="Geist" pitchFamily="34" charset="-120"/>
              </a:rPr>
              <a:t>Bland-Shirt Shaming</a:t>
            </a:r>
            <a:endParaRPr lang="en-US" sz="1500" dirty="0"/>
          </a:p>
        </p:txBody>
      </p:sp>
      <p:sp>
        <p:nvSpPr>
          <p:cNvPr id="12" name="Text 10"/>
          <p:cNvSpPr/>
          <p:nvPr/>
        </p:nvSpPr>
        <p:spPr>
          <a:xfrm>
            <a:off x="3663950" y="2483346"/>
            <a:ext cx="2249932"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D382F"/>
                </a:solidFill>
                <a:latin typeface="Geist" pitchFamily="34" charset="0"/>
                <a:ea typeface="Geist" pitchFamily="34" charset="-122"/>
                <a:cs typeface="Geist" pitchFamily="34" charset="-120"/>
              </a:rPr>
              <a:t>You can’t buy beige. Ever.</a:t>
            </a:r>
            <a:endParaRPr lang="en-US" sz="1200" dirty="0"/>
          </a:p>
        </p:txBody>
      </p:sp>
      <p:sp>
        <p:nvSpPr>
          <p:cNvPr id="13" name="Shape 11"/>
          <p:cNvSpPr/>
          <p:nvPr/>
        </p:nvSpPr>
        <p:spPr>
          <a:xfrm>
            <a:off x="6181725" y="1812826"/>
            <a:ext cx="2508250" cy="1218406"/>
          </a:xfrm>
          <a:prstGeom prst="rect">
            <a:avLst/>
          </a:prstGeom>
          <a:solidFill>
            <a:srgbClr val="FFFFFF"/>
          </a:solidFill>
          <a:ln w="19050">
            <a:solidFill>
              <a:srgbClr val="111111"/>
            </a:solidFill>
            <a:prstDash val="solid"/>
          </a:ln>
        </p:spPr>
      </p:sp>
      <p:sp>
        <p:nvSpPr>
          <p:cNvPr id="14" name="Text 12"/>
          <p:cNvSpPr/>
          <p:nvPr/>
        </p:nvSpPr>
        <p:spPr>
          <a:xfrm>
            <a:off x="6343650" y="1949351"/>
            <a:ext cx="224993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A00FF"/>
                </a:solidFill>
                <a:latin typeface="Bungee" pitchFamily="34" charset="0"/>
                <a:ea typeface="Bungee" pitchFamily="34" charset="-122"/>
                <a:cs typeface="Bungee" pitchFamily="34" charset="-120"/>
              </a:rPr>
              <a:t>003</a:t>
            </a:r>
            <a:endParaRPr lang="en-US" sz="1200" dirty="0"/>
          </a:p>
        </p:txBody>
      </p:sp>
      <p:sp>
        <p:nvSpPr>
          <p:cNvPr id="15" name="Text 13"/>
          <p:cNvSpPr/>
          <p:nvPr/>
        </p:nvSpPr>
        <p:spPr>
          <a:xfrm>
            <a:off x="6343650" y="2213471"/>
            <a:ext cx="2249932" cy="244475"/>
          </a:xfrm>
          <a:prstGeom prst="rect">
            <a:avLst/>
          </a:prstGeom>
          <a:noFill/>
          <a:ln/>
        </p:spPr>
        <p:txBody>
          <a:bodyPr wrap="square" lIns="0" tIns="0" rIns="0" bIns="0" rtlCol="0" anchor="t">
            <a:normAutofit/>
          </a:bodyPr>
          <a:lstStyle/>
          <a:p>
            <a:pPr algn="l" indent="0" marL="0">
              <a:lnSpc>
                <a:spcPts val="1725"/>
              </a:lnSpc>
              <a:buNone/>
            </a:pPr>
            <a:r>
              <a:rPr lang="en-US" sz="1500" b="1" dirty="0">
                <a:solidFill>
                  <a:srgbClr val="111111"/>
                </a:solidFill>
                <a:latin typeface="Geist" pitchFamily="34" charset="0"/>
                <a:ea typeface="Geist" pitchFamily="34" charset="-122"/>
                <a:cs typeface="Geist" pitchFamily="34" charset="-120"/>
              </a:rPr>
              <a:t>Per Diem Drain</a:t>
            </a:r>
            <a:endParaRPr lang="en-US" sz="1500" dirty="0"/>
          </a:p>
        </p:txBody>
      </p:sp>
      <p:sp>
        <p:nvSpPr>
          <p:cNvPr id="16" name="Text 14"/>
          <p:cNvSpPr/>
          <p:nvPr/>
        </p:nvSpPr>
        <p:spPr>
          <a:xfrm>
            <a:off x="6343650" y="2483346"/>
            <a:ext cx="2249932"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D382F"/>
                </a:solidFill>
                <a:latin typeface="Geist" pitchFamily="34" charset="0"/>
                <a:ea typeface="Geist" pitchFamily="34" charset="-122"/>
                <a:cs typeface="Geist" pitchFamily="34" charset="-120"/>
              </a:rPr>
              <a:t>“Second Mortgage: GONE.”</a:t>
            </a:r>
            <a:endParaRPr lang="en-US" sz="1200" dirty="0"/>
          </a:p>
        </p:txBody>
      </p:sp>
      <p:sp>
        <p:nvSpPr>
          <p:cNvPr id="17" name="Shape 15"/>
          <p:cNvSpPr/>
          <p:nvPr/>
        </p:nvSpPr>
        <p:spPr>
          <a:xfrm>
            <a:off x="8861425" y="1812826"/>
            <a:ext cx="2508250" cy="1218406"/>
          </a:xfrm>
          <a:prstGeom prst="rect">
            <a:avLst/>
          </a:prstGeom>
          <a:solidFill>
            <a:srgbClr val="FFFFFF"/>
          </a:solidFill>
          <a:ln w="19050">
            <a:solidFill>
              <a:srgbClr val="111111"/>
            </a:solidFill>
            <a:prstDash val="solid"/>
          </a:ln>
        </p:spPr>
      </p:sp>
      <p:sp>
        <p:nvSpPr>
          <p:cNvPr id="18" name="Text 16"/>
          <p:cNvSpPr/>
          <p:nvPr/>
        </p:nvSpPr>
        <p:spPr>
          <a:xfrm>
            <a:off x="9023350" y="1949351"/>
            <a:ext cx="224993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A00FF"/>
                </a:solidFill>
                <a:latin typeface="Bungee" pitchFamily="34" charset="0"/>
                <a:ea typeface="Bungee" pitchFamily="34" charset="-122"/>
                <a:cs typeface="Bungee" pitchFamily="34" charset="-120"/>
              </a:rPr>
              <a:t>004</a:t>
            </a:r>
            <a:endParaRPr lang="en-US" sz="1200" dirty="0"/>
          </a:p>
        </p:txBody>
      </p:sp>
      <p:sp>
        <p:nvSpPr>
          <p:cNvPr id="19" name="Text 17"/>
          <p:cNvSpPr/>
          <p:nvPr/>
        </p:nvSpPr>
        <p:spPr>
          <a:xfrm>
            <a:off x="9023350" y="2213471"/>
            <a:ext cx="2249932" cy="244475"/>
          </a:xfrm>
          <a:prstGeom prst="rect">
            <a:avLst/>
          </a:prstGeom>
          <a:noFill/>
          <a:ln/>
        </p:spPr>
        <p:txBody>
          <a:bodyPr wrap="square" lIns="0" tIns="0" rIns="0" bIns="0" rtlCol="0" anchor="t">
            <a:normAutofit/>
          </a:bodyPr>
          <a:lstStyle/>
          <a:p>
            <a:pPr algn="l" indent="0" marL="0">
              <a:lnSpc>
                <a:spcPts val="1725"/>
              </a:lnSpc>
              <a:buNone/>
            </a:pPr>
            <a:r>
              <a:rPr lang="en-US" sz="1500" b="1" dirty="0">
                <a:solidFill>
                  <a:srgbClr val="111111"/>
                </a:solidFill>
                <a:latin typeface="Geist" pitchFamily="34" charset="0"/>
                <a:ea typeface="Geist" pitchFamily="34" charset="-122"/>
                <a:cs typeface="Geist" pitchFamily="34" charset="-120"/>
              </a:rPr>
              <a:t>Urgency Engine</a:t>
            </a:r>
            <a:endParaRPr lang="en-US" sz="1500" dirty="0"/>
          </a:p>
        </p:txBody>
      </p:sp>
      <p:sp>
        <p:nvSpPr>
          <p:cNvPr id="20" name="Text 18"/>
          <p:cNvSpPr/>
          <p:nvPr/>
        </p:nvSpPr>
        <p:spPr>
          <a:xfrm>
            <a:off x="9023350" y="2483346"/>
            <a:ext cx="2249932"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D382F"/>
                </a:solidFill>
                <a:latin typeface="Geist" pitchFamily="34" charset="0"/>
                <a:ea typeface="Geist" pitchFamily="34" charset="-122"/>
                <a:cs typeface="Geist" pitchFamily="34" charset="-120"/>
              </a:rPr>
              <a:t>Only 1 left! (There’s always 1.)</a:t>
            </a:r>
            <a:endParaRPr lang="en-US" sz="1200" dirty="0"/>
          </a:p>
        </p:txBody>
      </p:sp>
      <p:sp>
        <p:nvSpPr>
          <p:cNvPr id="21" name="Shape 19"/>
          <p:cNvSpPr/>
          <p:nvPr/>
        </p:nvSpPr>
        <p:spPr>
          <a:xfrm>
            <a:off x="822325" y="3202682"/>
            <a:ext cx="2508250" cy="1012726"/>
          </a:xfrm>
          <a:prstGeom prst="rect">
            <a:avLst/>
          </a:prstGeom>
          <a:solidFill>
            <a:srgbClr val="FFFFFF"/>
          </a:solidFill>
          <a:ln w="19050">
            <a:solidFill>
              <a:srgbClr val="111111"/>
            </a:solidFill>
            <a:prstDash val="solid"/>
          </a:ln>
        </p:spPr>
      </p:sp>
      <p:sp>
        <p:nvSpPr>
          <p:cNvPr id="22" name="Text 20"/>
          <p:cNvSpPr/>
          <p:nvPr/>
        </p:nvSpPr>
        <p:spPr>
          <a:xfrm>
            <a:off x="984250" y="3339207"/>
            <a:ext cx="224993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A00FF"/>
                </a:solidFill>
                <a:latin typeface="Bungee" pitchFamily="34" charset="0"/>
                <a:ea typeface="Bungee" pitchFamily="34" charset="-122"/>
                <a:cs typeface="Bungee" pitchFamily="34" charset="-120"/>
              </a:rPr>
              <a:t>005</a:t>
            </a:r>
            <a:endParaRPr lang="en-US" sz="1200" dirty="0"/>
          </a:p>
        </p:txBody>
      </p:sp>
      <p:sp>
        <p:nvSpPr>
          <p:cNvPr id="23" name="Text 21"/>
          <p:cNvSpPr/>
          <p:nvPr/>
        </p:nvSpPr>
        <p:spPr>
          <a:xfrm>
            <a:off x="984250" y="3603327"/>
            <a:ext cx="2249932" cy="244475"/>
          </a:xfrm>
          <a:prstGeom prst="rect">
            <a:avLst/>
          </a:prstGeom>
          <a:noFill/>
          <a:ln/>
        </p:spPr>
        <p:txBody>
          <a:bodyPr wrap="square" lIns="0" tIns="0" rIns="0" bIns="0" rtlCol="0" anchor="t">
            <a:normAutofit/>
          </a:bodyPr>
          <a:lstStyle/>
          <a:p>
            <a:pPr algn="l" indent="0" marL="0">
              <a:lnSpc>
                <a:spcPts val="1725"/>
              </a:lnSpc>
              <a:buNone/>
            </a:pPr>
            <a:r>
              <a:rPr lang="en-US" sz="1500" b="1" dirty="0">
                <a:solidFill>
                  <a:srgbClr val="111111"/>
                </a:solidFill>
                <a:latin typeface="Geist" pitchFamily="34" charset="0"/>
                <a:ea typeface="Geist" pitchFamily="34" charset="-122"/>
                <a:cs typeface="Geist" pitchFamily="34" charset="-120"/>
              </a:rPr>
              <a:t>Checkout Squeeze</a:t>
            </a:r>
            <a:endParaRPr lang="en-US" sz="1500" dirty="0"/>
          </a:p>
        </p:txBody>
      </p:sp>
      <p:sp>
        <p:nvSpPr>
          <p:cNvPr id="24" name="Text 22"/>
          <p:cNvSpPr/>
          <p:nvPr/>
        </p:nvSpPr>
        <p:spPr>
          <a:xfrm>
            <a:off x="984250" y="3873202"/>
            <a:ext cx="2249932"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D382F"/>
                </a:solidFill>
                <a:latin typeface="Geist" pitchFamily="34" charset="0"/>
                <a:ea typeface="Geist" pitchFamily="34" charset="-122"/>
                <a:cs typeface="Geist" pitchFamily="34" charset="-120"/>
              </a:rPr>
              <a:t>“Are you sure sure?”</a:t>
            </a:r>
            <a:endParaRPr lang="en-US" sz="1200" dirty="0"/>
          </a:p>
        </p:txBody>
      </p:sp>
      <p:sp>
        <p:nvSpPr>
          <p:cNvPr id="25" name="Shape 23"/>
          <p:cNvSpPr/>
          <p:nvPr/>
        </p:nvSpPr>
        <p:spPr>
          <a:xfrm>
            <a:off x="3502025" y="3202682"/>
            <a:ext cx="2508250" cy="1012726"/>
          </a:xfrm>
          <a:prstGeom prst="rect">
            <a:avLst/>
          </a:prstGeom>
          <a:solidFill>
            <a:srgbClr val="FFFFFF"/>
          </a:solidFill>
          <a:ln w="19050">
            <a:solidFill>
              <a:srgbClr val="111111"/>
            </a:solidFill>
            <a:prstDash val="solid"/>
          </a:ln>
        </p:spPr>
      </p:sp>
      <p:sp>
        <p:nvSpPr>
          <p:cNvPr id="26" name="Text 24"/>
          <p:cNvSpPr/>
          <p:nvPr/>
        </p:nvSpPr>
        <p:spPr>
          <a:xfrm>
            <a:off x="3663950" y="3339207"/>
            <a:ext cx="224993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A00FF"/>
                </a:solidFill>
                <a:latin typeface="Bungee" pitchFamily="34" charset="0"/>
                <a:ea typeface="Bungee" pitchFamily="34" charset="-122"/>
                <a:cs typeface="Bungee" pitchFamily="34" charset="-120"/>
              </a:rPr>
              <a:t>006</a:t>
            </a:r>
            <a:endParaRPr lang="en-US" sz="1200" dirty="0"/>
          </a:p>
        </p:txBody>
      </p:sp>
      <p:sp>
        <p:nvSpPr>
          <p:cNvPr id="27" name="Text 25"/>
          <p:cNvSpPr/>
          <p:nvPr/>
        </p:nvSpPr>
        <p:spPr>
          <a:xfrm>
            <a:off x="3663950" y="3603327"/>
            <a:ext cx="2336800" cy="244475"/>
          </a:xfrm>
          <a:prstGeom prst="rect">
            <a:avLst/>
          </a:prstGeom>
          <a:noFill/>
          <a:ln/>
        </p:spPr>
        <p:txBody>
          <a:bodyPr wrap="square" lIns="0" tIns="0" rIns="0" bIns="0" rtlCol="0" anchor="t">
            <a:normAutofit/>
          </a:bodyPr>
          <a:lstStyle/>
          <a:p>
            <a:pPr algn="l" indent="0" marL="0">
              <a:lnSpc>
                <a:spcPts val="1725"/>
              </a:lnSpc>
              <a:buNone/>
            </a:pPr>
            <a:r>
              <a:rPr lang="en-US" sz="1500" b="1" dirty="0">
                <a:solidFill>
                  <a:srgbClr val="111111"/>
                </a:solidFill>
                <a:latin typeface="Geist" pitchFamily="34" charset="0"/>
                <a:ea typeface="Geist" pitchFamily="34" charset="-122"/>
                <a:cs typeface="Geist" pitchFamily="34" charset="-120"/>
              </a:rPr>
              <a:t>Extreme Awesomeness</a:t>
            </a:r>
            <a:endParaRPr lang="en-US" sz="1500" dirty="0"/>
          </a:p>
        </p:txBody>
      </p:sp>
      <p:sp>
        <p:nvSpPr>
          <p:cNvPr id="28" name="Text 26"/>
          <p:cNvSpPr/>
          <p:nvPr/>
        </p:nvSpPr>
        <p:spPr>
          <a:xfrm>
            <a:off x="3663950" y="3873202"/>
            <a:ext cx="2249932"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D382F"/>
                </a:solidFill>
                <a:latin typeface="Geist" pitchFamily="34" charset="0"/>
                <a:ea typeface="Geist" pitchFamily="34" charset="-122"/>
                <a:cs typeface="Geist" pitchFamily="34" charset="-120"/>
              </a:rPr>
              <a:t>A strobe and the 3D Pipes</a:t>
            </a:r>
            <a:endParaRPr lang="en-US" sz="1200" dirty="0"/>
          </a:p>
        </p:txBody>
      </p:sp>
      <p:sp>
        <p:nvSpPr>
          <p:cNvPr id="29" name="Shape 27"/>
          <p:cNvSpPr/>
          <p:nvPr/>
        </p:nvSpPr>
        <p:spPr>
          <a:xfrm>
            <a:off x="6181725" y="3202682"/>
            <a:ext cx="2508250" cy="1012726"/>
          </a:xfrm>
          <a:prstGeom prst="rect">
            <a:avLst/>
          </a:prstGeom>
          <a:solidFill>
            <a:srgbClr val="FFFFFF"/>
          </a:solidFill>
          <a:ln w="19050">
            <a:solidFill>
              <a:srgbClr val="111111"/>
            </a:solidFill>
            <a:prstDash val="solid"/>
          </a:ln>
        </p:spPr>
      </p:sp>
      <p:sp>
        <p:nvSpPr>
          <p:cNvPr id="30" name="Text 28"/>
          <p:cNvSpPr/>
          <p:nvPr/>
        </p:nvSpPr>
        <p:spPr>
          <a:xfrm>
            <a:off x="6343650" y="3339207"/>
            <a:ext cx="224993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A00FF"/>
                </a:solidFill>
                <a:latin typeface="Bungee" pitchFamily="34" charset="0"/>
                <a:ea typeface="Bungee" pitchFamily="34" charset="-122"/>
                <a:cs typeface="Bungee" pitchFamily="34" charset="-120"/>
              </a:rPr>
              <a:t>007</a:t>
            </a:r>
            <a:endParaRPr lang="en-US" sz="1200" dirty="0"/>
          </a:p>
        </p:txBody>
      </p:sp>
      <p:sp>
        <p:nvSpPr>
          <p:cNvPr id="31" name="Text 29"/>
          <p:cNvSpPr/>
          <p:nvPr/>
        </p:nvSpPr>
        <p:spPr>
          <a:xfrm>
            <a:off x="6343650" y="3603327"/>
            <a:ext cx="2249932" cy="244475"/>
          </a:xfrm>
          <a:prstGeom prst="rect">
            <a:avLst/>
          </a:prstGeom>
          <a:noFill/>
          <a:ln/>
        </p:spPr>
        <p:txBody>
          <a:bodyPr wrap="square" lIns="0" tIns="0" rIns="0" bIns="0" rtlCol="0" anchor="t">
            <a:normAutofit/>
          </a:bodyPr>
          <a:lstStyle/>
          <a:p>
            <a:pPr algn="l" indent="0" marL="0">
              <a:lnSpc>
                <a:spcPts val="1725"/>
              </a:lnSpc>
              <a:buNone/>
            </a:pPr>
            <a:r>
              <a:rPr lang="en-US" sz="1500" b="1" dirty="0">
                <a:solidFill>
                  <a:srgbClr val="111111"/>
                </a:solidFill>
                <a:latin typeface="Geist" pitchFamily="34" charset="0"/>
                <a:ea typeface="Geist" pitchFamily="34" charset="-122"/>
                <a:cs typeface="Geist" pitchFamily="34" charset="-120"/>
              </a:rPr>
              <a:t>Pattern Generator</a:t>
            </a:r>
            <a:endParaRPr lang="en-US" sz="1500" dirty="0"/>
          </a:p>
        </p:txBody>
      </p:sp>
      <p:sp>
        <p:nvSpPr>
          <p:cNvPr id="32" name="Text 30"/>
          <p:cNvSpPr/>
          <p:nvPr/>
        </p:nvSpPr>
        <p:spPr>
          <a:xfrm>
            <a:off x="6343650" y="3873202"/>
            <a:ext cx="2249932"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D382F"/>
                </a:solidFill>
                <a:latin typeface="Geist" pitchFamily="34" charset="0"/>
                <a:ea typeface="Geist" pitchFamily="34" charset="-122"/>
                <a:cs typeface="Geist" pitchFamily="34" charset="-120"/>
              </a:rPr>
              <a:t>How complicated can it get?</a:t>
            </a:r>
            <a:endParaRPr lang="en-US" sz="1200" dirty="0"/>
          </a:p>
        </p:txBody>
      </p:sp>
      <p:sp>
        <p:nvSpPr>
          <p:cNvPr id="33" name="Shape 31"/>
          <p:cNvSpPr/>
          <p:nvPr/>
        </p:nvSpPr>
        <p:spPr>
          <a:xfrm>
            <a:off x="8861425" y="3202682"/>
            <a:ext cx="2508250" cy="1012726"/>
          </a:xfrm>
          <a:prstGeom prst="rect">
            <a:avLst/>
          </a:prstGeom>
          <a:solidFill>
            <a:srgbClr val="FFFFFF"/>
          </a:solidFill>
          <a:ln w="19050">
            <a:solidFill>
              <a:srgbClr val="111111"/>
            </a:solidFill>
            <a:prstDash val="solid"/>
          </a:ln>
        </p:spPr>
      </p:sp>
      <p:sp>
        <p:nvSpPr>
          <p:cNvPr id="34" name="Text 32"/>
          <p:cNvSpPr/>
          <p:nvPr/>
        </p:nvSpPr>
        <p:spPr>
          <a:xfrm>
            <a:off x="9023350" y="3339207"/>
            <a:ext cx="224993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A00FF"/>
                </a:solidFill>
                <a:latin typeface="Bungee" pitchFamily="34" charset="0"/>
                <a:ea typeface="Bungee" pitchFamily="34" charset="-122"/>
                <a:cs typeface="Bungee" pitchFamily="34" charset="-120"/>
              </a:rPr>
              <a:t>008</a:t>
            </a:r>
            <a:endParaRPr lang="en-US" sz="1200" dirty="0"/>
          </a:p>
        </p:txBody>
      </p:sp>
      <p:sp>
        <p:nvSpPr>
          <p:cNvPr id="35" name="Text 33"/>
          <p:cNvSpPr/>
          <p:nvPr/>
        </p:nvSpPr>
        <p:spPr>
          <a:xfrm>
            <a:off x="9023350" y="3603327"/>
            <a:ext cx="2249932" cy="244475"/>
          </a:xfrm>
          <a:prstGeom prst="rect">
            <a:avLst/>
          </a:prstGeom>
          <a:noFill/>
          <a:ln/>
        </p:spPr>
        <p:txBody>
          <a:bodyPr wrap="square" lIns="0" tIns="0" rIns="0" bIns="0" rtlCol="0" anchor="t">
            <a:normAutofit/>
          </a:bodyPr>
          <a:lstStyle/>
          <a:p>
            <a:pPr algn="l" indent="0" marL="0">
              <a:lnSpc>
                <a:spcPts val="1725"/>
              </a:lnSpc>
              <a:buNone/>
            </a:pPr>
            <a:r>
              <a:rPr lang="en-US" sz="1500" b="1" dirty="0">
                <a:solidFill>
                  <a:srgbClr val="111111"/>
                </a:solidFill>
                <a:latin typeface="Geist" pitchFamily="34" charset="0"/>
                <a:ea typeface="Geist" pitchFamily="34" charset="-122"/>
                <a:cs typeface="Geist" pitchFamily="34" charset="-120"/>
              </a:rPr>
              <a:t>Dan’s Office</a:t>
            </a:r>
            <a:endParaRPr lang="en-US" sz="1500" dirty="0"/>
          </a:p>
        </p:txBody>
      </p:sp>
      <p:sp>
        <p:nvSpPr>
          <p:cNvPr id="36" name="Text 34"/>
          <p:cNvSpPr/>
          <p:nvPr/>
        </p:nvSpPr>
        <p:spPr>
          <a:xfrm>
            <a:off x="9023350" y="3873202"/>
            <a:ext cx="2249932"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D382F"/>
                </a:solidFill>
                <a:latin typeface="Geist" pitchFamily="34" charset="0"/>
                <a:ea typeface="Geist" pitchFamily="34" charset="-122"/>
                <a:cs typeface="Geist" pitchFamily="34" charset="-120"/>
              </a:rPr>
              <a:t>A perfectly calm back office</a:t>
            </a:r>
            <a:endParaRPr lang="en-US" sz="1200" dirty="0"/>
          </a:p>
        </p:txBody>
      </p:sp>
      <p:sp>
        <p:nvSpPr>
          <p:cNvPr id="37" name="Shape 35"/>
          <p:cNvSpPr/>
          <p:nvPr/>
        </p:nvSpPr>
        <p:spPr>
          <a:xfrm>
            <a:off x="822325" y="4386858"/>
            <a:ext cx="2508250" cy="1012726"/>
          </a:xfrm>
          <a:prstGeom prst="rect">
            <a:avLst/>
          </a:prstGeom>
          <a:solidFill>
            <a:srgbClr val="FFFFFF"/>
          </a:solidFill>
          <a:ln w="19050">
            <a:solidFill>
              <a:srgbClr val="111111"/>
            </a:solidFill>
            <a:prstDash val="solid"/>
          </a:ln>
        </p:spPr>
      </p:sp>
      <p:sp>
        <p:nvSpPr>
          <p:cNvPr id="38" name="Text 36"/>
          <p:cNvSpPr/>
          <p:nvPr/>
        </p:nvSpPr>
        <p:spPr>
          <a:xfrm>
            <a:off x="984250" y="4523383"/>
            <a:ext cx="224993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A00FF"/>
                </a:solidFill>
                <a:latin typeface="Bungee" pitchFamily="34" charset="0"/>
                <a:ea typeface="Bungee" pitchFamily="34" charset="-122"/>
                <a:cs typeface="Bungee" pitchFamily="34" charset="-120"/>
              </a:rPr>
              <a:t>009</a:t>
            </a:r>
            <a:endParaRPr lang="en-US" sz="1200" dirty="0"/>
          </a:p>
        </p:txBody>
      </p:sp>
      <p:sp>
        <p:nvSpPr>
          <p:cNvPr id="39" name="Text 37"/>
          <p:cNvSpPr/>
          <p:nvPr/>
        </p:nvSpPr>
        <p:spPr>
          <a:xfrm>
            <a:off x="984250" y="4787503"/>
            <a:ext cx="2249932" cy="244475"/>
          </a:xfrm>
          <a:prstGeom prst="rect">
            <a:avLst/>
          </a:prstGeom>
          <a:noFill/>
          <a:ln/>
        </p:spPr>
        <p:txBody>
          <a:bodyPr wrap="square" lIns="0" tIns="0" rIns="0" bIns="0" rtlCol="0" anchor="t">
            <a:normAutofit/>
          </a:bodyPr>
          <a:lstStyle/>
          <a:p>
            <a:pPr algn="l" indent="0" marL="0">
              <a:lnSpc>
                <a:spcPts val="1725"/>
              </a:lnSpc>
              <a:buNone/>
            </a:pPr>
            <a:r>
              <a:rPr lang="en-US" sz="1500" b="1" dirty="0">
                <a:solidFill>
                  <a:srgbClr val="111111"/>
                </a:solidFill>
                <a:latin typeface="Geist" pitchFamily="34" charset="0"/>
                <a:ea typeface="Geist" pitchFamily="34" charset="-122"/>
                <a:cs typeface="Geist" pitchFamily="34" charset="-120"/>
              </a:rPr>
              <a:t>Nosy Sign-Up</a:t>
            </a:r>
            <a:endParaRPr lang="en-US" sz="1500" dirty="0"/>
          </a:p>
        </p:txBody>
      </p:sp>
      <p:sp>
        <p:nvSpPr>
          <p:cNvPr id="40" name="Text 38"/>
          <p:cNvSpPr/>
          <p:nvPr/>
        </p:nvSpPr>
        <p:spPr>
          <a:xfrm>
            <a:off x="984250" y="5057378"/>
            <a:ext cx="2336800"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D382F"/>
                </a:solidFill>
                <a:latin typeface="Geist" pitchFamily="34" charset="0"/>
                <a:ea typeface="Geist" pitchFamily="34" charset="-122"/>
                <a:cs typeface="Geist" pitchFamily="34" charset="-120"/>
              </a:rPr>
              <a:t>SSN, blood type… never stored</a:t>
            </a:r>
            <a:endParaRPr lang="en-US" sz="1200" dirty="0"/>
          </a:p>
        </p:txBody>
      </p:sp>
      <p:sp>
        <p:nvSpPr>
          <p:cNvPr id="41" name="Shape 39"/>
          <p:cNvSpPr/>
          <p:nvPr/>
        </p:nvSpPr>
        <p:spPr>
          <a:xfrm>
            <a:off x="3502025" y="4386858"/>
            <a:ext cx="2508250" cy="1012726"/>
          </a:xfrm>
          <a:prstGeom prst="rect">
            <a:avLst/>
          </a:prstGeom>
          <a:solidFill>
            <a:srgbClr val="FFFFFF"/>
          </a:solidFill>
          <a:ln w="19050">
            <a:solidFill>
              <a:srgbClr val="111111"/>
            </a:solidFill>
            <a:prstDash val="solid"/>
          </a:ln>
        </p:spPr>
      </p:sp>
      <p:sp>
        <p:nvSpPr>
          <p:cNvPr id="42" name="Text 40"/>
          <p:cNvSpPr/>
          <p:nvPr/>
        </p:nvSpPr>
        <p:spPr>
          <a:xfrm>
            <a:off x="3663950" y="4523383"/>
            <a:ext cx="224993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A00FF"/>
                </a:solidFill>
                <a:latin typeface="Bungee" pitchFamily="34" charset="0"/>
                <a:ea typeface="Bungee" pitchFamily="34" charset="-122"/>
                <a:cs typeface="Bungee" pitchFamily="34" charset="-120"/>
              </a:rPr>
              <a:t>010</a:t>
            </a:r>
            <a:endParaRPr lang="en-US" sz="1200" dirty="0"/>
          </a:p>
        </p:txBody>
      </p:sp>
      <p:sp>
        <p:nvSpPr>
          <p:cNvPr id="43" name="Text 41"/>
          <p:cNvSpPr/>
          <p:nvPr/>
        </p:nvSpPr>
        <p:spPr>
          <a:xfrm>
            <a:off x="3663950" y="4787503"/>
            <a:ext cx="2249932" cy="244475"/>
          </a:xfrm>
          <a:prstGeom prst="rect">
            <a:avLst/>
          </a:prstGeom>
          <a:noFill/>
          <a:ln/>
        </p:spPr>
        <p:txBody>
          <a:bodyPr wrap="square" lIns="0" tIns="0" rIns="0" bIns="0" rtlCol="0" anchor="t">
            <a:normAutofit/>
          </a:bodyPr>
          <a:lstStyle/>
          <a:p>
            <a:pPr algn="l" indent="0" marL="0">
              <a:lnSpc>
                <a:spcPts val="1725"/>
              </a:lnSpc>
              <a:buNone/>
            </a:pPr>
            <a:r>
              <a:rPr lang="en-US" sz="1500" b="1" dirty="0">
                <a:solidFill>
                  <a:srgbClr val="111111"/>
                </a:solidFill>
                <a:latin typeface="Geist" pitchFamily="34" charset="0"/>
                <a:ea typeface="Geist" pitchFamily="34" charset="-122"/>
                <a:cs typeface="Geist" pitchFamily="34" charset="-120"/>
              </a:rPr>
              <a:t>Gentler Pricing</a:t>
            </a:r>
            <a:endParaRPr lang="en-US" sz="1500" dirty="0"/>
          </a:p>
        </p:txBody>
      </p:sp>
      <p:sp>
        <p:nvSpPr>
          <p:cNvPr id="44" name="Text 42"/>
          <p:cNvSpPr/>
          <p:nvPr/>
        </p:nvSpPr>
        <p:spPr>
          <a:xfrm>
            <a:off x="3663950" y="5057378"/>
            <a:ext cx="2249932"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D382F"/>
                </a:solidFill>
                <a:latin typeface="Geist" pitchFamily="34" charset="0"/>
                <a:ea typeface="Geist" pitchFamily="34" charset="-122"/>
                <a:cs typeface="Geist" pitchFamily="34" charset="-120"/>
              </a:rPr>
              <a:t>Exponential → a straight line</a:t>
            </a:r>
            <a:endParaRPr lang="en-US" sz="1200" dirty="0"/>
          </a:p>
        </p:txBody>
      </p:sp>
      <p:sp>
        <p:nvSpPr>
          <p:cNvPr id="45" name="Shape 43"/>
          <p:cNvSpPr/>
          <p:nvPr/>
        </p:nvSpPr>
        <p:spPr>
          <a:xfrm>
            <a:off x="6181725" y="4386858"/>
            <a:ext cx="2508250" cy="1012726"/>
          </a:xfrm>
          <a:prstGeom prst="rect">
            <a:avLst/>
          </a:prstGeom>
          <a:solidFill>
            <a:srgbClr val="FFFFFF"/>
          </a:solidFill>
          <a:ln w="19050">
            <a:solidFill>
              <a:srgbClr val="111111"/>
            </a:solidFill>
            <a:prstDash val="solid"/>
          </a:ln>
        </p:spPr>
      </p:sp>
      <p:sp>
        <p:nvSpPr>
          <p:cNvPr id="46" name="Text 44"/>
          <p:cNvSpPr/>
          <p:nvPr/>
        </p:nvSpPr>
        <p:spPr>
          <a:xfrm>
            <a:off x="6343650" y="4523383"/>
            <a:ext cx="224993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A00FF"/>
                </a:solidFill>
                <a:latin typeface="Bungee" pitchFamily="34" charset="0"/>
                <a:ea typeface="Bungee" pitchFamily="34" charset="-122"/>
                <a:cs typeface="Bungee" pitchFamily="34" charset="-120"/>
              </a:rPr>
              <a:t>011</a:t>
            </a:r>
            <a:endParaRPr lang="en-US" sz="1200" dirty="0"/>
          </a:p>
        </p:txBody>
      </p:sp>
      <p:sp>
        <p:nvSpPr>
          <p:cNvPr id="47" name="Text 45"/>
          <p:cNvSpPr/>
          <p:nvPr/>
        </p:nvSpPr>
        <p:spPr>
          <a:xfrm>
            <a:off x="6343650" y="4787503"/>
            <a:ext cx="2249932" cy="244475"/>
          </a:xfrm>
          <a:prstGeom prst="rect">
            <a:avLst/>
          </a:prstGeom>
          <a:noFill/>
          <a:ln/>
        </p:spPr>
        <p:txBody>
          <a:bodyPr wrap="square" lIns="0" tIns="0" rIns="0" bIns="0" rtlCol="0" anchor="t">
            <a:normAutofit/>
          </a:bodyPr>
          <a:lstStyle/>
          <a:p>
            <a:pPr algn="l" indent="0" marL="0">
              <a:lnSpc>
                <a:spcPts val="1725"/>
              </a:lnSpc>
              <a:buNone/>
            </a:pPr>
            <a:r>
              <a:rPr lang="en-US" sz="1500" b="1" dirty="0">
                <a:solidFill>
                  <a:srgbClr val="111111"/>
                </a:solidFill>
                <a:latin typeface="Geist" pitchFamily="34" charset="0"/>
                <a:ea typeface="Geist" pitchFamily="34" charset="-122"/>
                <a:cs typeface="Geist" pitchFamily="34" charset="-120"/>
              </a:rPr>
              <a:t>Housekeeping</a:t>
            </a:r>
            <a:endParaRPr lang="en-US" sz="1500" dirty="0"/>
          </a:p>
        </p:txBody>
      </p:sp>
      <p:sp>
        <p:nvSpPr>
          <p:cNvPr id="48" name="Text 46"/>
          <p:cNvSpPr/>
          <p:nvPr/>
        </p:nvSpPr>
        <p:spPr>
          <a:xfrm>
            <a:off x="6343650" y="5057378"/>
            <a:ext cx="2249932"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D382F"/>
                </a:solidFill>
                <a:latin typeface="Geist" pitchFamily="34" charset="0"/>
                <a:ea typeface="Geist" pitchFamily="34" charset="-122"/>
                <a:cs typeface="Geist" pitchFamily="34" charset="-120"/>
              </a:rPr>
              <a:t>Sweeps abandoned creations</a:t>
            </a:r>
            <a:endParaRPr lang="en-US" sz="1200" dirty="0"/>
          </a:p>
        </p:txBody>
      </p:sp>
      <p:sp>
        <p:nvSpPr>
          <p:cNvPr id="49" name="Shape 47"/>
          <p:cNvSpPr/>
          <p:nvPr/>
        </p:nvSpPr>
        <p:spPr>
          <a:xfrm>
            <a:off x="8861425" y="4386858"/>
            <a:ext cx="2508250" cy="1012726"/>
          </a:xfrm>
          <a:prstGeom prst="rect">
            <a:avLst/>
          </a:prstGeom>
          <a:solidFill>
            <a:srgbClr val="FFE600"/>
          </a:solidFill>
          <a:ln w="19050">
            <a:solidFill>
              <a:srgbClr val="111111"/>
            </a:solidFill>
            <a:prstDash val="solid"/>
          </a:ln>
          <a:effectLst>
            <a:outerShdw sx="100000" sy="100000" kx="0" ky="0" algn="bl" rotWithShape="0" blurRad="0" dist="71842" dir="2700000">
              <a:srgbClr val="111111">
                <a:alpha val="100000"/>
              </a:srgbClr>
            </a:outerShdw>
          </a:effectLst>
        </p:spPr>
      </p:sp>
      <p:sp>
        <p:nvSpPr>
          <p:cNvPr id="50" name="Text 48"/>
          <p:cNvSpPr/>
          <p:nvPr/>
        </p:nvSpPr>
        <p:spPr>
          <a:xfrm>
            <a:off x="9023350" y="4523383"/>
            <a:ext cx="224993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11111"/>
                </a:solidFill>
                <a:latin typeface="Bungee" pitchFamily="34" charset="0"/>
                <a:ea typeface="Bungee" pitchFamily="34" charset="-122"/>
                <a:cs typeface="Bungee" pitchFamily="34" charset="-120"/>
              </a:rPr>
              <a:t>012</a:t>
            </a:r>
            <a:endParaRPr lang="en-US" sz="1200" dirty="0"/>
          </a:p>
        </p:txBody>
      </p:sp>
      <p:sp>
        <p:nvSpPr>
          <p:cNvPr id="51" name="Text 49"/>
          <p:cNvSpPr/>
          <p:nvPr/>
        </p:nvSpPr>
        <p:spPr>
          <a:xfrm>
            <a:off x="9023350" y="4787503"/>
            <a:ext cx="2249932" cy="244475"/>
          </a:xfrm>
          <a:prstGeom prst="rect">
            <a:avLst/>
          </a:prstGeom>
          <a:noFill/>
          <a:ln/>
        </p:spPr>
        <p:txBody>
          <a:bodyPr wrap="square" lIns="0" tIns="0" rIns="0" bIns="0" rtlCol="0" anchor="t">
            <a:normAutofit/>
          </a:bodyPr>
          <a:lstStyle/>
          <a:p>
            <a:pPr algn="l" indent="0" marL="0">
              <a:lnSpc>
                <a:spcPts val="1725"/>
              </a:lnSpc>
              <a:buNone/>
            </a:pPr>
            <a:r>
              <a:rPr lang="en-US" sz="1500" b="1" dirty="0">
                <a:solidFill>
                  <a:srgbClr val="111111"/>
                </a:solidFill>
                <a:latin typeface="Geist" pitchFamily="34" charset="0"/>
                <a:ea typeface="Geist" pitchFamily="34" charset="-122"/>
                <a:cs typeface="Geist" pitchFamily="34" charset="-120"/>
              </a:rPr>
              <a:t>PSSB</a:t>
            </a:r>
            <a:endParaRPr lang="en-US" sz="1500" dirty="0"/>
          </a:p>
        </p:txBody>
      </p:sp>
      <p:sp>
        <p:nvSpPr>
          <p:cNvPr id="52" name="Text 50"/>
          <p:cNvSpPr/>
          <p:nvPr/>
        </p:nvSpPr>
        <p:spPr>
          <a:xfrm>
            <a:off x="9023350" y="5057378"/>
            <a:ext cx="2249932"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11111"/>
                </a:solidFill>
                <a:latin typeface="Geist" pitchFamily="34" charset="0"/>
                <a:ea typeface="Geist" pitchFamily="34" charset="-122"/>
                <a:cs typeface="Geist" pitchFamily="34" charset="-120"/>
              </a:rPr>
              <a:t>A sales bot on a local LLM</a:t>
            </a:r>
            <a:endParaRPr lang="en-US" sz="1200" dirty="0"/>
          </a:p>
        </p:txBody>
      </p:sp>
      <p:sp>
        <p:nvSpPr>
          <p:cNvPr id="53" name="Text 51"/>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6B6252"/>
                </a:solidFill>
                <a:latin typeface="Geist" pitchFamily="34" charset="0"/>
                <a:ea typeface="Geist" pitchFamily="34" charset="-122"/>
                <a:cs typeface="Geist" pitchFamily="34" charset="-120"/>
              </a:rPr>
              <a:t>DAN FLASHES × SPEC KIT</a:t>
            </a:r>
            <a:endParaRPr lang="en-US" sz="1200" dirty="0"/>
          </a:p>
        </p:txBody>
      </p:sp>
      <p:sp>
        <p:nvSpPr>
          <p:cNvPr id="54" name="Text 52"/>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6252"/>
                </a:solidFill>
                <a:latin typeface="Geist" pitchFamily="34" charset="0"/>
                <a:ea typeface="Geist" pitchFamily="34" charset="-122"/>
                <a:cs typeface="Geist" pitchFamily="34" charset="-120"/>
              </a:rPr>
              <a:t>04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11111"/>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FFE600"/>
                </a:solidFill>
                <a:latin typeface="Geist" pitchFamily="34" charset="0"/>
                <a:ea typeface="Geist" pitchFamily="34" charset="-122"/>
                <a:cs typeface="Geist" pitchFamily="34" charset="-120"/>
              </a:rPr>
              <a:t>LIVE DEMO · ABOUT 10 MINUTES</a:t>
            </a:r>
            <a:endParaRPr lang="en-US" sz="1200" dirty="0"/>
          </a:p>
        </p:txBody>
      </p:sp>
      <p:sp>
        <p:nvSpPr>
          <p:cNvPr id="3" name="Text 1"/>
          <p:cNvSpPr/>
          <p:nvPr>
            <p:ph type="title"/>
          </p:nvPr>
        </p:nvSpPr>
        <p:spPr>
          <a:xfrm>
            <a:off x="812800" y="11023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0" i="0" dirty="0">
                <a:solidFill>
                  <a:srgbClr val="FFF8E7"/>
                </a:solidFill>
                <a:latin typeface="Bungee" pitchFamily="34" charset="0"/>
                <a:ea typeface="Bungee" pitchFamily="34" charset="-122"/>
                <a:cs typeface="Bungee" pitchFamily="34" charset="-120"/>
              </a:rPr>
              <a:t>The demo path</a:t>
            </a:r>
            <a:endParaRPr lang="en-US" sz="3200" dirty="0"/>
          </a:p>
        </p:txBody>
      </p:sp>
      <p:sp>
        <p:nvSpPr>
          <p:cNvPr id="4" name="Text 2"/>
          <p:cNvSpPr/>
          <p:nvPr/>
        </p:nvSpPr>
        <p:spPr>
          <a:xfrm>
            <a:off x="812800" y="1854101"/>
            <a:ext cx="508000" cy="381000"/>
          </a:xfrm>
          <a:prstGeom prst="rect">
            <a:avLst/>
          </a:prstGeom>
          <a:noFill/>
          <a:ln/>
        </p:spPr>
        <p:txBody>
          <a:bodyPr wrap="square" lIns="0" tIns="0" rIns="0" bIns="0" rtlCol="0" anchor="t">
            <a:normAutofit/>
          </a:bodyPr>
          <a:lstStyle/>
          <a:p>
            <a:pPr algn="l" indent="0" marL="0">
              <a:lnSpc>
                <a:spcPts val="2800"/>
              </a:lnSpc>
              <a:buNone/>
            </a:pPr>
            <a:r>
              <a:rPr lang="en-US" sz="2000" dirty="0">
                <a:solidFill>
                  <a:srgbClr val="FF2D95"/>
                </a:solidFill>
                <a:latin typeface="Bungee" pitchFamily="34" charset="0"/>
                <a:ea typeface="Bungee" pitchFamily="34" charset="-122"/>
                <a:cs typeface="Bungee" pitchFamily="34" charset="-120"/>
              </a:rPr>
              <a:t>1</a:t>
            </a:r>
            <a:endParaRPr lang="en-US" sz="2000" dirty="0"/>
          </a:p>
        </p:txBody>
      </p:sp>
      <p:sp>
        <p:nvSpPr>
          <p:cNvPr id="5" name="Text 3"/>
          <p:cNvSpPr/>
          <p:nvPr/>
        </p:nvSpPr>
        <p:spPr>
          <a:xfrm>
            <a:off x="1422400" y="1930301"/>
            <a:ext cx="4876800" cy="282575"/>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FFF8E7"/>
                </a:solidFill>
                <a:latin typeface="Geist" pitchFamily="34" charset="0"/>
                <a:ea typeface="Geist" pitchFamily="34" charset="-122"/>
                <a:cs typeface="Geist" pitchFamily="34" charset="-120"/>
              </a:rPr>
              <a:t>Shirts: the art, tier badges, the complexity filter</a:t>
            </a:r>
            <a:endParaRPr lang="en-US" sz="1500" dirty="0"/>
          </a:p>
        </p:txBody>
      </p:sp>
      <p:sp>
        <p:nvSpPr>
          <p:cNvPr id="6" name="Text 4"/>
          <p:cNvSpPr/>
          <p:nvPr/>
        </p:nvSpPr>
        <p:spPr>
          <a:xfrm>
            <a:off x="812800" y="2387501"/>
            <a:ext cx="508000" cy="381000"/>
          </a:xfrm>
          <a:prstGeom prst="rect">
            <a:avLst/>
          </a:prstGeom>
          <a:noFill/>
          <a:ln/>
        </p:spPr>
        <p:txBody>
          <a:bodyPr wrap="square" lIns="0" tIns="0" rIns="0" bIns="0" rtlCol="0" anchor="t">
            <a:normAutofit/>
          </a:bodyPr>
          <a:lstStyle/>
          <a:p>
            <a:pPr algn="l" indent="0" marL="0">
              <a:lnSpc>
                <a:spcPts val="2800"/>
              </a:lnSpc>
              <a:buNone/>
            </a:pPr>
            <a:r>
              <a:rPr lang="en-US" sz="2000" dirty="0">
                <a:solidFill>
                  <a:srgbClr val="FFE600"/>
                </a:solidFill>
                <a:latin typeface="Bungee" pitchFamily="34" charset="0"/>
                <a:ea typeface="Bungee" pitchFamily="34" charset="-122"/>
                <a:cs typeface="Bungee" pitchFamily="34" charset="-120"/>
              </a:rPr>
              <a:t>2</a:t>
            </a:r>
            <a:endParaRPr lang="en-US" sz="2000" dirty="0"/>
          </a:p>
        </p:txBody>
      </p:sp>
      <p:sp>
        <p:nvSpPr>
          <p:cNvPr id="7" name="Text 5"/>
          <p:cNvSpPr/>
          <p:nvPr/>
        </p:nvSpPr>
        <p:spPr>
          <a:xfrm>
            <a:off x="1422400" y="2463701"/>
            <a:ext cx="4604512" cy="539750"/>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FFF8E7"/>
                </a:solidFill>
                <a:latin typeface="Geist" pitchFamily="34" charset="0"/>
                <a:ea typeface="Geist" pitchFamily="34" charset="-122"/>
                <a:cs typeface="Geist" pitchFamily="34" charset="-120"/>
              </a:rPr>
              <a:t>Extreme Awesomeness: the strobe and the 3D Pipes</a:t>
            </a:r>
            <a:endParaRPr lang="en-US" sz="1500" dirty="0"/>
          </a:p>
        </p:txBody>
      </p:sp>
      <p:sp>
        <p:nvSpPr>
          <p:cNvPr id="8" name="Text 6"/>
          <p:cNvSpPr/>
          <p:nvPr/>
        </p:nvSpPr>
        <p:spPr>
          <a:xfrm>
            <a:off x="812800" y="3155851"/>
            <a:ext cx="508000" cy="381000"/>
          </a:xfrm>
          <a:prstGeom prst="rect">
            <a:avLst/>
          </a:prstGeom>
          <a:noFill/>
          <a:ln/>
        </p:spPr>
        <p:txBody>
          <a:bodyPr wrap="square" lIns="0" tIns="0" rIns="0" bIns="0" rtlCol="0" anchor="t">
            <a:normAutofit/>
          </a:bodyPr>
          <a:lstStyle/>
          <a:p>
            <a:pPr algn="l" indent="0" marL="0">
              <a:lnSpc>
                <a:spcPts val="2800"/>
              </a:lnSpc>
              <a:buNone/>
            </a:pPr>
            <a:r>
              <a:rPr lang="en-US" sz="2000" dirty="0">
                <a:solidFill>
                  <a:srgbClr val="00E5FF"/>
                </a:solidFill>
                <a:latin typeface="Bungee" pitchFamily="34" charset="0"/>
                <a:ea typeface="Bungee" pitchFamily="34" charset="-122"/>
                <a:cs typeface="Bungee" pitchFamily="34" charset="-120"/>
              </a:rPr>
              <a:t>3</a:t>
            </a:r>
            <a:endParaRPr lang="en-US" sz="2000" dirty="0"/>
          </a:p>
        </p:txBody>
      </p:sp>
      <p:sp>
        <p:nvSpPr>
          <p:cNvPr id="9" name="Text 7"/>
          <p:cNvSpPr/>
          <p:nvPr/>
        </p:nvSpPr>
        <p:spPr>
          <a:xfrm>
            <a:off x="1422400" y="3232051"/>
            <a:ext cx="3557707" cy="282575"/>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FFF8E7"/>
                </a:solidFill>
                <a:latin typeface="Geist" pitchFamily="34" charset="0"/>
                <a:ea typeface="Geist" pitchFamily="34" charset="-122"/>
                <a:cs typeface="Geist" pitchFamily="34" charset="-120"/>
              </a:rPr>
              <a:t>Try to buy Beige Regret. You can’t.</a:t>
            </a:r>
            <a:endParaRPr lang="en-US" sz="1500" dirty="0"/>
          </a:p>
        </p:txBody>
      </p:sp>
      <p:sp>
        <p:nvSpPr>
          <p:cNvPr id="10" name="Text 8"/>
          <p:cNvSpPr/>
          <p:nvPr/>
        </p:nvSpPr>
        <p:spPr>
          <a:xfrm>
            <a:off x="812800" y="3689251"/>
            <a:ext cx="508000" cy="381000"/>
          </a:xfrm>
          <a:prstGeom prst="rect">
            <a:avLst/>
          </a:prstGeom>
          <a:noFill/>
          <a:ln/>
        </p:spPr>
        <p:txBody>
          <a:bodyPr wrap="square" lIns="0" tIns="0" rIns="0" bIns="0" rtlCol="0" anchor="t">
            <a:normAutofit/>
          </a:bodyPr>
          <a:lstStyle/>
          <a:p>
            <a:pPr algn="l" indent="0" marL="0">
              <a:lnSpc>
                <a:spcPts val="2800"/>
              </a:lnSpc>
              <a:buNone/>
            </a:pPr>
            <a:r>
              <a:rPr lang="en-US" sz="2000" dirty="0">
                <a:solidFill>
                  <a:srgbClr val="B6FF00"/>
                </a:solidFill>
                <a:latin typeface="Bungee" pitchFamily="34" charset="0"/>
                <a:ea typeface="Bungee" pitchFamily="34" charset="-122"/>
                <a:cs typeface="Bungee" pitchFamily="34" charset="-120"/>
              </a:rPr>
              <a:t>4</a:t>
            </a:r>
            <a:endParaRPr lang="en-US" sz="2000" dirty="0"/>
          </a:p>
        </p:txBody>
      </p:sp>
      <p:sp>
        <p:nvSpPr>
          <p:cNvPr id="11" name="Text 9"/>
          <p:cNvSpPr/>
          <p:nvPr/>
        </p:nvSpPr>
        <p:spPr>
          <a:xfrm>
            <a:off x="1422400" y="3765451"/>
            <a:ext cx="4604512" cy="539750"/>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FFF8E7"/>
                </a:solidFill>
                <a:latin typeface="Geist" pitchFamily="34" charset="0"/>
                <a:ea typeface="Geist" pitchFamily="34" charset="-122"/>
                <a:cs typeface="Geist" pitchFamily="34" charset="-120"/>
              </a:rPr>
              <a:t>A real shirt: “Only 1 left!”, the resetting countdown, Gary</a:t>
            </a:r>
            <a:endParaRPr lang="en-US" sz="1500" dirty="0"/>
          </a:p>
        </p:txBody>
      </p:sp>
      <p:sp>
        <p:nvSpPr>
          <p:cNvPr id="12" name="Text 10"/>
          <p:cNvSpPr/>
          <p:nvPr/>
        </p:nvSpPr>
        <p:spPr>
          <a:xfrm>
            <a:off x="812800" y="4457601"/>
            <a:ext cx="508000" cy="381000"/>
          </a:xfrm>
          <a:prstGeom prst="rect">
            <a:avLst/>
          </a:prstGeom>
          <a:noFill/>
          <a:ln/>
        </p:spPr>
        <p:txBody>
          <a:bodyPr wrap="square" lIns="0" tIns="0" rIns="0" bIns="0" rtlCol="0" anchor="t">
            <a:normAutofit/>
          </a:bodyPr>
          <a:lstStyle/>
          <a:p>
            <a:pPr algn="l" indent="0" marL="0">
              <a:lnSpc>
                <a:spcPts val="2800"/>
              </a:lnSpc>
              <a:buNone/>
            </a:pPr>
            <a:r>
              <a:rPr lang="en-US" sz="2000" dirty="0">
                <a:solidFill>
                  <a:srgbClr val="FF2D95"/>
                </a:solidFill>
                <a:latin typeface="Bungee" pitchFamily="34" charset="0"/>
                <a:ea typeface="Bungee" pitchFamily="34" charset="-122"/>
                <a:cs typeface="Bungee" pitchFamily="34" charset="-120"/>
              </a:rPr>
              <a:t>5</a:t>
            </a:r>
            <a:endParaRPr lang="en-US" sz="2000" dirty="0"/>
          </a:p>
        </p:txBody>
      </p:sp>
      <p:sp>
        <p:nvSpPr>
          <p:cNvPr id="13" name="Text 11"/>
          <p:cNvSpPr/>
          <p:nvPr/>
        </p:nvSpPr>
        <p:spPr>
          <a:xfrm>
            <a:off x="1422400" y="4533801"/>
            <a:ext cx="4846320" cy="282575"/>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FFF8E7"/>
                </a:solidFill>
                <a:latin typeface="Geist" pitchFamily="34" charset="0"/>
                <a:ea typeface="Geist" pitchFamily="34" charset="-122"/>
                <a:cs typeface="Geist" pitchFamily="34" charset="-120"/>
              </a:rPr>
              <a:t>Cart: “Are you sure?” then “Are you sure sure?”</a:t>
            </a:r>
            <a:endParaRPr lang="en-US" sz="1500" dirty="0"/>
          </a:p>
        </p:txBody>
      </p:sp>
      <p:sp>
        <p:nvSpPr>
          <p:cNvPr id="14" name="Text 12"/>
          <p:cNvSpPr/>
          <p:nvPr/>
        </p:nvSpPr>
        <p:spPr>
          <a:xfrm>
            <a:off x="6299200" y="1854101"/>
            <a:ext cx="508000" cy="381000"/>
          </a:xfrm>
          <a:prstGeom prst="rect">
            <a:avLst/>
          </a:prstGeom>
          <a:noFill/>
          <a:ln/>
        </p:spPr>
        <p:txBody>
          <a:bodyPr wrap="square" lIns="0" tIns="0" rIns="0" bIns="0" rtlCol="0" anchor="t">
            <a:normAutofit/>
          </a:bodyPr>
          <a:lstStyle/>
          <a:p>
            <a:pPr algn="l" indent="0" marL="0">
              <a:lnSpc>
                <a:spcPts val="2800"/>
              </a:lnSpc>
              <a:buNone/>
            </a:pPr>
            <a:r>
              <a:rPr lang="en-US" sz="2000" dirty="0">
                <a:solidFill>
                  <a:srgbClr val="FFE600"/>
                </a:solidFill>
                <a:latin typeface="Bungee" pitchFamily="34" charset="0"/>
                <a:ea typeface="Bungee" pitchFamily="34" charset="-122"/>
                <a:cs typeface="Bungee" pitchFamily="34" charset="-120"/>
              </a:rPr>
              <a:t>6</a:t>
            </a:r>
            <a:endParaRPr lang="en-US" sz="2000" dirty="0"/>
          </a:p>
        </p:txBody>
      </p:sp>
      <p:sp>
        <p:nvSpPr>
          <p:cNvPr id="15" name="Text 13"/>
          <p:cNvSpPr/>
          <p:nvPr/>
        </p:nvSpPr>
        <p:spPr>
          <a:xfrm>
            <a:off x="6908800" y="1930301"/>
            <a:ext cx="5220653" cy="282575"/>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FFF8E7"/>
                </a:solidFill>
                <a:latin typeface="Geist" pitchFamily="34" charset="0"/>
                <a:ea typeface="Geist" pitchFamily="34" charset="-122"/>
                <a:cs typeface="Geist" pitchFamily="34" charset="-120"/>
              </a:rPr>
              <a:t>Sign up: the nosy form (nothing is even submitted)</a:t>
            </a:r>
            <a:endParaRPr lang="en-US" sz="1500" dirty="0"/>
          </a:p>
        </p:txBody>
      </p:sp>
      <p:sp>
        <p:nvSpPr>
          <p:cNvPr id="16" name="Text 14"/>
          <p:cNvSpPr/>
          <p:nvPr/>
        </p:nvSpPr>
        <p:spPr>
          <a:xfrm>
            <a:off x="6299200" y="2387501"/>
            <a:ext cx="508000" cy="381000"/>
          </a:xfrm>
          <a:prstGeom prst="rect">
            <a:avLst/>
          </a:prstGeom>
          <a:noFill/>
          <a:ln/>
        </p:spPr>
        <p:txBody>
          <a:bodyPr wrap="square" lIns="0" tIns="0" rIns="0" bIns="0" rtlCol="0" anchor="t">
            <a:normAutofit/>
          </a:bodyPr>
          <a:lstStyle/>
          <a:p>
            <a:pPr algn="l" indent="0" marL="0">
              <a:lnSpc>
                <a:spcPts val="2800"/>
              </a:lnSpc>
              <a:buNone/>
            </a:pPr>
            <a:r>
              <a:rPr lang="en-US" sz="2000" dirty="0">
                <a:solidFill>
                  <a:srgbClr val="00E5FF"/>
                </a:solidFill>
                <a:latin typeface="Bungee" pitchFamily="34" charset="0"/>
                <a:ea typeface="Bungee" pitchFamily="34" charset="-122"/>
                <a:cs typeface="Bungee" pitchFamily="34" charset="-120"/>
              </a:rPr>
              <a:t>7</a:t>
            </a:r>
            <a:endParaRPr lang="en-US" sz="2000" dirty="0"/>
          </a:p>
        </p:txBody>
      </p:sp>
      <p:sp>
        <p:nvSpPr>
          <p:cNvPr id="17" name="Text 15"/>
          <p:cNvSpPr/>
          <p:nvPr/>
        </p:nvSpPr>
        <p:spPr>
          <a:xfrm>
            <a:off x="6908800" y="2463701"/>
            <a:ext cx="5182195" cy="282575"/>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FFF8E7"/>
                </a:solidFill>
                <a:latin typeface="Geist" pitchFamily="34" charset="0"/>
                <a:ea typeface="Geist" pitchFamily="34" charset="-122"/>
                <a:cs typeface="Geist" pitchFamily="34" charset="-120"/>
              </a:rPr>
              <a:t>Drain the per diem and the College Fund: “GONE.”</a:t>
            </a:r>
            <a:endParaRPr lang="en-US" sz="1500" dirty="0"/>
          </a:p>
        </p:txBody>
      </p:sp>
      <p:sp>
        <p:nvSpPr>
          <p:cNvPr id="18" name="Text 16"/>
          <p:cNvSpPr/>
          <p:nvPr/>
        </p:nvSpPr>
        <p:spPr>
          <a:xfrm>
            <a:off x="6299200" y="2920901"/>
            <a:ext cx="508000" cy="381000"/>
          </a:xfrm>
          <a:prstGeom prst="rect">
            <a:avLst/>
          </a:prstGeom>
          <a:noFill/>
          <a:ln/>
        </p:spPr>
        <p:txBody>
          <a:bodyPr wrap="square" lIns="0" tIns="0" rIns="0" bIns="0" rtlCol="0" anchor="t">
            <a:normAutofit/>
          </a:bodyPr>
          <a:lstStyle/>
          <a:p>
            <a:pPr algn="l" indent="0" marL="0">
              <a:lnSpc>
                <a:spcPts val="2800"/>
              </a:lnSpc>
              <a:buNone/>
            </a:pPr>
            <a:r>
              <a:rPr lang="en-US" sz="2000" dirty="0">
                <a:solidFill>
                  <a:srgbClr val="B6FF00"/>
                </a:solidFill>
                <a:latin typeface="Bungee" pitchFamily="34" charset="0"/>
                <a:ea typeface="Bungee" pitchFamily="34" charset="-122"/>
                <a:cs typeface="Bungee" pitchFamily="34" charset="-120"/>
              </a:rPr>
              <a:t>8</a:t>
            </a:r>
            <a:endParaRPr lang="en-US" sz="2000" dirty="0"/>
          </a:p>
        </p:txBody>
      </p:sp>
      <p:sp>
        <p:nvSpPr>
          <p:cNvPr id="19" name="Text 17"/>
          <p:cNvSpPr/>
          <p:nvPr/>
        </p:nvSpPr>
        <p:spPr>
          <a:xfrm>
            <a:off x="6908800" y="2997101"/>
            <a:ext cx="4817983" cy="282575"/>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FFF8E7"/>
                </a:solidFill>
                <a:latin typeface="Geist" pitchFamily="34" charset="0"/>
                <a:ea typeface="Geist" pitchFamily="34" charset="-122"/>
                <a:cs typeface="Geist" pitchFamily="34" charset="-120"/>
              </a:rPr>
              <a:t>The dial: Make it mine, “never mass-produced”</a:t>
            </a:r>
            <a:endParaRPr lang="en-US" sz="1500" dirty="0"/>
          </a:p>
        </p:txBody>
      </p:sp>
      <p:sp>
        <p:nvSpPr>
          <p:cNvPr id="20" name="Text 18"/>
          <p:cNvSpPr/>
          <p:nvPr/>
        </p:nvSpPr>
        <p:spPr>
          <a:xfrm>
            <a:off x="6299200" y="3454301"/>
            <a:ext cx="508000" cy="381000"/>
          </a:xfrm>
          <a:prstGeom prst="rect">
            <a:avLst/>
          </a:prstGeom>
          <a:noFill/>
          <a:ln/>
        </p:spPr>
        <p:txBody>
          <a:bodyPr wrap="square" lIns="0" tIns="0" rIns="0" bIns="0" rtlCol="0" anchor="t">
            <a:normAutofit/>
          </a:bodyPr>
          <a:lstStyle/>
          <a:p>
            <a:pPr algn="l" indent="0" marL="0">
              <a:lnSpc>
                <a:spcPts val="2800"/>
              </a:lnSpc>
              <a:buNone/>
            </a:pPr>
            <a:r>
              <a:rPr lang="en-US" sz="2000" dirty="0">
                <a:solidFill>
                  <a:srgbClr val="FF2D95"/>
                </a:solidFill>
                <a:latin typeface="Bungee" pitchFamily="34" charset="0"/>
                <a:ea typeface="Bungee" pitchFamily="34" charset="-122"/>
                <a:cs typeface="Bungee" pitchFamily="34" charset="-120"/>
              </a:rPr>
              <a:t>9</a:t>
            </a:r>
            <a:endParaRPr lang="en-US" sz="2000" dirty="0"/>
          </a:p>
        </p:txBody>
      </p:sp>
      <p:sp>
        <p:nvSpPr>
          <p:cNvPr id="21" name="Text 19"/>
          <p:cNvSpPr/>
          <p:nvPr/>
        </p:nvSpPr>
        <p:spPr>
          <a:xfrm>
            <a:off x="6908800" y="3530501"/>
            <a:ext cx="5147905" cy="282575"/>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FFF8E7"/>
                </a:solidFill>
                <a:latin typeface="Geist" pitchFamily="34" charset="0"/>
                <a:ea typeface="Geist" pitchFamily="34" charset="-122"/>
                <a:cs typeface="Geist" pitchFamily="34" charset="-120"/>
              </a:rPr>
              <a:t>PSSB: ask for a discount, and where your order is</a:t>
            </a:r>
            <a:endParaRPr lang="en-US" sz="1500" dirty="0"/>
          </a:p>
        </p:txBody>
      </p:sp>
      <p:sp>
        <p:nvSpPr>
          <p:cNvPr id="22" name="Text 20"/>
          <p:cNvSpPr/>
          <p:nvPr/>
        </p:nvSpPr>
        <p:spPr>
          <a:xfrm>
            <a:off x="6299200" y="3987701"/>
            <a:ext cx="508000" cy="381000"/>
          </a:xfrm>
          <a:prstGeom prst="rect">
            <a:avLst/>
          </a:prstGeom>
          <a:noFill/>
          <a:ln/>
        </p:spPr>
        <p:txBody>
          <a:bodyPr wrap="square" lIns="0" tIns="0" rIns="0" bIns="0" rtlCol="0" anchor="t">
            <a:normAutofit/>
          </a:bodyPr>
          <a:lstStyle/>
          <a:p>
            <a:pPr algn="l" indent="0" marL="0">
              <a:lnSpc>
                <a:spcPts val="2800"/>
              </a:lnSpc>
              <a:buNone/>
            </a:pPr>
            <a:r>
              <a:rPr lang="en-US" sz="2000" dirty="0">
                <a:solidFill>
                  <a:srgbClr val="FFE600"/>
                </a:solidFill>
                <a:latin typeface="Bungee" pitchFamily="34" charset="0"/>
                <a:ea typeface="Bungee" pitchFamily="34" charset="-122"/>
                <a:cs typeface="Bungee" pitchFamily="34" charset="-120"/>
              </a:rPr>
              <a:t>10</a:t>
            </a:r>
            <a:endParaRPr lang="en-US" sz="2000" dirty="0"/>
          </a:p>
        </p:txBody>
      </p:sp>
      <p:sp>
        <p:nvSpPr>
          <p:cNvPr id="23" name="Text 21"/>
          <p:cNvSpPr/>
          <p:nvPr/>
        </p:nvSpPr>
        <p:spPr>
          <a:xfrm>
            <a:off x="6908800" y="4063901"/>
            <a:ext cx="5149096" cy="282575"/>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FFF8E7"/>
                </a:solidFill>
                <a:latin typeface="Geist" pitchFamily="34" charset="0"/>
                <a:ea typeface="Geist" pitchFamily="34" charset="-122"/>
                <a:cs typeface="Geist" pitchFamily="34" charset="-120"/>
              </a:rPr>
              <a:t>Dan’s Office: calm. Then mass-produce it anyway.</a:t>
            </a:r>
            <a:endParaRPr lang="en-US" sz="1500" dirty="0"/>
          </a:p>
        </p:txBody>
      </p:sp>
      <p:sp>
        <p:nvSpPr>
          <p:cNvPr id="24" name="Text 22"/>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A99F8C"/>
                </a:solidFill>
                <a:latin typeface="Geist" pitchFamily="34" charset="0"/>
                <a:ea typeface="Geist" pitchFamily="34" charset="-122"/>
                <a:cs typeface="Geist" pitchFamily="34" charset="-120"/>
              </a:rPr>
              <a:t>DAN FLASHES × SPEC KIT</a:t>
            </a:r>
            <a:endParaRPr lang="en-US" sz="1200" dirty="0"/>
          </a:p>
        </p:txBody>
      </p:sp>
      <p:sp>
        <p:nvSpPr>
          <p:cNvPr id="25" name="Text 23"/>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A99F8C"/>
                </a:solidFill>
                <a:latin typeface="Geist" pitchFamily="34" charset="0"/>
                <a:ea typeface="Geist" pitchFamily="34" charset="-122"/>
                <a:cs typeface="Geist" pitchFamily="34" charset="-120"/>
              </a:rPr>
              <a:t>05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8E7"/>
        </a:solidFill>
      </p:bgPr>
    </p:bg>
    <p:spTree>
      <p:nvGrpSpPr>
        <p:cNvPr id="1" name=""/>
        <p:cNvGrpSpPr/>
        <p:nvPr/>
      </p:nvGrpSpPr>
      <p:grpSpPr>
        <a:xfrm>
          <a:off x="0" y="0"/>
          <a:ext cx="0" cy="0"/>
          <a:chOff x="0" y="0"/>
          <a:chExt cx="0" cy="0"/>
        </a:xfrm>
      </p:grpSpPr>
      <p:sp>
        <p:nvSpPr>
          <p:cNvPr id="2" name="Shape 0"/>
          <p:cNvSpPr/>
          <p:nvPr/>
        </p:nvSpPr>
        <p:spPr>
          <a:xfrm>
            <a:off x="0" y="0"/>
            <a:ext cx="12192000" cy="127000"/>
          </a:xfrm>
          <a:prstGeom prst="rect">
            <a:avLst/>
          </a:prstGeom>
          <a:gradFill rotWithShape="1">
            <a:gsLst>
              <a:gs pos="0">
                <a:srgbClr val="FF2D95"/>
              </a:gs>
              <a:gs pos="25000">
                <a:srgbClr val="FF2D95"/>
              </a:gs>
              <a:gs pos="25000">
                <a:srgbClr val="FFE600"/>
              </a:gs>
              <a:gs pos="50000">
                <a:srgbClr val="FFE600"/>
              </a:gs>
              <a:gs pos="50000">
                <a:srgbClr val="00E5FF"/>
              </a:gs>
              <a:gs pos="75000">
                <a:srgbClr val="00E5FF"/>
              </a:gs>
              <a:gs pos="75000">
                <a:srgbClr val="B6FF00"/>
              </a:gs>
              <a:gs pos="100000">
                <a:srgbClr val="B6FF00"/>
              </a:gs>
            </a:gsLst>
            <a:lin ang="2700000" scaled="0"/>
          </a:gradFill>
          <a:ln/>
        </p:spPr>
      </p:sp>
      <p:sp>
        <p:nvSpPr>
          <p:cNvPr id="3" name="Text 1"/>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7A00FF"/>
                </a:solidFill>
                <a:latin typeface="Geist" pitchFamily="34" charset="0"/>
                <a:ea typeface="Geist" pitchFamily="34" charset="-122"/>
                <a:cs typeface="Geist" pitchFamily="34" charset="-120"/>
              </a:rPr>
              <a:t>HOW SPEC KIT WORKS</a:t>
            </a:r>
            <a:endParaRPr lang="en-US" sz="1200" dirty="0"/>
          </a:p>
        </p:txBody>
      </p:sp>
      <p:sp>
        <p:nvSpPr>
          <p:cNvPr id="4" name="Text 2"/>
          <p:cNvSpPr/>
          <p:nvPr>
            <p:ph type="title"/>
          </p:nvPr>
        </p:nvSpPr>
        <p:spPr>
          <a:xfrm>
            <a:off x="812800" y="11023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0" i="0" dirty="0">
                <a:solidFill>
                  <a:srgbClr val="111111"/>
                </a:solidFill>
                <a:latin typeface="Bungee" pitchFamily="34" charset="0"/>
                <a:ea typeface="Bungee" pitchFamily="34" charset="-122"/>
                <a:cs typeface="Bungee" pitchFamily="34" charset="-120"/>
              </a:rPr>
              <a:t>Prompt and pray vs. spec first</a:t>
            </a:r>
            <a:endParaRPr lang="en-US" sz="3200" dirty="0"/>
          </a:p>
        </p:txBody>
      </p:sp>
      <p:sp>
        <p:nvSpPr>
          <p:cNvPr id="5" name="Shape 3"/>
          <p:cNvSpPr/>
          <p:nvPr/>
        </p:nvSpPr>
        <p:spPr>
          <a:xfrm>
            <a:off x="825500" y="1866801"/>
            <a:ext cx="5105400" cy="2641600"/>
          </a:xfrm>
          <a:prstGeom prst="rect">
            <a:avLst/>
          </a:prstGeom>
          <a:solidFill>
            <a:srgbClr val="EFE6D2"/>
          </a:solidFill>
          <a:ln w="25400">
            <a:solidFill>
              <a:srgbClr val="111111"/>
            </a:solidFill>
            <a:prstDash val="solid"/>
          </a:ln>
        </p:spPr>
      </p:sp>
      <p:sp>
        <p:nvSpPr>
          <p:cNvPr id="6" name="Text 4"/>
          <p:cNvSpPr/>
          <p:nvPr/>
        </p:nvSpPr>
        <p:spPr>
          <a:xfrm>
            <a:off x="1117600" y="2158901"/>
            <a:ext cx="4656836"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5A5346"/>
                </a:solidFill>
                <a:latin typeface="Geist" pitchFamily="34" charset="0"/>
                <a:ea typeface="Geist" pitchFamily="34" charset="-122"/>
                <a:cs typeface="Geist" pitchFamily="34" charset="-120"/>
              </a:rPr>
              <a:t>Prompt and pray</a:t>
            </a:r>
            <a:endParaRPr lang="en-US" sz="2000" dirty="0"/>
          </a:p>
        </p:txBody>
      </p:sp>
      <p:sp>
        <p:nvSpPr>
          <p:cNvPr id="7" name="Text 5"/>
          <p:cNvSpPr/>
          <p:nvPr/>
        </p:nvSpPr>
        <p:spPr>
          <a:xfrm>
            <a:off x="1188720" y="2616101"/>
            <a:ext cx="4578096" cy="1358900"/>
          </a:xfrm>
          <a:prstGeom prst="rect">
            <a:avLst/>
          </a:prstGeom>
          <a:noFill/>
          <a:ln/>
        </p:spPr>
        <p:txBody>
          <a:bodyPr wrap="square" lIns="0" tIns="0" rIns="0" bIns="0" rtlCol="0" anchor="t">
            <a:normAutofit/>
          </a:bodyPr>
          <a:lstStyle/>
          <a:p>
            <a:pPr algn="l" marL="182880" indent="-182880">
              <a:lnSpc>
                <a:spcPts val="2100"/>
              </a:lnSpc>
              <a:buSzPct val="100000"/>
              <a:buChar char="•"/>
            </a:pPr>
            <a:r>
              <a:rPr lang="en-US" sz="1500" dirty="0">
                <a:solidFill>
                  <a:srgbClr val="3D382F"/>
                </a:solidFill>
                <a:latin typeface="Geist" pitchFamily="34" charset="0"/>
                <a:ea typeface="Geist" pitchFamily="34" charset="-122"/>
                <a:cs typeface="Geist" pitchFamily="34" charset="-120"/>
              </a:rPr>
              <a:t>Decisions live in chat scrollback</a:t>
            </a:r>
            <a:endParaRPr lang="en-US" sz="1500" dirty="0"/>
          </a:p>
          <a:p>
            <a:pPr algn="l" marL="182880" indent="-182880">
              <a:lnSpc>
                <a:spcPts val="2100"/>
              </a:lnSpc>
              <a:buSzPct val="100000"/>
              <a:buChar char="•"/>
            </a:pPr>
            <a:r>
              <a:rPr lang="en-US" sz="1500" dirty="0">
                <a:solidFill>
                  <a:srgbClr val="3D382F"/>
                </a:solidFill>
                <a:latin typeface="Geist" pitchFamily="34" charset="0"/>
                <a:ea typeface="Geist" pitchFamily="34" charset="-122"/>
                <a:cs typeface="Geist" pitchFamily="34" charset="-120"/>
              </a:rPr>
              <a:t>Every prompt re-explains the app</a:t>
            </a:r>
            <a:endParaRPr lang="en-US" sz="1500" dirty="0"/>
          </a:p>
          <a:p>
            <a:pPr algn="l" marL="182880" indent="-182880">
              <a:lnSpc>
                <a:spcPts val="2100"/>
              </a:lnSpc>
              <a:buSzPct val="100000"/>
              <a:buChar char="•"/>
            </a:pPr>
            <a:r>
              <a:rPr lang="en-US" sz="1500" dirty="0">
                <a:solidFill>
                  <a:srgbClr val="3D382F"/>
                </a:solidFill>
                <a:latin typeface="Geist" pitchFamily="34" charset="0"/>
                <a:ea typeface="Geist" pitchFamily="34" charset="-122"/>
                <a:cs typeface="Geist" pitchFamily="34" charset="-120"/>
              </a:rPr>
              <a:t>“Done” means the AI says it’s done</a:t>
            </a:r>
            <a:endParaRPr lang="en-US" sz="1500" dirty="0"/>
          </a:p>
          <a:p>
            <a:pPr algn="l" marL="182880" indent="-182880">
              <a:lnSpc>
                <a:spcPts val="2100"/>
              </a:lnSpc>
              <a:buSzPct val="100000"/>
              <a:buChar char="•"/>
            </a:pPr>
            <a:r>
              <a:rPr lang="en-US" sz="1500" dirty="0">
                <a:solidFill>
                  <a:srgbClr val="3D382F"/>
                </a:solidFill>
                <a:latin typeface="Geist" pitchFamily="34" charset="0"/>
                <a:ea typeface="Geist" pitchFamily="34" charset="-122"/>
                <a:cs typeface="Geist" pitchFamily="34" charset="-120"/>
              </a:rPr>
              <a:t>A change ripples where nobody looks</a:t>
            </a:r>
            <a:endParaRPr lang="en-US" sz="1500" dirty="0"/>
          </a:p>
          <a:p>
            <a:pPr algn="l" marL="182880" indent="-182880">
              <a:lnSpc>
                <a:spcPts val="2100"/>
              </a:lnSpc>
              <a:buSzPct val="100000"/>
              <a:buChar char="•"/>
            </a:pPr>
            <a:r>
              <a:rPr lang="en-US" sz="1500" dirty="0">
                <a:solidFill>
                  <a:srgbClr val="3D382F"/>
                </a:solidFill>
                <a:latin typeface="Geist" pitchFamily="34" charset="0"/>
                <a:ea typeface="Geist" pitchFamily="34" charset="-122"/>
                <a:cs typeface="Geist" pitchFamily="34" charset="-120"/>
              </a:rPr>
              <a:t>History is whatever you remember</a:t>
            </a:r>
            <a:endParaRPr lang="en-US" sz="1500" dirty="0"/>
          </a:p>
        </p:txBody>
      </p:sp>
      <p:sp>
        <p:nvSpPr>
          <p:cNvPr id="8" name="Shape 6"/>
          <p:cNvSpPr/>
          <p:nvPr/>
        </p:nvSpPr>
        <p:spPr>
          <a:xfrm>
            <a:off x="6261100" y="1866801"/>
            <a:ext cx="5105400" cy="2641600"/>
          </a:xfrm>
          <a:prstGeom prst="rect">
            <a:avLst/>
          </a:prstGeom>
          <a:solidFill>
            <a:srgbClr val="FFE600"/>
          </a:solidFill>
          <a:ln w="25400">
            <a:solidFill>
              <a:srgbClr val="111111"/>
            </a:solidFill>
            <a:prstDash val="solid"/>
          </a:ln>
          <a:effectLst>
            <a:outerShdw sx="100000" sy="100000" kx="0" ky="0" algn="bl" rotWithShape="0" blurRad="0" dist="107763" dir="2700000">
              <a:srgbClr val="111111">
                <a:alpha val="100000"/>
              </a:srgbClr>
            </a:outerShdw>
          </a:effectLst>
        </p:spPr>
      </p:sp>
      <p:sp>
        <p:nvSpPr>
          <p:cNvPr id="9" name="Text 7"/>
          <p:cNvSpPr/>
          <p:nvPr/>
        </p:nvSpPr>
        <p:spPr>
          <a:xfrm>
            <a:off x="6553200" y="2158901"/>
            <a:ext cx="4656836"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11111"/>
                </a:solidFill>
                <a:latin typeface="Geist" pitchFamily="34" charset="0"/>
                <a:ea typeface="Geist" pitchFamily="34" charset="-122"/>
                <a:cs typeface="Geist" pitchFamily="34" charset="-120"/>
              </a:rPr>
              <a:t>Spec Kit</a:t>
            </a:r>
            <a:endParaRPr lang="en-US" sz="2000" dirty="0"/>
          </a:p>
        </p:txBody>
      </p:sp>
      <p:sp>
        <p:nvSpPr>
          <p:cNvPr id="10" name="Text 8"/>
          <p:cNvSpPr/>
          <p:nvPr/>
        </p:nvSpPr>
        <p:spPr>
          <a:xfrm>
            <a:off x="6624320" y="2616101"/>
            <a:ext cx="4578096" cy="1625600"/>
          </a:xfrm>
          <a:prstGeom prst="rect">
            <a:avLst/>
          </a:prstGeom>
          <a:noFill/>
          <a:ln/>
        </p:spPr>
        <p:txBody>
          <a:bodyPr wrap="square" lIns="0" tIns="0" rIns="0" bIns="0" rtlCol="0" anchor="t">
            <a:normAutofit/>
          </a:bodyPr>
          <a:lstStyle/>
          <a:p>
            <a:pPr algn="l" marL="182880" indent="-182880">
              <a:lnSpc>
                <a:spcPts val="2100"/>
              </a:lnSpc>
              <a:buSzPct val="100000"/>
              <a:buChar char="•"/>
            </a:pPr>
            <a:r>
              <a:rPr lang="en-US" sz="1500" dirty="0">
                <a:solidFill>
                  <a:srgbClr val="111111"/>
                </a:solidFill>
                <a:latin typeface="Geist" pitchFamily="34" charset="0"/>
                <a:ea typeface="Geist" pitchFamily="34" charset="-122"/>
                <a:cs typeface="Geist" pitchFamily="34" charset="-120"/>
              </a:rPr>
              <a:t>Decisions written down before code</a:t>
            </a:r>
            <a:endParaRPr lang="en-US" sz="1500" dirty="0"/>
          </a:p>
          <a:p>
            <a:pPr algn="l" marL="182880" indent="-182880">
              <a:lnSpc>
                <a:spcPts val="2100"/>
              </a:lnSpc>
              <a:buSzPct val="100000"/>
              <a:buChar char="•"/>
            </a:pPr>
            <a:r>
              <a:rPr lang="en-US" sz="1500" dirty="0">
                <a:solidFill>
                  <a:srgbClr val="111111"/>
                </a:solidFill>
                <a:latin typeface="Geist" pitchFamily="34" charset="0"/>
                <a:ea typeface="Geist" pitchFamily="34" charset="-122"/>
                <a:cs typeface="Geist" pitchFamily="34" charset="-120"/>
              </a:rPr>
              <a:t>A constitution every plan is checked against</a:t>
            </a:r>
            <a:endParaRPr lang="en-US" sz="1500" dirty="0"/>
          </a:p>
          <a:p>
            <a:pPr algn="l" marL="182880" indent="-182880">
              <a:lnSpc>
                <a:spcPts val="2100"/>
              </a:lnSpc>
              <a:buSzPct val="100000"/>
              <a:buChar char="•"/>
            </a:pPr>
            <a:r>
              <a:rPr lang="en-US" sz="1500" dirty="0">
                <a:solidFill>
                  <a:srgbClr val="111111"/>
                </a:solidFill>
                <a:latin typeface="Geist" pitchFamily="34" charset="0"/>
                <a:ea typeface="Geist" pitchFamily="34" charset="-122"/>
                <a:cs typeface="Geist" pitchFamily="34" charset="-120"/>
              </a:rPr>
              <a:t>Ambiguity forced into multiple-choice questions</a:t>
            </a:r>
            <a:endParaRPr lang="en-US" sz="1500" dirty="0"/>
          </a:p>
          <a:p>
            <a:pPr algn="l" marL="182880" indent="-182880">
              <a:lnSpc>
                <a:spcPts val="2100"/>
              </a:lnSpc>
              <a:buSzPct val="100000"/>
              <a:buChar char="•"/>
            </a:pPr>
            <a:r>
              <a:rPr lang="en-US" sz="1500" dirty="0">
                <a:solidFill>
                  <a:srgbClr val="111111"/>
                </a:solidFill>
                <a:latin typeface="Geist" pitchFamily="34" charset="0"/>
                <a:ea typeface="Geist" pitchFamily="34" charset="-122"/>
                <a:cs typeface="Geist" pitchFamily="34" charset="-120"/>
              </a:rPr>
              <a:t>Numbered tasks: resumable and reviewable</a:t>
            </a:r>
            <a:endParaRPr lang="en-US" sz="1500" dirty="0"/>
          </a:p>
          <a:p>
            <a:pPr algn="l" marL="182880" indent="-182880">
              <a:lnSpc>
                <a:spcPts val="2100"/>
              </a:lnSpc>
              <a:buSzPct val="100000"/>
              <a:buChar char="•"/>
            </a:pPr>
            <a:r>
              <a:rPr lang="en-US" sz="1500" dirty="0">
                <a:solidFill>
                  <a:srgbClr val="111111"/>
                </a:solidFill>
                <a:latin typeface="Geist" pitchFamily="34" charset="0"/>
                <a:ea typeface="Geist" pitchFamily="34" charset="-122"/>
                <a:cs typeface="Geist" pitchFamily="34" charset="-120"/>
              </a:rPr>
              <a:t>Converge checks the code against the spec</a:t>
            </a:r>
            <a:endParaRPr lang="en-US" sz="1500" dirty="0"/>
          </a:p>
          <a:p>
            <a:pPr algn="l" marL="182880" indent="-182880">
              <a:lnSpc>
                <a:spcPts val="2100"/>
              </a:lnSpc>
              <a:buSzPct val="100000"/>
              <a:buChar char="•"/>
            </a:pPr>
            <a:r>
              <a:rPr lang="en-US" sz="1500" dirty="0">
                <a:solidFill>
                  <a:srgbClr val="111111"/>
                </a:solidFill>
                <a:latin typeface="Geist" pitchFamily="34" charset="0"/>
                <a:ea typeface="Geist" pitchFamily="34" charset="-122"/>
                <a:cs typeface="Geist" pitchFamily="34" charset="-120"/>
              </a:rPr>
              <a:t>All of it versioned in git</a:t>
            </a:r>
            <a:endParaRPr lang="en-US" sz="1500" dirty="0"/>
          </a:p>
        </p:txBody>
      </p:sp>
      <p:sp>
        <p:nvSpPr>
          <p:cNvPr id="11" name="Text 9"/>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6B6252"/>
                </a:solidFill>
                <a:latin typeface="Geist" pitchFamily="34" charset="0"/>
                <a:ea typeface="Geist" pitchFamily="34" charset="-122"/>
                <a:cs typeface="Geist" pitchFamily="34" charset="-120"/>
              </a:rPr>
              <a:t>DAN FLASHES × SPEC KIT</a:t>
            </a:r>
            <a:endParaRPr lang="en-US" sz="1200" dirty="0"/>
          </a:p>
        </p:txBody>
      </p:sp>
      <p:sp>
        <p:nvSpPr>
          <p:cNvPr id="12" name="Text 10"/>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6252"/>
                </a:solidFill>
                <a:latin typeface="Geist" pitchFamily="34" charset="0"/>
                <a:ea typeface="Geist" pitchFamily="34" charset="-122"/>
                <a:cs typeface="Geist" pitchFamily="34" charset="-120"/>
              </a:rPr>
              <a:t>06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8E7"/>
        </a:solidFill>
      </p:bgPr>
    </p:bg>
    <p:spTree>
      <p:nvGrpSpPr>
        <p:cNvPr id="1" name=""/>
        <p:cNvGrpSpPr/>
        <p:nvPr/>
      </p:nvGrpSpPr>
      <p:grpSpPr>
        <a:xfrm>
          <a:off x="0" y="0"/>
          <a:ext cx="0" cy="0"/>
          <a:chOff x="0" y="0"/>
          <a:chExt cx="0" cy="0"/>
        </a:xfrm>
      </p:grpSpPr>
      <p:sp>
        <p:nvSpPr>
          <p:cNvPr id="2" name="Shape 0"/>
          <p:cNvSpPr/>
          <p:nvPr/>
        </p:nvSpPr>
        <p:spPr>
          <a:xfrm>
            <a:off x="0" y="0"/>
            <a:ext cx="12192000" cy="127000"/>
          </a:xfrm>
          <a:prstGeom prst="rect">
            <a:avLst/>
          </a:prstGeom>
          <a:gradFill rotWithShape="1">
            <a:gsLst>
              <a:gs pos="0">
                <a:srgbClr val="FF2D95"/>
              </a:gs>
              <a:gs pos="25000">
                <a:srgbClr val="FF2D95"/>
              </a:gs>
              <a:gs pos="25000">
                <a:srgbClr val="FFE600"/>
              </a:gs>
              <a:gs pos="50000">
                <a:srgbClr val="FFE600"/>
              </a:gs>
              <a:gs pos="50000">
                <a:srgbClr val="00E5FF"/>
              </a:gs>
              <a:gs pos="75000">
                <a:srgbClr val="00E5FF"/>
              </a:gs>
              <a:gs pos="75000">
                <a:srgbClr val="B6FF00"/>
              </a:gs>
              <a:gs pos="100000">
                <a:srgbClr val="B6FF00"/>
              </a:gs>
            </a:gsLst>
            <a:lin ang="2700000" scaled="0"/>
          </a:gradFill>
          <a:ln/>
        </p:spPr>
      </p:sp>
      <p:sp>
        <p:nvSpPr>
          <p:cNvPr id="3" name="Text 1"/>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7A00FF"/>
                </a:solidFill>
                <a:latin typeface="Geist" pitchFamily="34" charset="0"/>
                <a:ea typeface="Geist" pitchFamily="34" charset="-122"/>
                <a:cs typeface="Geist" pitchFamily="34" charset="-120"/>
              </a:rPr>
              <a:t>SPECS/012-PUSHY-SALES-BOT/</a:t>
            </a:r>
            <a:endParaRPr lang="en-US" sz="1200" dirty="0"/>
          </a:p>
        </p:txBody>
      </p:sp>
      <p:sp>
        <p:nvSpPr>
          <p:cNvPr id="4" name="Text 2"/>
          <p:cNvSpPr/>
          <p:nvPr>
            <p:ph type="title"/>
          </p:nvPr>
        </p:nvSpPr>
        <p:spPr>
          <a:xfrm>
            <a:off x="812800" y="11023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0" i="0" dirty="0">
                <a:solidFill>
                  <a:srgbClr val="111111"/>
                </a:solidFill>
                <a:latin typeface="Bungee" pitchFamily="34" charset="0"/>
                <a:ea typeface="Bungee" pitchFamily="34" charset="-122"/>
                <a:cs typeface="Bungee" pitchFamily="34" charset="-120"/>
              </a:rPr>
              <a:t>One folder per feature</a:t>
            </a:r>
            <a:endParaRPr lang="en-US" sz="3200" dirty="0"/>
          </a:p>
        </p:txBody>
      </p:sp>
      <p:sp>
        <p:nvSpPr>
          <p:cNvPr id="5" name="Shape 3"/>
          <p:cNvSpPr/>
          <p:nvPr/>
        </p:nvSpPr>
        <p:spPr>
          <a:xfrm>
            <a:off x="812800" y="1752501"/>
            <a:ext cx="10566400" cy="3505398"/>
          </a:xfrm>
          <a:prstGeom prst="rect">
            <a:avLst/>
          </a:prstGeom>
          <a:solidFill>
            <a:srgbClr val="FFFFFF"/>
          </a:solidFill>
          <a:ln/>
        </p:spPr>
      </p:sp>
      <p:sp>
        <p:nvSpPr>
          <p:cNvPr id="6" name="Shape 4"/>
          <p:cNvSpPr/>
          <p:nvPr/>
        </p:nvSpPr>
        <p:spPr>
          <a:xfrm>
            <a:off x="11369675" y="1752501"/>
            <a:ext cx="0" cy="3505398"/>
          </a:xfrm>
          <a:prstGeom prst="line">
            <a:avLst/>
          </a:prstGeom>
          <a:noFill/>
          <a:ln w="19050">
            <a:solidFill>
              <a:srgbClr val="111111"/>
            </a:solidFill>
            <a:prstDash val="solid"/>
          </a:ln>
        </p:spPr>
      </p:sp>
      <p:sp>
        <p:nvSpPr>
          <p:cNvPr id="7" name="Shape 5"/>
          <p:cNvSpPr/>
          <p:nvPr/>
        </p:nvSpPr>
        <p:spPr>
          <a:xfrm>
            <a:off x="812800" y="5248374"/>
            <a:ext cx="10566400" cy="0"/>
          </a:xfrm>
          <a:prstGeom prst="line">
            <a:avLst/>
          </a:prstGeom>
          <a:noFill/>
          <a:ln w="19050">
            <a:solidFill>
              <a:srgbClr val="111111"/>
            </a:solidFill>
            <a:prstDash val="solid"/>
          </a:ln>
        </p:spPr>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825500" y="1765201"/>
          <a:ext cx="10534650" cy="3473648"/>
        </p:xfrm>
        <a:graphic>
          <a:graphicData uri="http://schemas.openxmlformats.org/drawingml/2006/table">
            <a:tbl>
              <a:tblPr/>
              <a:tblGrid>
                <a:gridCol w="3160395"/>
                <a:gridCol w="7374255"/>
              </a:tblGrid>
              <a:tr h="385961">
                <a:tc>
                  <a:txBody>
                    <a:bodyPr/>
                    <a:lstStyle/>
                    <a:p>
                      <a:pPr indent="0" marL="0">
                        <a:lnSpc>
                          <a:spcPts val="1960"/>
                        </a:lnSpc>
                        <a:buNone/>
                      </a:pPr>
                      <a:r>
                        <a:rPr lang="en-US" sz="1400" b="1" dirty="0">
                          <a:solidFill>
                            <a:srgbClr val="FFE600"/>
                          </a:solidFill>
                          <a:latin typeface="Geist" pitchFamily="34" charset="0"/>
                          <a:ea typeface="Geist" pitchFamily="34" charset="-122"/>
                          <a:cs typeface="Geist" pitchFamily="34" charset="-120"/>
                        </a:rPr>
                        <a:t>File</a:t>
                      </a:r>
                      <a:endParaRPr lang="en-US" sz="1400" dirty="0">
                        <a:latin typeface="Geist" charset="0"/>
                        <a:ea typeface="Geist" charset="0"/>
                        <a:cs typeface="Geist"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121211"/>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211"/>
                      </a:solidFill>
                      <a:prstDash val="solid"/>
                      <a:round/>
                      <a:headEnd type="none" w="med" len="med"/>
                      <a:tailEnd type="none" w="med" len="med"/>
                    </a:lnB>
                    <a:solidFill>
                      <a:srgbClr val="111111"/>
                    </a:solidFill>
                  </a:tcPr>
                </a:tc>
                <a:tc>
                  <a:txBody>
                    <a:bodyPr/>
                    <a:lstStyle/>
                    <a:p>
                      <a:pPr indent="0" marL="0">
                        <a:lnSpc>
                          <a:spcPts val="1960"/>
                        </a:lnSpc>
                        <a:buNone/>
                      </a:pPr>
                      <a:r>
                        <a:rPr lang="en-US" sz="1400" b="1" dirty="0">
                          <a:solidFill>
                            <a:srgbClr val="FFE600"/>
                          </a:solidFill>
                          <a:latin typeface="Geist" pitchFamily="34" charset="0"/>
                          <a:ea typeface="Geist" pitchFamily="34" charset="-122"/>
                          <a:cs typeface="Geist" pitchFamily="34" charset="-120"/>
                        </a:rPr>
                        <a:t>What it holds</a:t>
                      </a:r>
                      <a:endParaRPr lang="en-US" sz="1400" dirty="0">
                        <a:latin typeface="Geist" charset="0"/>
                        <a:ea typeface="Geist" charset="0"/>
                        <a:cs typeface="Geist" charset="0"/>
                      </a:endParaRPr>
                    </a:p>
                  </a:txBody>
                  <a:tcPr marL="62230" marR="62230" marT="62230" marB="62230" anchor="t">
                    <a:lnL w="12700" cap="flat" cmpd="sng" algn="ctr">
                      <a:solidFill>
                        <a:srgbClr val="121211"/>
                      </a:solidFill>
                      <a:prstDash val="solid"/>
                      <a:round/>
                      <a:headEnd type="none" w="med" len="med"/>
                      <a:tailEnd type="none" w="med" len="med"/>
                    </a:lnL>
                    <a:lnR w="12700" cap="flat" cmpd="sng" algn="ctr">
                      <a:solidFill>
                        <a:srgbClr val="121211"/>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211"/>
                      </a:solidFill>
                      <a:prstDash val="solid"/>
                      <a:round/>
                      <a:headEnd type="none" w="med" len="med"/>
                      <a:tailEnd type="none" w="med" len="med"/>
                    </a:lnB>
                    <a:solidFill>
                      <a:srgbClr val="111111"/>
                    </a:solidFill>
                  </a:tcPr>
                </a:tc>
              </a:tr>
              <a:tr h="385961">
                <a:tc>
                  <a:txBody>
                    <a:bodyPr/>
                    <a:lstStyle/>
                    <a:p>
                      <a:pPr indent="0" marL="0">
                        <a:lnSpc>
                          <a:spcPts val="1960"/>
                        </a:lnSpc>
                        <a:buNone/>
                      </a:pPr>
                      <a:r>
                        <a:rPr lang="en-US" sz="1400" dirty="0">
                          <a:solidFill>
                            <a:srgbClr val="111111"/>
                          </a:solidFill>
                          <a:latin typeface="Geist" pitchFamily="34" charset="0"/>
                          <a:ea typeface="Geist" pitchFamily="34" charset="-122"/>
                          <a:cs typeface="Geist" pitchFamily="34" charset="-120"/>
                        </a:rPr>
                        <a:t>spec.md</a:t>
                      </a:r>
                      <a:endParaRPr lang="en-US" sz="1400" dirty="0">
                        <a:latin typeface="Geist" charset="0"/>
                        <a:ea typeface="Geist" charset="0"/>
                        <a:cs typeface="Geist"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211"/>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960"/>
                        </a:lnSpc>
                        <a:buNone/>
                      </a:pPr>
                      <a:r>
                        <a:rPr lang="en-US" sz="1400" dirty="0">
                          <a:solidFill>
                            <a:srgbClr val="111111"/>
                          </a:solidFill>
                          <a:latin typeface="Geist" pitchFamily="34" charset="0"/>
                          <a:ea typeface="Geist" pitchFamily="34" charset="-122"/>
                          <a:cs typeface="Geist" pitchFamily="34" charset="-120"/>
                        </a:rPr>
                        <a:t>Stories, requirements, success criteria, a Q&amp;A log. No tech.</a:t>
                      </a:r>
                      <a:endParaRPr lang="en-US" sz="1400" dirty="0">
                        <a:latin typeface="Geist" charset="0"/>
                        <a:ea typeface="Geist" charset="0"/>
                        <a:cs typeface="Geist"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211"/>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85961">
                <a:tc>
                  <a:txBody>
                    <a:bodyPr/>
                    <a:lstStyle/>
                    <a:p>
                      <a:pPr indent="0" marL="0">
                        <a:lnSpc>
                          <a:spcPts val="1960"/>
                        </a:lnSpc>
                        <a:buNone/>
                      </a:pPr>
                      <a:r>
                        <a:rPr lang="en-US" sz="1400" dirty="0">
                          <a:solidFill>
                            <a:srgbClr val="111111"/>
                          </a:solidFill>
                          <a:latin typeface="Geist" pitchFamily="34" charset="0"/>
                          <a:ea typeface="Geist" pitchFamily="34" charset="-122"/>
                          <a:cs typeface="Geist" pitchFamily="34" charset="-120"/>
                        </a:rPr>
                        <a:t>checklists/</a:t>
                      </a:r>
                      <a:endParaRPr lang="en-US" sz="1400" dirty="0">
                        <a:latin typeface="Geist" charset="0"/>
                        <a:ea typeface="Geist" charset="0"/>
                        <a:cs typeface="Geist"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5C0B1"/>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5C0B1"/>
                      </a:solidFill>
                      <a:prstDash val="solid"/>
                      <a:round/>
                      <a:headEnd type="none" w="med" len="med"/>
                      <a:tailEnd type="none" w="med" len="med"/>
                    </a:lnB>
                    <a:solidFill>
                      <a:srgbClr val="F7F0DE"/>
                    </a:solidFill>
                  </a:tcPr>
                </a:tc>
                <a:tc>
                  <a:txBody>
                    <a:bodyPr/>
                    <a:lstStyle/>
                    <a:p>
                      <a:pPr indent="0" marL="0">
                        <a:lnSpc>
                          <a:spcPts val="1960"/>
                        </a:lnSpc>
                        <a:buNone/>
                      </a:pPr>
                      <a:r>
                        <a:rPr lang="en-US" sz="1400" dirty="0">
                          <a:solidFill>
                            <a:srgbClr val="111111"/>
                          </a:solidFill>
                          <a:latin typeface="Geist" pitchFamily="34" charset="0"/>
                          <a:ea typeface="Geist" pitchFamily="34" charset="-122"/>
                          <a:cs typeface="Geist" pitchFamily="34" charset="-120"/>
                        </a:rPr>
                        <a:t>Is the spec itself any good? Testable, measurable, unambiguous</a:t>
                      </a:r>
                      <a:endParaRPr lang="en-US" sz="1400" dirty="0">
                        <a:latin typeface="Geist" charset="0"/>
                        <a:ea typeface="Geist" charset="0"/>
                        <a:cs typeface="Geist" charset="0"/>
                      </a:endParaRPr>
                    </a:p>
                  </a:txBody>
                  <a:tcPr marL="62230" marR="62230" marT="62230" marB="62230" anchor="t">
                    <a:lnL w="12700" cap="flat" cmpd="sng" algn="ctr">
                      <a:solidFill>
                        <a:srgbClr val="C5C0B1"/>
                      </a:solidFill>
                      <a:prstDash val="solid"/>
                      <a:round/>
                      <a:headEnd type="none" w="med" len="med"/>
                      <a:tailEnd type="none" w="med" len="med"/>
                    </a:lnL>
                    <a:lnR w="12700" cap="flat" cmpd="sng" algn="ctr">
                      <a:solidFill>
                        <a:srgbClr val="C5C0B1"/>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5C0B1"/>
                      </a:solidFill>
                      <a:prstDash val="solid"/>
                      <a:round/>
                      <a:headEnd type="none" w="med" len="med"/>
                      <a:tailEnd type="none" w="med" len="med"/>
                    </a:lnB>
                    <a:solidFill>
                      <a:srgbClr val="F7F0DE"/>
                    </a:solidFill>
                  </a:tcPr>
                </a:tc>
              </a:tr>
              <a:tr h="385961">
                <a:tc>
                  <a:txBody>
                    <a:bodyPr/>
                    <a:lstStyle/>
                    <a:p>
                      <a:pPr indent="0" marL="0">
                        <a:lnSpc>
                          <a:spcPts val="1960"/>
                        </a:lnSpc>
                        <a:buNone/>
                      </a:pPr>
                      <a:r>
                        <a:rPr lang="en-US" sz="1400" dirty="0">
                          <a:solidFill>
                            <a:srgbClr val="111111"/>
                          </a:solidFill>
                          <a:latin typeface="Geist" pitchFamily="34" charset="0"/>
                          <a:ea typeface="Geist" pitchFamily="34" charset="-122"/>
                          <a:cs typeface="Geist" pitchFamily="34" charset="-120"/>
                        </a:rPr>
                        <a:t>plan.md</a:t>
                      </a:r>
                      <a:endParaRPr lang="en-US" sz="1400" dirty="0">
                        <a:latin typeface="Geist" charset="0"/>
                        <a:ea typeface="Geist" charset="0"/>
                        <a:cs typeface="Geist"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5C0B1"/>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960"/>
                        </a:lnSpc>
                        <a:buNone/>
                      </a:pPr>
                      <a:r>
                        <a:rPr lang="en-US" sz="1400" dirty="0">
                          <a:solidFill>
                            <a:srgbClr val="111111"/>
                          </a:solidFill>
                          <a:latin typeface="Geist" pitchFamily="34" charset="0"/>
                          <a:ea typeface="Geist" pitchFamily="34" charset="-122"/>
                          <a:cs typeface="Geist" pitchFamily="34" charset="-120"/>
                        </a:rPr>
                        <a:t>Stack, structure, and the constitution check gate</a:t>
                      </a:r>
                      <a:endParaRPr lang="en-US" sz="1400" dirty="0">
                        <a:latin typeface="Geist" charset="0"/>
                        <a:ea typeface="Geist" charset="0"/>
                        <a:cs typeface="Geist"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5C0B1"/>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85961">
                <a:tc>
                  <a:txBody>
                    <a:bodyPr/>
                    <a:lstStyle/>
                    <a:p>
                      <a:pPr indent="0" marL="0">
                        <a:lnSpc>
                          <a:spcPts val="1960"/>
                        </a:lnSpc>
                        <a:buNone/>
                      </a:pPr>
                      <a:r>
                        <a:rPr lang="en-US" sz="1400" dirty="0">
                          <a:solidFill>
                            <a:srgbClr val="111111"/>
                          </a:solidFill>
                          <a:latin typeface="Geist" pitchFamily="34" charset="0"/>
                          <a:ea typeface="Geist" pitchFamily="34" charset="-122"/>
                          <a:cs typeface="Geist" pitchFamily="34" charset="-120"/>
                        </a:rPr>
                        <a:t>research.md</a:t>
                      </a:r>
                      <a:endParaRPr lang="en-US" sz="1400" dirty="0">
                        <a:latin typeface="Geist" charset="0"/>
                        <a:ea typeface="Geist" charset="0"/>
                        <a:cs typeface="Geist"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5C0B1"/>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5C0B1"/>
                      </a:solidFill>
                      <a:prstDash val="solid"/>
                      <a:round/>
                      <a:headEnd type="none" w="med" len="med"/>
                      <a:tailEnd type="none" w="med" len="med"/>
                    </a:lnB>
                    <a:solidFill>
                      <a:srgbClr val="F7F0DE"/>
                    </a:solidFill>
                  </a:tcPr>
                </a:tc>
                <a:tc>
                  <a:txBody>
                    <a:bodyPr/>
                    <a:lstStyle/>
                    <a:p>
                      <a:pPr indent="0" marL="0">
                        <a:lnSpc>
                          <a:spcPts val="1960"/>
                        </a:lnSpc>
                        <a:buNone/>
                      </a:pPr>
                      <a:r>
                        <a:rPr lang="en-US" sz="1400" dirty="0">
                          <a:solidFill>
                            <a:srgbClr val="111111"/>
                          </a:solidFill>
                          <a:latin typeface="Geist" pitchFamily="34" charset="0"/>
                          <a:ea typeface="Geist" pitchFamily="34" charset="-122"/>
                          <a:cs typeface="Geist" pitchFamily="34" charset="-120"/>
                        </a:rPr>
                        <a:t>Decisions R1, R2…: decision, rationale, alternatives</a:t>
                      </a:r>
                      <a:endParaRPr lang="en-US" sz="1400" dirty="0">
                        <a:latin typeface="Geist" charset="0"/>
                        <a:ea typeface="Geist" charset="0"/>
                        <a:cs typeface="Geist" charset="0"/>
                      </a:endParaRPr>
                    </a:p>
                  </a:txBody>
                  <a:tcPr marL="62230" marR="62230" marT="62230" marB="62230" anchor="t">
                    <a:lnL w="12700" cap="flat" cmpd="sng" algn="ctr">
                      <a:solidFill>
                        <a:srgbClr val="C5C0B1"/>
                      </a:solidFill>
                      <a:prstDash val="solid"/>
                      <a:round/>
                      <a:headEnd type="none" w="med" len="med"/>
                      <a:tailEnd type="none" w="med" len="med"/>
                    </a:lnL>
                    <a:lnR w="12700" cap="flat" cmpd="sng" algn="ctr">
                      <a:solidFill>
                        <a:srgbClr val="C5C0B1"/>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5C0B1"/>
                      </a:solidFill>
                      <a:prstDash val="solid"/>
                      <a:round/>
                      <a:headEnd type="none" w="med" len="med"/>
                      <a:tailEnd type="none" w="med" len="med"/>
                    </a:lnB>
                    <a:solidFill>
                      <a:srgbClr val="F7F0DE"/>
                    </a:solidFill>
                  </a:tcPr>
                </a:tc>
              </a:tr>
              <a:tr h="385961">
                <a:tc>
                  <a:txBody>
                    <a:bodyPr/>
                    <a:lstStyle/>
                    <a:p>
                      <a:pPr indent="0" marL="0">
                        <a:lnSpc>
                          <a:spcPts val="1960"/>
                        </a:lnSpc>
                        <a:buNone/>
                      </a:pPr>
                      <a:r>
                        <a:rPr lang="en-US" sz="1400" dirty="0">
                          <a:solidFill>
                            <a:srgbClr val="111111"/>
                          </a:solidFill>
                          <a:latin typeface="Geist" pitchFamily="34" charset="0"/>
                          <a:ea typeface="Geist" pitchFamily="34" charset="-122"/>
                          <a:cs typeface="Geist" pitchFamily="34" charset="-120"/>
                        </a:rPr>
                        <a:t>data-model.md</a:t>
                      </a:r>
                      <a:endParaRPr lang="en-US" sz="1400" dirty="0">
                        <a:latin typeface="Geist" charset="0"/>
                        <a:ea typeface="Geist" charset="0"/>
                        <a:cs typeface="Geist"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5C0B1"/>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960"/>
                        </a:lnSpc>
                        <a:buNone/>
                      </a:pPr>
                      <a:r>
                        <a:rPr lang="en-US" sz="1400" dirty="0">
                          <a:solidFill>
                            <a:srgbClr val="111111"/>
                          </a:solidFill>
                          <a:latin typeface="Geist" pitchFamily="34" charset="0"/>
                          <a:ea typeface="Geist" pitchFamily="34" charset="-122"/>
                          <a:cs typeface="Geist" pitchFamily="34" charset="-120"/>
                        </a:rPr>
                        <a:t>Entities, fields, constraints, state changes</a:t>
                      </a:r>
                      <a:endParaRPr lang="en-US" sz="1400" dirty="0">
                        <a:latin typeface="Geist" charset="0"/>
                        <a:ea typeface="Geist" charset="0"/>
                        <a:cs typeface="Geist"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5C0B1"/>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85961">
                <a:tc>
                  <a:txBody>
                    <a:bodyPr/>
                    <a:lstStyle/>
                    <a:p>
                      <a:pPr indent="0" marL="0">
                        <a:lnSpc>
                          <a:spcPts val="1960"/>
                        </a:lnSpc>
                        <a:buNone/>
                      </a:pPr>
                      <a:r>
                        <a:rPr lang="en-US" sz="1400" dirty="0">
                          <a:solidFill>
                            <a:srgbClr val="111111"/>
                          </a:solidFill>
                          <a:latin typeface="Geist" pitchFamily="34" charset="0"/>
                          <a:ea typeface="Geist" pitchFamily="34" charset="-122"/>
                          <a:cs typeface="Geist" pitchFamily="34" charset="-120"/>
                        </a:rPr>
                        <a:t>contracts/</a:t>
                      </a:r>
                      <a:endParaRPr lang="en-US" sz="1400" dirty="0">
                        <a:latin typeface="Geist" charset="0"/>
                        <a:ea typeface="Geist" charset="0"/>
                        <a:cs typeface="Geist"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5C0B1"/>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5C0B1"/>
                      </a:solidFill>
                      <a:prstDash val="solid"/>
                      <a:round/>
                      <a:headEnd type="none" w="med" len="med"/>
                      <a:tailEnd type="none" w="med" len="med"/>
                    </a:lnB>
                    <a:solidFill>
                      <a:srgbClr val="F7F0DE"/>
                    </a:solidFill>
                  </a:tcPr>
                </a:tc>
                <a:tc>
                  <a:txBody>
                    <a:bodyPr/>
                    <a:lstStyle/>
                    <a:p>
                      <a:pPr indent="0" marL="0">
                        <a:lnSpc>
                          <a:spcPts val="1960"/>
                        </a:lnSpc>
                        <a:buNone/>
                      </a:pPr>
                      <a:r>
                        <a:rPr lang="en-US" sz="1400" dirty="0">
                          <a:solidFill>
                            <a:srgbClr val="111111"/>
                          </a:solidFill>
                          <a:latin typeface="Geist" pitchFamily="34" charset="0"/>
                          <a:ea typeface="Geist" pitchFamily="34" charset="-122"/>
                          <a:cs typeface="Geist" pitchFamily="34" charset="-120"/>
                        </a:rPr>
                        <a:t>Routes, server actions, API shapes</a:t>
                      </a:r>
                      <a:endParaRPr lang="en-US" sz="1400" dirty="0">
                        <a:latin typeface="Geist" charset="0"/>
                        <a:ea typeface="Geist" charset="0"/>
                        <a:cs typeface="Geist" charset="0"/>
                      </a:endParaRPr>
                    </a:p>
                  </a:txBody>
                  <a:tcPr marL="62230" marR="62230" marT="62230" marB="62230" anchor="t">
                    <a:lnL w="12700" cap="flat" cmpd="sng" algn="ctr">
                      <a:solidFill>
                        <a:srgbClr val="C5C0B1"/>
                      </a:solidFill>
                      <a:prstDash val="solid"/>
                      <a:round/>
                      <a:headEnd type="none" w="med" len="med"/>
                      <a:tailEnd type="none" w="med" len="med"/>
                    </a:lnL>
                    <a:lnR w="12700" cap="flat" cmpd="sng" algn="ctr">
                      <a:solidFill>
                        <a:srgbClr val="C5C0B1"/>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5C0B1"/>
                      </a:solidFill>
                      <a:prstDash val="solid"/>
                      <a:round/>
                      <a:headEnd type="none" w="med" len="med"/>
                      <a:tailEnd type="none" w="med" len="med"/>
                    </a:lnB>
                    <a:solidFill>
                      <a:srgbClr val="F7F0DE"/>
                    </a:solidFill>
                  </a:tcPr>
                </a:tc>
              </a:tr>
              <a:tr h="385961">
                <a:tc>
                  <a:txBody>
                    <a:bodyPr/>
                    <a:lstStyle/>
                    <a:p>
                      <a:pPr indent="0" marL="0">
                        <a:lnSpc>
                          <a:spcPts val="1960"/>
                        </a:lnSpc>
                        <a:buNone/>
                      </a:pPr>
                      <a:r>
                        <a:rPr lang="en-US" sz="1400" dirty="0">
                          <a:solidFill>
                            <a:srgbClr val="111111"/>
                          </a:solidFill>
                          <a:latin typeface="Geist" pitchFamily="34" charset="0"/>
                          <a:ea typeface="Geist" pitchFamily="34" charset="-122"/>
                          <a:cs typeface="Geist" pitchFamily="34" charset="-120"/>
                        </a:rPr>
                        <a:t>quickstart.md</a:t>
                      </a:r>
                      <a:endParaRPr lang="en-US" sz="1400" dirty="0">
                        <a:latin typeface="Geist" charset="0"/>
                        <a:ea typeface="Geist" charset="0"/>
                        <a:cs typeface="Geist"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5C0B1"/>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960"/>
                        </a:lnSpc>
                        <a:buNone/>
                      </a:pPr>
                      <a:r>
                        <a:rPr lang="en-US" sz="1400" dirty="0">
                          <a:solidFill>
                            <a:srgbClr val="111111"/>
                          </a:solidFill>
                          <a:latin typeface="Geist" pitchFamily="34" charset="0"/>
                          <a:ea typeface="Geist" pitchFamily="34" charset="-122"/>
                          <a:cs typeface="Geist" pitchFamily="34" charset="-120"/>
                        </a:rPr>
                        <a:t>How to prove it works, then the measured results</a:t>
                      </a:r>
                      <a:endParaRPr lang="en-US" sz="1400" dirty="0">
                        <a:latin typeface="Geist" charset="0"/>
                        <a:ea typeface="Geist" charset="0"/>
                        <a:cs typeface="Geist"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5C0B1"/>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85961">
                <a:tc>
                  <a:txBody>
                    <a:bodyPr/>
                    <a:lstStyle/>
                    <a:p>
                      <a:pPr indent="0" marL="0">
                        <a:lnSpc>
                          <a:spcPts val="1960"/>
                        </a:lnSpc>
                        <a:buNone/>
                      </a:pPr>
                      <a:r>
                        <a:rPr lang="en-US" sz="1400" dirty="0">
                          <a:solidFill>
                            <a:srgbClr val="111111"/>
                          </a:solidFill>
                          <a:latin typeface="Geist" pitchFamily="34" charset="0"/>
                          <a:ea typeface="Geist" pitchFamily="34" charset="-122"/>
                          <a:cs typeface="Geist" pitchFamily="34" charset="-120"/>
                        </a:rPr>
                        <a:t>tasks.md</a:t>
                      </a:r>
                      <a:endParaRPr lang="en-US" sz="1400" dirty="0">
                        <a:latin typeface="Geist" charset="0"/>
                        <a:ea typeface="Geist" charset="0"/>
                        <a:cs typeface="Geist"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5C0B1"/>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5C0B1"/>
                      </a:solidFill>
                      <a:prstDash val="solid"/>
                      <a:round/>
                      <a:headEnd type="none" w="med" len="med"/>
                      <a:tailEnd type="none" w="med" len="med"/>
                    </a:lnB>
                    <a:solidFill>
                      <a:srgbClr val="F7F0DE"/>
                    </a:solidFill>
                  </a:tcPr>
                </a:tc>
                <a:tc>
                  <a:txBody>
                    <a:bodyPr/>
                    <a:lstStyle/>
                    <a:p>
                      <a:pPr indent="0" marL="0">
                        <a:lnSpc>
                          <a:spcPts val="1960"/>
                        </a:lnSpc>
                        <a:buNone/>
                      </a:pPr>
                      <a:r>
                        <a:rPr lang="en-US" sz="1400" dirty="0">
                          <a:solidFill>
                            <a:srgbClr val="111111"/>
                          </a:solidFill>
                          <a:latin typeface="Geist" pitchFamily="34" charset="0"/>
                          <a:ea typeface="Geist" pitchFamily="34" charset="-122"/>
                          <a:cs typeface="Geist" pitchFamily="34" charset="-120"/>
                        </a:rPr>
                        <a:t>T001… with checkboxes, file paths, tests first</a:t>
                      </a:r>
                      <a:endParaRPr lang="en-US" sz="1400" dirty="0">
                        <a:latin typeface="Geist" charset="0"/>
                        <a:ea typeface="Geist" charset="0"/>
                        <a:cs typeface="Geist" charset="0"/>
                      </a:endParaRPr>
                    </a:p>
                  </a:txBody>
                  <a:tcPr marL="62230" marR="62230" marT="62230" marB="62230" anchor="t">
                    <a:lnL w="12700" cap="flat" cmpd="sng" algn="ctr">
                      <a:solidFill>
                        <a:srgbClr val="C5C0B1"/>
                      </a:solidFill>
                      <a:prstDash val="solid"/>
                      <a:round/>
                      <a:headEnd type="none" w="med" len="med"/>
                      <a:tailEnd type="none" w="med" len="med"/>
                    </a:lnL>
                    <a:lnR w="12700" cap="flat" cmpd="sng" algn="ctr">
                      <a:solidFill>
                        <a:srgbClr val="C5C0B1"/>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5C0B1"/>
                      </a:solidFill>
                      <a:prstDash val="solid"/>
                      <a:round/>
                      <a:headEnd type="none" w="med" len="med"/>
                      <a:tailEnd type="none" w="med" len="med"/>
                    </a:lnB>
                    <a:solidFill>
                      <a:srgbClr val="F7F0DE"/>
                    </a:solidFill>
                  </a:tcPr>
                </a:tc>
              </a:tr>
            </a:tbl>
          </a:graphicData>
        </a:graphic>
      </p:graphicFrame>
      <p:sp>
        <p:nvSpPr>
          <p:cNvPr id="9" name="Text 6"/>
          <p:cNvSpPr/>
          <p:nvPr/>
        </p:nvSpPr>
        <p:spPr>
          <a:xfrm>
            <a:off x="812800" y="5461099"/>
            <a:ext cx="1088339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D382F"/>
                </a:solidFill>
                <a:latin typeface="Geist" pitchFamily="34" charset="0"/>
                <a:ea typeface="Geist" pitchFamily="34" charset="-122"/>
                <a:cs typeface="Geist" pitchFamily="34" charset="-120"/>
              </a:rPr>
              <a:t>Plus one per project: </a:t>
            </a:r>
            <a:r>
              <a:rPr lang="en-US" sz="1400" b="1" dirty="0">
                <a:solidFill>
                  <a:srgbClr val="3D382F"/>
                </a:solidFill>
                <a:latin typeface="Geist" pitchFamily="34" charset="0"/>
                <a:ea typeface="Geist" pitchFamily="34" charset="-122"/>
                <a:cs typeface="Geist" pitchFamily="34" charset="-120"/>
              </a:rPr>
              <a:t>.specify/memory/constitution.md</a:t>
            </a:r>
            <a:r>
              <a:rPr lang="en-US" sz="1400" dirty="0">
                <a:solidFill>
                  <a:srgbClr val="3D382F"/>
                </a:solidFill>
                <a:latin typeface="Geist" pitchFamily="34" charset="0"/>
                <a:ea typeface="Geist" pitchFamily="34" charset="-122"/>
                <a:cs typeface="Geist" pitchFamily="34" charset="-120"/>
              </a:rPr>
              <a:t>, the laws every plan is checked against.</a:t>
            </a:r>
            <a:endParaRPr lang="en-US" sz="1400" dirty="0"/>
          </a:p>
        </p:txBody>
      </p:sp>
      <p:sp>
        <p:nvSpPr>
          <p:cNvPr id="10" name="Text 7"/>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6B6252"/>
                </a:solidFill>
                <a:latin typeface="Geist" pitchFamily="34" charset="0"/>
                <a:ea typeface="Geist" pitchFamily="34" charset="-122"/>
                <a:cs typeface="Geist" pitchFamily="34" charset="-120"/>
              </a:rPr>
              <a:t>DAN FLASHES × SPEC KIT</a:t>
            </a:r>
            <a:endParaRPr lang="en-US" sz="1200" dirty="0"/>
          </a:p>
        </p:txBody>
      </p:sp>
      <p:sp>
        <p:nvSpPr>
          <p:cNvPr id="11" name="Text 8"/>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6252"/>
                </a:solidFill>
                <a:latin typeface="Geist" pitchFamily="34" charset="0"/>
                <a:ea typeface="Geist" pitchFamily="34" charset="-122"/>
                <a:cs typeface="Geist" pitchFamily="34" charset="-120"/>
              </a:rPr>
              <a:t>07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11111"/>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FFE600"/>
                </a:solidFill>
                <a:latin typeface="Geist" pitchFamily="34" charset="0"/>
                <a:ea typeface="Geist" pitchFamily="34" charset="-122"/>
                <a:cs typeface="Geist" pitchFamily="34" charset="-120"/>
              </a:rPr>
              <a:t>SLASH COMMANDS FOR YOUR AI AGENT</a:t>
            </a:r>
            <a:endParaRPr lang="en-US" sz="1200" dirty="0"/>
          </a:p>
        </p:txBody>
      </p:sp>
      <p:sp>
        <p:nvSpPr>
          <p:cNvPr id="3" name="Text 1"/>
          <p:cNvSpPr/>
          <p:nvPr>
            <p:ph type="title"/>
          </p:nvPr>
        </p:nvSpPr>
        <p:spPr>
          <a:xfrm>
            <a:off x="812800" y="11023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0" i="0" dirty="0">
                <a:solidFill>
                  <a:srgbClr val="FFF8E7"/>
                </a:solidFill>
                <a:latin typeface="Bungee" pitchFamily="34" charset="0"/>
                <a:ea typeface="Bungee" pitchFamily="34" charset="-122"/>
                <a:cs typeface="Bungee" pitchFamily="34" charset="-120"/>
              </a:rPr>
              <a:t>The commands, in order</a:t>
            </a:r>
            <a:endParaRPr lang="en-US" sz="3200" dirty="0"/>
          </a:p>
        </p:txBody>
      </p:sp>
      <p:sp>
        <p:nvSpPr>
          <p:cNvPr id="4" name="Shape 2"/>
          <p:cNvSpPr/>
          <p:nvPr/>
        </p:nvSpPr>
        <p:spPr>
          <a:xfrm>
            <a:off x="812800" y="1803301"/>
            <a:ext cx="2489200" cy="1382216"/>
          </a:xfrm>
          <a:prstGeom prst="rect">
            <a:avLst/>
          </a:prstGeom>
          <a:solidFill>
            <a:srgbClr val="1F1D1A"/>
          </a:solidFill>
          <a:ln/>
        </p:spPr>
      </p:sp>
      <p:sp>
        <p:nvSpPr>
          <p:cNvPr id="5" name="Shape 3"/>
          <p:cNvSpPr/>
          <p:nvPr/>
        </p:nvSpPr>
        <p:spPr>
          <a:xfrm>
            <a:off x="812800" y="1828701"/>
            <a:ext cx="2489200" cy="0"/>
          </a:xfrm>
          <a:prstGeom prst="line">
            <a:avLst/>
          </a:prstGeom>
          <a:noFill/>
          <a:ln w="50800">
            <a:solidFill>
              <a:srgbClr val="FF2D95"/>
            </a:solidFill>
            <a:prstDash val="solid"/>
          </a:ln>
        </p:spPr>
      </p:sp>
      <p:sp>
        <p:nvSpPr>
          <p:cNvPr id="6" name="Text 4"/>
          <p:cNvSpPr/>
          <p:nvPr/>
        </p:nvSpPr>
        <p:spPr>
          <a:xfrm>
            <a:off x="990600" y="2031901"/>
            <a:ext cx="2197608"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FF2D95"/>
                </a:solidFill>
                <a:latin typeface="Geist Mono" pitchFamily="49" charset="0"/>
                <a:ea typeface="Geist Mono" pitchFamily="49" charset="-122"/>
                <a:cs typeface="Geist Mono" pitchFamily="49" charset="-120"/>
              </a:rPr>
              <a:t>1 /constitution</a:t>
            </a:r>
            <a:endParaRPr lang="en-US" sz="1300" dirty="0"/>
          </a:p>
        </p:txBody>
      </p:sp>
      <p:sp>
        <p:nvSpPr>
          <p:cNvPr id="7" name="Text 5"/>
          <p:cNvSpPr/>
          <p:nvPr/>
        </p:nvSpPr>
        <p:spPr>
          <a:xfrm>
            <a:off x="990600" y="2339181"/>
            <a:ext cx="2197608"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E6DCC7"/>
                </a:solidFill>
                <a:latin typeface="Geist" pitchFamily="34" charset="0"/>
                <a:ea typeface="Geist" pitchFamily="34" charset="-122"/>
                <a:cs typeface="Geist" pitchFamily="34" charset="-120"/>
              </a:rPr>
              <a:t>The project’s laws. Versioned with semver.</a:t>
            </a:r>
            <a:endParaRPr lang="en-US" sz="1300" dirty="0"/>
          </a:p>
        </p:txBody>
      </p:sp>
      <p:sp>
        <p:nvSpPr>
          <p:cNvPr id="8" name="Shape 6"/>
          <p:cNvSpPr/>
          <p:nvPr/>
        </p:nvSpPr>
        <p:spPr>
          <a:xfrm>
            <a:off x="3505200" y="1803301"/>
            <a:ext cx="2489200" cy="1382216"/>
          </a:xfrm>
          <a:prstGeom prst="rect">
            <a:avLst/>
          </a:prstGeom>
          <a:solidFill>
            <a:srgbClr val="1F1D1A"/>
          </a:solidFill>
          <a:ln/>
        </p:spPr>
      </p:sp>
      <p:sp>
        <p:nvSpPr>
          <p:cNvPr id="9" name="Shape 7"/>
          <p:cNvSpPr/>
          <p:nvPr/>
        </p:nvSpPr>
        <p:spPr>
          <a:xfrm>
            <a:off x="3505200" y="1828701"/>
            <a:ext cx="2489200" cy="0"/>
          </a:xfrm>
          <a:prstGeom prst="line">
            <a:avLst/>
          </a:prstGeom>
          <a:noFill/>
          <a:ln w="50800">
            <a:solidFill>
              <a:srgbClr val="FFE600"/>
            </a:solidFill>
            <a:prstDash val="solid"/>
          </a:ln>
        </p:spPr>
      </p:sp>
      <p:sp>
        <p:nvSpPr>
          <p:cNvPr id="10" name="Text 8"/>
          <p:cNvSpPr/>
          <p:nvPr/>
        </p:nvSpPr>
        <p:spPr>
          <a:xfrm>
            <a:off x="3683000" y="2031901"/>
            <a:ext cx="2197608"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FFE600"/>
                </a:solidFill>
                <a:latin typeface="Geist Mono" pitchFamily="49" charset="0"/>
                <a:ea typeface="Geist Mono" pitchFamily="49" charset="-122"/>
                <a:cs typeface="Geist Mono" pitchFamily="49" charset="-120"/>
              </a:rPr>
              <a:t>2 /specify</a:t>
            </a:r>
            <a:endParaRPr lang="en-US" sz="1300" dirty="0"/>
          </a:p>
        </p:txBody>
      </p:sp>
      <p:sp>
        <p:nvSpPr>
          <p:cNvPr id="11" name="Text 9"/>
          <p:cNvSpPr/>
          <p:nvPr/>
        </p:nvSpPr>
        <p:spPr>
          <a:xfrm>
            <a:off x="3683000" y="2339181"/>
            <a:ext cx="2197608" cy="693936"/>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E6DCC7"/>
                </a:solidFill>
                <a:latin typeface="Geist" pitchFamily="34" charset="0"/>
                <a:ea typeface="Geist" pitchFamily="34" charset="-122"/>
                <a:cs typeface="Geist" pitchFamily="34" charset="-120"/>
              </a:rPr>
              <a:t>Idea → stories, requirements, success criteria. No tech.</a:t>
            </a:r>
            <a:endParaRPr lang="en-US" sz="1300" dirty="0"/>
          </a:p>
        </p:txBody>
      </p:sp>
      <p:sp>
        <p:nvSpPr>
          <p:cNvPr id="12" name="Shape 10"/>
          <p:cNvSpPr/>
          <p:nvPr/>
        </p:nvSpPr>
        <p:spPr>
          <a:xfrm>
            <a:off x="6197600" y="1803301"/>
            <a:ext cx="2489200" cy="1382216"/>
          </a:xfrm>
          <a:prstGeom prst="rect">
            <a:avLst/>
          </a:prstGeom>
          <a:solidFill>
            <a:srgbClr val="1F1D1A"/>
          </a:solidFill>
          <a:ln/>
        </p:spPr>
      </p:sp>
      <p:sp>
        <p:nvSpPr>
          <p:cNvPr id="13" name="Shape 11"/>
          <p:cNvSpPr/>
          <p:nvPr/>
        </p:nvSpPr>
        <p:spPr>
          <a:xfrm>
            <a:off x="6197600" y="1828701"/>
            <a:ext cx="2489200" cy="0"/>
          </a:xfrm>
          <a:prstGeom prst="line">
            <a:avLst/>
          </a:prstGeom>
          <a:noFill/>
          <a:ln w="50800">
            <a:solidFill>
              <a:srgbClr val="00E5FF"/>
            </a:solidFill>
            <a:prstDash val="solid"/>
          </a:ln>
        </p:spPr>
      </p:sp>
      <p:sp>
        <p:nvSpPr>
          <p:cNvPr id="14" name="Text 12"/>
          <p:cNvSpPr/>
          <p:nvPr/>
        </p:nvSpPr>
        <p:spPr>
          <a:xfrm>
            <a:off x="6375400" y="2031901"/>
            <a:ext cx="2197608"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00E5FF"/>
                </a:solidFill>
                <a:latin typeface="Geist Mono" pitchFamily="49" charset="0"/>
                <a:ea typeface="Geist Mono" pitchFamily="49" charset="-122"/>
                <a:cs typeface="Geist Mono" pitchFamily="49" charset="-120"/>
              </a:rPr>
              <a:t>3 /clarify</a:t>
            </a:r>
            <a:endParaRPr lang="en-US" sz="1300" dirty="0"/>
          </a:p>
        </p:txBody>
      </p:sp>
      <p:sp>
        <p:nvSpPr>
          <p:cNvPr id="15" name="Text 13"/>
          <p:cNvSpPr/>
          <p:nvPr/>
        </p:nvSpPr>
        <p:spPr>
          <a:xfrm>
            <a:off x="6375400" y="2339181"/>
            <a:ext cx="2197608" cy="693936"/>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E6DCC7"/>
                </a:solidFill>
                <a:latin typeface="Geist" pitchFamily="34" charset="0"/>
                <a:ea typeface="Geist" pitchFamily="34" charset="-122"/>
                <a:cs typeface="Geist" pitchFamily="34" charset="-120"/>
              </a:rPr>
              <a:t>Up to 5 multiple-choice questions, each with a recommendation.</a:t>
            </a:r>
            <a:endParaRPr lang="en-US" sz="1300" dirty="0"/>
          </a:p>
        </p:txBody>
      </p:sp>
      <p:sp>
        <p:nvSpPr>
          <p:cNvPr id="16" name="Shape 14"/>
          <p:cNvSpPr/>
          <p:nvPr/>
        </p:nvSpPr>
        <p:spPr>
          <a:xfrm>
            <a:off x="8890000" y="1803301"/>
            <a:ext cx="2489200" cy="1382216"/>
          </a:xfrm>
          <a:prstGeom prst="rect">
            <a:avLst/>
          </a:prstGeom>
          <a:solidFill>
            <a:srgbClr val="1F1D1A"/>
          </a:solidFill>
          <a:ln/>
        </p:spPr>
      </p:sp>
      <p:sp>
        <p:nvSpPr>
          <p:cNvPr id="17" name="Shape 15"/>
          <p:cNvSpPr/>
          <p:nvPr/>
        </p:nvSpPr>
        <p:spPr>
          <a:xfrm>
            <a:off x="8890000" y="1828701"/>
            <a:ext cx="2489200" cy="0"/>
          </a:xfrm>
          <a:prstGeom prst="line">
            <a:avLst/>
          </a:prstGeom>
          <a:noFill/>
          <a:ln w="50800">
            <a:solidFill>
              <a:srgbClr val="B6FF00"/>
            </a:solidFill>
            <a:prstDash val="solid"/>
          </a:ln>
        </p:spPr>
      </p:sp>
      <p:sp>
        <p:nvSpPr>
          <p:cNvPr id="18" name="Text 16"/>
          <p:cNvSpPr/>
          <p:nvPr/>
        </p:nvSpPr>
        <p:spPr>
          <a:xfrm>
            <a:off x="9067800" y="2031901"/>
            <a:ext cx="2197608"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B6FF00"/>
                </a:solidFill>
                <a:latin typeface="Geist Mono" pitchFamily="49" charset="0"/>
                <a:ea typeface="Geist Mono" pitchFamily="49" charset="-122"/>
                <a:cs typeface="Geist Mono" pitchFamily="49" charset="-120"/>
              </a:rPr>
              <a:t>4 /plan</a:t>
            </a:r>
            <a:endParaRPr lang="en-US" sz="1300" dirty="0"/>
          </a:p>
        </p:txBody>
      </p:sp>
      <p:sp>
        <p:nvSpPr>
          <p:cNvPr id="19" name="Text 17"/>
          <p:cNvSpPr/>
          <p:nvPr/>
        </p:nvSpPr>
        <p:spPr>
          <a:xfrm>
            <a:off x="9067800" y="2339181"/>
            <a:ext cx="2197608" cy="693936"/>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E6DCC7"/>
                </a:solidFill>
                <a:latin typeface="Geist" pitchFamily="34" charset="0"/>
                <a:ea typeface="Geist" pitchFamily="34" charset="-122"/>
                <a:cs typeface="Geist" pitchFamily="34" charset="-120"/>
              </a:rPr>
              <a:t>Stack, data model, contracts. Must pass the constitution check.</a:t>
            </a:r>
            <a:endParaRPr lang="en-US" sz="1300" dirty="0"/>
          </a:p>
        </p:txBody>
      </p:sp>
      <p:sp>
        <p:nvSpPr>
          <p:cNvPr id="20" name="Shape 18"/>
          <p:cNvSpPr/>
          <p:nvPr/>
        </p:nvSpPr>
        <p:spPr>
          <a:xfrm>
            <a:off x="812800" y="3388717"/>
            <a:ext cx="2489200" cy="1159371"/>
          </a:xfrm>
          <a:prstGeom prst="rect">
            <a:avLst/>
          </a:prstGeom>
          <a:solidFill>
            <a:srgbClr val="1F1D1A"/>
          </a:solidFill>
          <a:ln/>
        </p:spPr>
      </p:sp>
      <p:sp>
        <p:nvSpPr>
          <p:cNvPr id="21" name="Shape 19"/>
          <p:cNvSpPr/>
          <p:nvPr/>
        </p:nvSpPr>
        <p:spPr>
          <a:xfrm>
            <a:off x="812800" y="3414117"/>
            <a:ext cx="2489200" cy="0"/>
          </a:xfrm>
          <a:prstGeom prst="line">
            <a:avLst/>
          </a:prstGeom>
          <a:noFill/>
          <a:ln w="50800">
            <a:solidFill>
              <a:srgbClr val="FF2D95"/>
            </a:solidFill>
            <a:prstDash val="solid"/>
          </a:ln>
        </p:spPr>
      </p:sp>
      <p:sp>
        <p:nvSpPr>
          <p:cNvPr id="22" name="Text 20"/>
          <p:cNvSpPr/>
          <p:nvPr/>
        </p:nvSpPr>
        <p:spPr>
          <a:xfrm>
            <a:off x="990600" y="3617317"/>
            <a:ext cx="2197608"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FF2D95"/>
                </a:solidFill>
                <a:latin typeface="Geist Mono" pitchFamily="49" charset="0"/>
                <a:ea typeface="Geist Mono" pitchFamily="49" charset="-122"/>
                <a:cs typeface="Geist Mono" pitchFamily="49" charset="-120"/>
              </a:rPr>
              <a:t>5 /tasks</a:t>
            </a:r>
            <a:endParaRPr lang="en-US" sz="1300" dirty="0"/>
          </a:p>
        </p:txBody>
      </p:sp>
      <p:sp>
        <p:nvSpPr>
          <p:cNvPr id="23" name="Text 21"/>
          <p:cNvSpPr/>
          <p:nvPr/>
        </p:nvSpPr>
        <p:spPr>
          <a:xfrm>
            <a:off x="990600" y="3924598"/>
            <a:ext cx="2197608"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E6DCC7"/>
                </a:solidFill>
                <a:latin typeface="Geist" pitchFamily="34" charset="0"/>
                <a:ea typeface="Geist" pitchFamily="34" charset="-122"/>
                <a:cs typeface="Geist" pitchFamily="34" charset="-120"/>
              </a:rPr>
              <a:t>Numbered tasks with file paths, tests before code.</a:t>
            </a:r>
            <a:endParaRPr lang="en-US" sz="1300" dirty="0"/>
          </a:p>
        </p:txBody>
      </p:sp>
      <p:sp>
        <p:nvSpPr>
          <p:cNvPr id="24" name="Shape 22"/>
          <p:cNvSpPr/>
          <p:nvPr/>
        </p:nvSpPr>
        <p:spPr>
          <a:xfrm>
            <a:off x="3505200" y="3388717"/>
            <a:ext cx="2489200" cy="1159371"/>
          </a:xfrm>
          <a:prstGeom prst="rect">
            <a:avLst/>
          </a:prstGeom>
          <a:solidFill>
            <a:srgbClr val="1F1D1A"/>
          </a:solidFill>
          <a:ln/>
        </p:spPr>
      </p:sp>
      <p:sp>
        <p:nvSpPr>
          <p:cNvPr id="25" name="Shape 23"/>
          <p:cNvSpPr/>
          <p:nvPr/>
        </p:nvSpPr>
        <p:spPr>
          <a:xfrm>
            <a:off x="3505200" y="3414117"/>
            <a:ext cx="2489200" cy="0"/>
          </a:xfrm>
          <a:prstGeom prst="line">
            <a:avLst/>
          </a:prstGeom>
          <a:noFill/>
          <a:ln w="50800">
            <a:solidFill>
              <a:srgbClr val="FFE600"/>
            </a:solidFill>
            <a:prstDash val="solid"/>
          </a:ln>
        </p:spPr>
      </p:sp>
      <p:sp>
        <p:nvSpPr>
          <p:cNvPr id="26" name="Text 24"/>
          <p:cNvSpPr/>
          <p:nvPr/>
        </p:nvSpPr>
        <p:spPr>
          <a:xfrm>
            <a:off x="3683000" y="3617317"/>
            <a:ext cx="2197608"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FFE600"/>
                </a:solidFill>
                <a:latin typeface="Geist Mono" pitchFamily="49" charset="0"/>
                <a:ea typeface="Geist Mono" pitchFamily="49" charset="-122"/>
                <a:cs typeface="Geist Mono" pitchFamily="49" charset="-120"/>
              </a:rPr>
              <a:t>6 /analyze</a:t>
            </a:r>
            <a:endParaRPr lang="en-US" sz="1300" dirty="0"/>
          </a:p>
        </p:txBody>
      </p:sp>
      <p:sp>
        <p:nvSpPr>
          <p:cNvPr id="27" name="Text 25"/>
          <p:cNvSpPr/>
          <p:nvPr/>
        </p:nvSpPr>
        <p:spPr>
          <a:xfrm>
            <a:off x="3683000" y="3924598"/>
            <a:ext cx="2197608"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E6DCC7"/>
                </a:solidFill>
                <a:latin typeface="Geist" pitchFamily="34" charset="0"/>
                <a:ea typeface="Geist" pitchFamily="34" charset="-122"/>
                <a:cs typeface="Geist" pitchFamily="34" charset="-120"/>
              </a:rPr>
              <a:t>A read-only cross-check of spec, plan and tasks.</a:t>
            </a:r>
            <a:endParaRPr lang="en-US" sz="1300" dirty="0"/>
          </a:p>
        </p:txBody>
      </p:sp>
      <p:sp>
        <p:nvSpPr>
          <p:cNvPr id="28" name="Shape 26"/>
          <p:cNvSpPr/>
          <p:nvPr/>
        </p:nvSpPr>
        <p:spPr>
          <a:xfrm>
            <a:off x="6197600" y="3388717"/>
            <a:ext cx="2489200" cy="1159371"/>
          </a:xfrm>
          <a:prstGeom prst="rect">
            <a:avLst/>
          </a:prstGeom>
          <a:solidFill>
            <a:srgbClr val="1F1D1A"/>
          </a:solidFill>
          <a:ln/>
        </p:spPr>
      </p:sp>
      <p:sp>
        <p:nvSpPr>
          <p:cNvPr id="29" name="Shape 27"/>
          <p:cNvSpPr/>
          <p:nvPr/>
        </p:nvSpPr>
        <p:spPr>
          <a:xfrm>
            <a:off x="6197600" y="3414117"/>
            <a:ext cx="2489200" cy="0"/>
          </a:xfrm>
          <a:prstGeom prst="line">
            <a:avLst/>
          </a:prstGeom>
          <a:noFill/>
          <a:ln w="50800">
            <a:solidFill>
              <a:srgbClr val="00E5FF"/>
            </a:solidFill>
            <a:prstDash val="solid"/>
          </a:ln>
        </p:spPr>
      </p:sp>
      <p:sp>
        <p:nvSpPr>
          <p:cNvPr id="30" name="Text 28"/>
          <p:cNvSpPr/>
          <p:nvPr/>
        </p:nvSpPr>
        <p:spPr>
          <a:xfrm>
            <a:off x="6375400" y="3617317"/>
            <a:ext cx="2197608"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00E5FF"/>
                </a:solidFill>
                <a:latin typeface="Geist Mono" pitchFamily="49" charset="0"/>
                <a:ea typeface="Geist Mono" pitchFamily="49" charset="-122"/>
                <a:cs typeface="Geist Mono" pitchFamily="49" charset="-120"/>
              </a:rPr>
              <a:t>7 /implement</a:t>
            </a:r>
            <a:endParaRPr lang="en-US" sz="1300" dirty="0"/>
          </a:p>
        </p:txBody>
      </p:sp>
      <p:sp>
        <p:nvSpPr>
          <p:cNvPr id="31" name="Text 29"/>
          <p:cNvSpPr/>
          <p:nvPr/>
        </p:nvSpPr>
        <p:spPr>
          <a:xfrm>
            <a:off x="6375400" y="3924598"/>
            <a:ext cx="2197608"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E6DCC7"/>
                </a:solidFill>
                <a:latin typeface="Geist" pitchFamily="34" charset="0"/>
                <a:ea typeface="Geist" pitchFamily="34" charset="-122"/>
                <a:cs typeface="Geist" pitchFamily="34" charset="-120"/>
              </a:rPr>
              <a:t>Builds it task by task, checking boxes as it goes.</a:t>
            </a:r>
            <a:endParaRPr lang="en-US" sz="1300" dirty="0"/>
          </a:p>
        </p:txBody>
      </p:sp>
      <p:sp>
        <p:nvSpPr>
          <p:cNvPr id="32" name="Shape 30"/>
          <p:cNvSpPr/>
          <p:nvPr/>
        </p:nvSpPr>
        <p:spPr>
          <a:xfrm>
            <a:off x="8890000" y="3388717"/>
            <a:ext cx="2489200" cy="1159371"/>
          </a:xfrm>
          <a:prstGeom prst="rect">
            <a:avLst/>
          </a:prstGeom>
          <a:solidFill>
            <a:srgbClr val="1F1D1A"/>
          </a:solidFill>
          <a:ln/>
        </p:spPr>
      </p:sp>
      <p:sp>
        <p:nvSpPr>
          <p:cNvPr id="33" name="Shape 31"/>
          <p:cNvSpPr/>
          <p:nvPr/>
        </p:nvSpPr>
        <p:spPr>
          <a:xfrm>
            <a:off x="8890000" y="3414117"/>
            <a:ext cx="2489200" cy="0"/>
          </a:xfrm>
          <a:prstGeom prst="line">
            <a:avLst/>
          </a:prstGeom>
          <a:noFill/>
          <a:ln w="50800">
            <a:solidFill>
              <a:srgbClr val="B6FF00"/>
            </a:solidFill>
            <a:prstDash val="solid"/>
          </a:ln>
        </p:spPr>
      </p:sp>
      <p:sp>
        <p:nvSpPr>
          <p:cNvPr id="34" name="Text 32"/>
          <p:cNvSpPr/>
          <p:nvPr/>
        </p:nvSpPr>
        <p:spPr>
          <a:xfrm>
            <a:off x="9067800" y="3617317"/>
            <a:ext cx="2197608"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B6FF00"/>
                </a:solidFill>
                <a:latin typeface="Geist Mono" pitchFamily="49" charset="0"/>
                <a:ea typeface="Geist Mono" pitchFamily="49" charset="-122"/>
                <a:cs typeface="Geist Mono" pitchFamily="49" charset="-120"/>
              </a:rPr>
              <a:t>8 /converge</a:t>
            </a:r>
            <a:endParaRPr lang="en-US" sz="1300" dirty="0"/>
          </a:p>
        </p:txBody>
      </p:sp>
      <p:sp>
        <p:nvSpPr>
          <p:cNvPr id="35" name="Text 33"/>
          <p:cNvSpPr/>
          <p:nvPr/>
        </p:nvSpPr>
        <p:spPr>
          <a:xfrm>
            <a:off x="9067800" y="3924598"/>
            <a:ext cx="2197608"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E6DCC7"/>
                </a:solidFill>
                <a:latin typeface="Geist" pitchFamily="34" charset="0"/>
                <a:ea typeface="Geist" pitchFamily="34" charset="-122"/>
                <a:cs typeface="Geist" pitchFamily="34" charset="-120"/>
              </a:rPr>
              <a:t>Code vs. spec. Appends a task for every gap.</a:t>
            </a:r>
            <a:endParaRPr lang="en-US" sz="1300" dirty="0"/>
          </a:p>
        </p:txBody>
      </p:sp>
      <p:sp>
        <p:nvSpPr>
          <p:cNvPr id="36" name="Text 34"/>
          <p:cNvSpPr/>
          <p:nvPr/>
        </p:nvSpPr>
        <p:spPr>
          <a:xfrm>
            <a:off x="812800" y="4802088"/>
            <a:ext cx="10883392"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A99F8C"/>
                </a:solidFill>
                <a:latin typeface="Geist" pitchFamily="34" charset="0"/>
                <a:ea typeface="Geist" pitchFamily="34" charset="-122"/>
                <a:cs typeface="Geist" pitchFamily="34" charset="-120"/>
              </a:rPr>
              <a:t>Each is a </a:t>
            </a:r>
            <a:r>
              <a:rPr lang="en-US" sz="1300" b="1" dirty="0">
                <a:solidFill>
                  <a:srgbClr val="A99F8C"/>
                </a:solidFill>
                <a:latin typeface="Geist" pitchFamily="34" charset="0"/>
                <a:ea typeface="Geist" pitchFamily="34" charset="-122"/>
                <a:cs typeface="Geist" pitchFamily="34" charset="-120"/>
              </a:rPr>
              <a:t>/speckit-…</a:t>
            </a:r>
            <a:r>
              <a:rPr lang="en-US" sz="1300" dirty="0">
                <a:solidFill>
                  <a:srgbClr val="A99F8C"/>
                </a:solidFill>
                <a:latin typeface="Geist" pitchFamily="34" charset="0"/>
                <a:ea typeface="Geist" pitchFamily="34" charset="-122"/>
                <a:cs typeface="Geist" pitchFamily="34" charset="-120"/>
              </a:rPr>
              <a:t> command. Also available: /speckit-checklist (“unit tests for English”) and /speckit-taskstoissues.</a:t>
            </a:r>
            <a:endParaRPr lang="en-US" sz="1300" dirty="0"/>
          </a:p>
        </p:txBody>
      </p:sp>
      <p:sp>
        <p:nvSpPr>
          <p:cNvPr id="37" name="Text 35"/>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A99F8C"/>
                </a:solidFill>
                <a:latin typeface="Geist" pitchFamily="34" charset="0"/>
                <a:ea typeface="Geist" pitchFamily="34" charset="-122"/>
                <a:cs typeface="Geist" pitchFamily="34" charset="-120"/>
              </a:rPr>
              <a:t>DAN FLASHES × SPEC KIT</a:t>
            </a:r>
            <a:endParaRPr lang="en-US" sz="1200" dirty="0"/>
          </a:p>
        </p:txBody>
      </p:sp>
      <p:sp>
        <p:nvSpPr>
          <p:cNvPr id="38" name="Text 36"/>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A99F8C"/>
                </a:solidFill>
                <a:latin typeface="Geist" pitchFamily="34" charset="0"/>
                <a:ea typeface="Geist" pitchFamily="34" charset="-122"/>
                <a:cs typeface="Geist" pitchFamily="34" charset="-120"/>
              </a:rPr>
              <a:t>08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8E7"/>
        </a:solidFill>
      </p:bgPr>
    </p:bg>
    <p:spTree>
      <p:nvGrpSpPr>
        <p:cNvPr id="1" name=""/>
        <p:cNvGrpSpPr/>
        <p:nvPr/>
      </p:nvGrpSpPr>
      <p:grpSpPr>
        <a:xfrm>
          <a:off x="0" y="0"/>
          <a:ext cx="0" cy="0"/>
          <a:chOff x="0" y="0"/>
          <a:chExt cx="0" cy="0"/>
        </a:xfrm>
      </p:grpSpPr>
      <p:sp>
        <p:nvSpPr>
          <p:cNvPr id="2" name="Shape 0"/>
          <p:cNvSpPr/>
          <p:nvPr/>
        </p:nvSpPr>
        <p:spPr>
          <a:xfrm>
            <a:off x="0" y="0"/>
            <a:ext cx="12192000" cy="127000"/>
          </a:xfrm>
          <a:prstGeom prst="rect">
            <a:avLst/>
          </a:prstGeom>
          <a:gradFill rotWithShape="1">
            <a:gsLst>
              <a:gs pos="0">
                <a:srgbClr val="FF2D95"/>
              </a:gs>
              <a:gs pos="25000">
                <a:srgbClr val="FF2D95"/>
              </a:gs>
              <a:gs pos="25000">
                <a:srgbClr val="FFE600"/>
              </a:gs>
              <a:gs pos="50000">
                <a:srgbClr val="FFE600"/>
              </a:gs>
              <a:gs pos="50000">
                <a:srgbClr val="00E5FF"/>
              </a:gs>
              <a:gs pos="75000">
                <a:srgbClr val="00E5FF"/>
              </a:gs>
              <a:gs pos="75000">
                <a:srgbClr val="B6FF00"/>
              </a:gs>
              <a:gs pos="100000">
                <a:srgbClr val="B6FF00"/>
              </a:gs>
            </a:gsLst>
            <a:lin ang="2700000" scaled="0"/>
          </a:gradFill>
          <a:ln/>
        </p:spPr>
      </p:sp>
      <p:sp>
        <p:nvSpPr>
          <p:cNvPr id="3" name="Text 1"/>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7A00FF"/>
                </a:solidFill>
                <a:latin typeface="Geist" pitchFamily="34" charset="0"/>
                <a:ea typeface="Geist" pitchFamily="34" charset="-122"/>
                <a:cs typeface="Geist" pitchFamily="34" charset="-120"/>
              </a:rPr>
              <a:t>.SPECIFY/MEMORY/CONSTITUTION.MD</a:t>
            </a:r>
            <a:endParaRPr lang="en-US" sz="1200" dirty="0"/>
          </a:p>
        </p:txBody>
      </p:sp>
      <p:sp>
        <p:nvSpPr>
          <p:cNvPr id="4" name="Text 2"/>
          <p:cNvSpPr/>
          <p:nvPr>
            <p:ph type="title"/>
          </p:nvPr>
        </p:nvSpPr>
        <p:spPr>
          <a:xfrm>
            <a:off x="812800" y="11023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0" i="0" dirty="0">
                <a:solidFill>
                  <a:srgbClr val="111111"/>
                </a:solidFill>
                <a:latin typeface="Bungee" pitchFamily="34" charset="0"/>
                <a:ea typeface="Bungee" pitchFamily="34" charset="-122"/>
                <a:cs typeface="Bungee" pitchFamily="34" charset="-120"/>
              </a:rPr>
              <a:t>The constitution</a:t>
            </a:r>
            <a:endParaRPr lang="en-US" sz="3200" dirty="0"/>
          </a:p>
        </p:txBody>
      </p:sp>
      <p:sp>
        <p:nvSpPr>
          <p:cNvPr id="5" name="Text 3"/>
          <p:cNvSpPr/>
          <p:nvPr/>
        </p:nvSpPr>
        <p:spPr>
          <a:xfrm>
            <a:off x="812800" y="1828701"/>
            <a:ext cx="525856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6B6252"/>
                </a:solidFill>
                <a:latin typeface="Geist" pitchFamily="34" charset="0"/>
                <a:ea typeface="Geist" pitchFamily="34" charset="-122"/>
                <a:cs typeface="Geist" pitchFamily="34" charset="-120"/>
              </a:rPr>
              <a:t>EIGHT PRINCIPLES</a:t>
            </a:r>
            <a:endParaRPr lang="en-US" sz="1200" dirty="0"/>
          </a:p>
        </p:txBody>
      </p:sp>
      <p:sp>
        <p:nvSpPr>
          <p:cNvPr id="6" name="Text 4"/>
          <p:cNvSpPr/>
          <p:nvPr/>
        </p:nvSpPr>
        <p:spPr>
          <a:xfrm>
            <a:off x="879773" y="2143621"/>
            <a:ext cx="5183969" cy="2087563"/>
          </a:xfrm>
          <a:prstGeom prst="rect">
            <a:avLst/>
          </a:prstGeom>
          <a:noFill/>
          <a:ln/>
        </p:spPr>
        <p:txBody>
          <a:bodyPr wrap="square" lIns="0" tIns="0" rIns="0" bIns="0" rtlCol="0" anchor="t">
            <a:normAutofit/>
          </a:bodyPr>
          <a:lstStyle/>
          <a:p>
            <a:pPr algn="l" marL="187027" indent="-187027">
              <a:lnSpc>
                <a:spcPts val="2030"/>
              </a:lnSpc>
              <a:buSzPct val="100000"/>
              <a:buFontTx/>
              <a:buAutoNum type="arabicPeriod" startAt="1"/>
            </a:pPr>
            <a:r>
              <a:rPr lang="en-US" sz="1400" dirty="0">
                <a:solidFill>
                  <a:srgbClr val="111111"/>
                </a:solidFill>
                <a:latin typeface="Geist" pitchFamily="34" charset="0"/>
                <a:ea typeface="Geist" pitchFamily="34" charset="-122"/>
                <a:cs typeface="Geist" pitchFamily="34" charset="-120"/>
              </a:rPr>
              <a:t>Built for the Dan Flashes Guy</a:t>
            </a:r>
            <a:endParaRPr lang="en-US" sz="1400" dirty="0"/>
          </a:p>
          <a:p>
            <a:pPr algn="l" marL="187027" indent="-187027">
              <a:lnSpc>
                <a:spcPts val="2030"/>
              </a:lnSpc>
              <a:buSzPct val="100000"/>
              <a:buFontTx/>
              <a:buAutoNum type="arabicPeriod" startAt="1"/>
            </a:pPr>
            <a:r>
              <a:rPr lang="en-US" sz="1400" dirty="0">
                <a:solidFill>
                  <a:srgbClr val="111111"/>
                </a:solidFill>
                <a:latin typeface="Geist" pitchFamily="34" charset="0"/>
                <a:ea typeface="Geist" pitchFamily="34" charset="-122"/>
                <a:cs typeface="Geist" pitchFamily="34" charset="-120"/>
              </a:rPr>
              <a:t>Complexity Is the Price</a:t>
            </a:r>
            <a:endParaRPr lang="en-US" sz="1400" dirty="0"/>
          </a:p>
          <a:p>
            <a:pPr algn="l" marL="187027" indent="-187027">
              <a:lnSpc>
                <a:spcPts val="2030"/>
              </a:lnSpc>
              <a:buSzPct val="100000"/>
              <a:buFontTx/>
              <a:buAutoNum type="arabicPeriod" startAt="1"/>
            </a:pPr>
            <a:r>
              <a:rPr lang="en-US" sz="1400" dirty="0">
                <a:solidFill>
                  <a:srgbClr val="111111"/>
                </a:solidFill>
                <a:latin typeface="Geist" pitchFamily="34" charset="0"/>
                <a:ea typeface="Geist" pitchFamily="34" charset="-122"/>
                <a:cs typeface="Geist" pitchFamily="34" charset="-120"/>
              </a:rPr>
              <a:t>Relentlessly Vibrant</a:t>
            </a:r>
            <a:endParaRPr lang="en-US" sz="1400" dirty="0"/>
          </a:p>
          <a:p>
            <a:pPr algn="l" marL="187027" indent="-187027">
              <a:lnSpc>
                <a:spcPts val="2030"/>
              </a:lnSpc>
              <a:buSzPct val="100000"/>
              <a:buFontTx/>
              <a:buAutoNum type="arabicPeriod" startAt="1"/>
            </a:pPr>
            <a:r>
              <a:rPr lang="en-US" sz="1400" dirty="0">
                <a:solidFill>
                  <a:srgbClr val="111111"/>
                </a:solidFill>
                <a:latin typeface="Geist" pitchFamily="34" charset="0"/>
                <a:ea typeface="Geist" pitchFamily="34" charset="-122"/>
                <a:cs typeface="Geist" pitchFamily="34" charset="-120"/>
              </a:rPr>
              <a:t>Aggressively Upbeat, Shamelessly Manipulative</a:t>
            </a:r>
            <a:endParaRPr lang="en-US" sz="1400" dirty="0"/>
          </a:p>
          <a:p>
            <a:pPr algn="l" marL="187027" indent="-187027">
              <a:lnSpc>
                <a:spcPts val="2030"/>
              </a:lnSpc>
              <a:buSzPct val="100000"/>
              <a:buFontTx/>
              <a:buAutoNum type="arabicPeriod" startAt="1"/>
            </a:pPr>
            <a:r>
              <a:rPr lang="en-US" sz="1400" dirty="0">
                <a:solidFill>
                  <a:srgbClr val="111111"/>
                </a:solidFill>
                <a:latin typeface="Geist" pitchFamily="34" charset="0"/>
                <a:ea typeface="Geist" pitchFamily="34" charset="-122"/>
                <a:cs typeface="Geist" pitchFamily="34" charset="-120"/>
              </a:rPr>
              <a:t>Maximum Visual Assault</a:t>
            </a:r>
            <a:endParaRPr lang="en-US" sz="1400" dirty="0"/>
          </a:p>
          <a:p>
            <a:pPr algn="l" marL="187027" indent="-187027">
              <a:lnSpc>
                <a:spcPts val="2030"/>
              </a:lnSpc>
              <a:buSzPct val="100000"/>
              <a:buFontTx/>
              <a:buAutoNum type="arabicPeriod" startAt="1"/>
            </a:pPr>
            <a:r>
              <a:rPr lang="en-US" sz="1400" dirty="0">
                <a:solidFill>
                  <a:srgbClr val="111111"/>
                </a:solidFill>
                <a:latin typeface="Geist" pitchFamily="34" charset="0"/>
                <a:ea typeface="Geist" pitchFamily="34" charset="-122"/>
                <a:cs typeface="Geist" pitchFamily="34" charset="-120"/>
              </a:rPr>
              <a:t>Fully Tested, Money Math First</a:t>
            </a:r>
            <a:endParaRPr lang="en-US" sz="1400" dirty="0"/>
          </a:p>
          <a:p>
            <a:pPr algn="l" marL="187027" indent="-187027">
              <a:lnSpc>
                <a:spcPts val="2030"/>
              </a:lnSpc>
              <a:buSzPct val="100000"/>
              <a:buFontTx/>
              <a:buAutoNum type="arabicPeriod" startAt="1"/>
            </a:pPr>
            <a:r>
              <a:rPr lang="en-US" sz="1400" dirty="0">
                <a:solidFill>
                  <a:srgbClr val="111111"/>
                </a:solidFill>
                <a:latin typeface="Geist" pitchFamily="34" charset="0"/>
                <a:ea typeface="Geist" pitchFamily="34" charset="-122"/>
                <a:cs typeface="Geist" pitchFamily="34" charset="-120"/>
              </a:rPr>
              <a:t>Fast Even When Complicated</a:t>
            </a:r>
            <a:endParaRPr lang="en-US" sz="1400" dirty="0"/>
          </a:p>
          <a:p>
            <a:pPr algn="l" marL="187027" indent="-187027">
              <a:lnSpc>
                <a:spcPts val="2030"/>
              </a:lnSpc>
              <a:buSzPct val="100000"/>
              <a:buFontTx/>
              <a:buAutoNum type="arabicPeriod" startAt="1"/>
            </a:pPr>
            <a:r>
              <a:rPr lang="en-US" sz="1400" dirty="0">
                <a:solidFill>
                  <a:srgbClr val="111111"/>
                </a:solidFill>
                <a:latin typeface="Geist" pitchFamily="34" charset="0"/>
                <a:ea typeface="Geist" pitchFamily="34" charset="-122"/>
                <a:cs typeface="Geist" pitchFamily="34" charset="-120"/>
              </a:rPr>
              <a:t>Simple Code, Complicated Shirts</a:t>
            </a:r>
            <a:endParaRPr lang="en-US" sz="1400" dirty="0"/>
          </a:p>
        </p:txBody>
      </p:sp>
      <p:sp>
        <p:nvSpPr>
          <p:cNvPr id="7" name="Shape 5"/>
          <p:cNvSpPr/>
          <p:nvPr/>
        </p:nvSpPr>
        <p:spPr>
          <a:xfrm>
            <a:off x="6286500" y="1841401"/>
            <a:ext cx="5080000" cy="1222970"/>
          </a:xfrm>
          <a:prstGeom prst="rect">
            <a:avLst/>
          </a:prstGeom>
          <a:solidFill>
            <a:srgbClr val="FFFFFF"/>
          </a:solidFill>
          <a:ln w="25400">
            <a:solidFill>
              <a:srgbClr val="111111"/>
            </a:solidFill>
            <a:prstDash val="solid"/>
          </a:ln>
          <a:effectLst>
            <a:outerShdw sx="100000" sy="100000" kx="0" ky="0" algn="bl" rotWithShape="0" blurRad="0" dist="89803" dir="2700000">
              <a:srgbClr val="00E5FF">
                <a:alpha val="100000"/>
              </a:srgbClr>
            </a:outerShdw>
          </a:effectLst>
        </p:spPr>
      </p:sp>
      <p:sp>
        <p:nvSpPr>
          <p:cNvPr id="8" name="Text 6"/>
          <p:cNvSpPr/>
          <p:nvPr/>
        </p:nvSpPr>
        <p:spPr>
          <a:xfrm>
            <a:off x="6502400" y="2057301"/>
            <a:ext cx="4787646"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6B6252"/>
                </a:solidFill>
                <a:latin typeface="Geist" pitchFamily="34" charset="0"/>
                <a:ea typeface="Geist" pitchFamily="34" charset="-122"/>
                <a:cs typeface="Geist" pitchFamily="34" charset="-120"/>
              </a:rPr>
              <a:t>A RULE</a:t>
            </a:r>
            <a:endParaRPr lang="en-US" sz="1200" dirty="0"/>
          </a:p>
        </p:txBody>
      </p:sp>
      <p:sp>
        <p:nvSpPr>
          <p:cNvPr id="9" name="Text 7"/>
          <p:cNvSpPr/>
          <p:nvPr/>
        </p:nvSpPr>
        <p:spPr>
          <a:xfrm>
            <a:off x="6502400" y="2334121"/>
            <a:ext cx="4787646" cy="539750"/>
          </a:xfrm>
          <a:prstGeom prst="rect">
            <a:avLst/>
          </a:prstGeom>
          <a:noFill/>
          <a:ln/>
        </p:spPr>
        <p:txBody>
          <a:bodyPr wrap="square" lIns="0" tIns="0" rIns="0" bIns="0" rtlCol="0" anchor="t">
            <a:normAutofit/>
          </a:bodyPr>
          <a:lstStyle/>
          <a:p>
            <a:pPr algn="l" indent="0" marL="0">
              <a:lnSpc>
                <a:spcPts val="2025"/>
              </a:lnSpc>
              <a:buNone/>
            </a:pPr>
            <a:r>
              <a:rPr lang="en-US" sz="1500" b="1" dirty="0">
                <a:solidFill>
                  <a:srgbClr val="111111"/>
                </a:solidFill>
                <a:latin typeface="Geist" pitchFamily="34" charset="0"/>
                <a:ea typeface="Geist" pitchFamily="34" charset="-122"/>
                <a:cs typeface="Geist" pitchFamily="34" charset="-120"/>
              </a:rPr>
              <a:t>Money is exact two-decimal USD strings, via big.js. Never JavaScript number math.</a:t>
            </a:r>
            <a:endParaRPr lang="en-US" sz="1500" dirty="0"/>
          </a:p>
        </p:txBody>
      </p:sp>
      <p:sp>
        <p:nvSpPr>
          <p:cNvPr id="10" name="Shape 8"/>
          <p:cNvSpPr/>
          <p:nvPr/>
        </p:nvSpPr>
        <p:spPr>
          <a:xfrm>
            <a:off x="6286500" y="3242171"/>
            <a:ext cx="5080000" cy="1222970"/>
          </a:xfrm>
          <a:prstGeom prst="rect">
            <a:avLst/>
          </a:prstGeom>
          <a:solidFill>
            <a:srgbClr val="FFFFFF"/>
          </a:solidFill>
          <a:ln w="25400">
            <a:solidFill>
              <a:srgbClr val="111111"/>
            </a:solidFill>
            <a:prstDash val="solid"/>
          </a:ln>
          <a:effectLst>
            <a:outerShdw sx="100000" sy="100000" kx="0" ky="0" algn="bl" rotWithShape="0" blurRad="0" dist="89803" dir="2700000">
              <a:srgbClr val="FF2D95">
                <a:alpha val="100000"/>
              </a:srgbClr>
            </a:outerShdw>
          </a:effectLst>
        </p:spPr>
      </p:sp>
      <p:sp>
        <p:nvSpPr>
          <p:cNvPr id="11" name="Text 9"/>
          <p:cNvSpPr/>
          <p:nvPr/>
        </p:nvSpPr>
        <p:spPr>
          <a:xfrm>
            <a:off x="6502400" y="3458071"/>
            <a:ext cx="4787646"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6B6252"/>
                </a:solidFill>
                <a:latin typeface="Geist" pitchFamily="34" charset="0"/>
                <a:ea typeface="Geist" pitchFamily="34" charset="-122"/>
                <a:cs typeface="Geist" pitchFamily="34" charset="-120"/>
              </a:rPr>
              <a:t>ANOTHER</a:t>
            </a:r>
            <a:endParaRPr lang="en-US" sz="1200" dirty="0"/>
          </a:p>
        </p:txBody>
      </p:sp>
      <p:sp>
        <p:nvSpPr>
          <p:cNvPr id="12" name="Text 10"/>
          <p:cNvSpPr/>
          <p:nvPr/>
        </p:nvSpPr>
        <p:spPr>
          <a:xfrm>
            <a:off x="6502400" y="3734891"/>
            <a:ext cx="4787646" cy="539750"/>
          </a:xfrm>
          <a:prstGeom prst="rect">
            <a:avLst/>
          </a:prstGeom>
          <a:noFill/>
          <a:ln/>
        </p:spPr>
        <p:txBody>
          <a:bodyPr wrap="square" lIns="0" tIns="0" rIns="0" bIns="0" rtlCol="0" anchor="t">
            <a:normAutofit/>
          </a:bodyPr>
          <a:lstStyle/>
          <a:p>
            <a:pPr algn="l" indent="0" marL="0">
              <a:lnSpc>
                <a:spcPts val="2025"/>
              </a:lnSpc>
              <a:buNone/>
            </a:pPr>
            <a:r>
              <a:rPr lang="en-US" sz="1500" b="1" dirty="0">
                <a:solidFill>
                  <a:srgbClr val="111111"/>
                </a:solidFill>
                <a:latin typeface="Geist" pitchFamily="34" charset="0"/>
                <a:ea typeface="Geist" pitchFamily="34" charset="-122"/>
                <a:cs typeface="Geist" pitchFamily="34" charset="-120"/>
              </a:rPr>
              <a:t>A bot is a voice, not a source. The model never invents a price, a link or a cart action.</a:t>
            </a:r>
            <a:endParaRPr lang="en-US" sz="1500" dirty="0"/>
          </a:p>
        </p:txBody>
      </p:sp>
      <p:sp>
        <p:nvSpPr>
          <p:cNvPr id="13" name="Text 11"/>
          <p:cNvSpPr/>
          <p:nvPr/>
        </p:nvSpPr>
        <p:spPr>
          <a:xfrm>
            <a:off x="6273800" y="4630241"/>
            <a:ext cx="5258562"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D382F"/>
                </a:solidFill>
                <a:latin typeface="Geist" pitchFamily="34" charset="0"/>
                <a:ea typeface="Geist" pitchFamily="34" charset="-122"/>
                <a:cs typeface="Geist" pitchFamily="34" charset="-120"/>
              </a:rPr>
              <a:t>Checked at plan time, at analyze time (a violation is always CRITICAL), and again at converge.</a:t>
            </a:r>
            <a:endParaRPr lang="en-US" sz="1300" dirty="0"/>
          </a:p>
        </p:txBody>
      </p:sp>
      <p:sp>
        <p:nvSpPr>
          <p:cNvPr id="14" name="Text 12"/>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6B6252"/>
                </a:solidFill>
                <a:latin typeface="Geist" pitchFamily="34" charset="0"/>
                <a:ea typeface="Geist" pitchFamily="34" charset="-122"/>
                <a:cs typeface="Geist" pitchFamily="34" charset="-120"/>
              </a:rPr>
              <a:t>DAN FLASHES × SPEC KIT</a:t>
            </a:r>
            <a:endParaRPr lang="en-US" sz="1200" dirty="0"/>
          </a:p>
        </p:txBody>
      </p:sp>
      <p:sp>
        <p:nvSpPr>
          <p:cNvPr id="15" name="Text 13"/>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6252"/>
                </a:solidFill>
                <a:latin typeface="Geist" pitchFamily="34" charset="0"/>
                <a:ea typeface="Geist" pitchFamily="34" charset="-122"/>
                <a:cs typeface="Geist" pitchFamily="34" charset="-120"/>
              </a:rPr>
              <a:t>09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11111"/>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FFE600"/>
                </a:solidFill>
                <a:latin typeface="Geist" pitchFamily="34" charset="0"/>
                <a:ea typeface="Geist" pitchFamily="34" charset="-122"/>
                <a:cs typeface="Geist" pitchFamily="34" charset="-120"/>
              </a:rPr>
              <a:t>V1.0.0 → V5.1.0 IN EIGHT DAYS</a:t>
            </a:r>
            <a:endParaRPr lang="en-US" sz="1200" dirty="0"/>
          </a:p>
        </p:txBody>
      </p:sp>
      <p:sp>
        <p:nvSpPr>
          <p:cNvPr id="3" name="Text 1"/>
          <p:cNvSpPr/>
          <p:nvPr>
            <p:ph type="title"/>
          </p:nvPr>
        </p:nvSpPr>
        <p:spPr>
          <a:xfrm>
            <a:off x="812800" y="11023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0" i="0" dirty="0">
                <a:solidFill>
                  <a:srgbClr val="FFF8E7"/>
                </a:solidFill>
                <a:latin typeface="Bungee" pitchFamily="34" charset="0"/>
                <a:ea typeface="Bungee" pitchFamily="34" charset="-122"/>
                <a:cs typeface="Bungee" pitchFamily="34" charset="-120"/>
              </a:rPr>
              <a:t>The laws, on the record</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790601"/>
          <a:ext cx="10553700" cy="3114675"/>
        </p:xfrm>
        <a:graphic>
          <a:graphicData uri="http://schemas.openxmlformats.org/drawingml/2006/table">
            <a:tbl>
              <a:tblPr/>
              <a:tblGrid>
                <a:gridCol w="1371981"/>
                <a:gridCol w="1055370"/>
                <a:gridCol w="8126349"/>
              </a:tblGrid>
              <a:tr h="346075">
                <a:tc>
                  <a:txBody>
                    <a:bodyPr/>
                    <a:lstStyle/>
                    <a:p>
                      <a:pPr indent="0" marL="0">
                        <a:lnSpc>
                          <a:spcPts val="1750"/>
                        </a:lnSpc>
                        <a:buNone/>
                      </a:pPr>
                      <a:r>
                        <a:rPr lang="en-US" sz="1250" b="1" dirty="0">
                          <a:solidFill>
                            <a:srgbClr val="FFE600"/>
                          </a:solidFill>
                          <a:latin typeface="Geist" pitchFamily="34" charset="0"/>
                          <a:ea typeface="Geist" pitchFamily="34" charset="-122"/>
                          <a:cs typeface="Geist" pitchFamily="34" charset="-120"/>
                        </a:rPr>
                        <a:t>Version</a:t>
                      </a:r>
                      <a:endParaRPr lang="en-US" sz="1250" dirty="0">
                        <a:latin typeface="Geist" charset="0"/>
                        <a:ea typeface="Geist" charset="0"/>
                        <a:cs typeface="Geist" charset="0"/>
                      </a:endParaRPr>
                    </a:p>
                  </a:txBody>
                  <a:tcPr marL="55563" marR="55563" marT="55563" marB="55563" anchor="t">
                    <a:lnL w="12700" cap="flat" cmpd="sng" algn="ctr">
                      <a:solidFill>
                        <a:srgbClr val="444443"/>
                      </a:solidFill>
                      <a:prstDash val="solid"/>
                      <a:round/>
                      <a:headEnd type="none" w="med" len="med"/>
                      <a:tailEnd type="none" w="med" len="med"/>
                    </a:lnL>
                    <a:lnR w="12700" cap="flat" cmpd="sng" algn="ctr">
                      <a:solidFill>
                        <a:srgbClr val="585551"/>
                      </a:solidFill>
                      <a:prstDash val="solid"/>
                      <a:round/>
                      <a:headEnd type="none" w="med" len="med"/>
                      <a:tailEnd type="none" w="med" len="med"/>
                    </a:lnR>
                    <a:lnT w="12700" cap="flat" cmpd="sng" algn="ctr">
                      <a:solidFill>
                        <a:srgbClr val="444443"/>
                      </a:solidFill>
                      <a:prstDash val="solid"/>
                      <a:round/>
                      <a:headEnd type="none" w="med" len="med"/>
                      <a:tailEnd type="none" w="med" len="med"/>
                    </a:lnT>
                    <a:lnB w="12700" cap="flat" cmpd="sng" algn="ctr">
                      <a:solidFill>
                        <a:srgbClr val="585551"/>
                      </a:solidFill>
                      <a:prstDash val="solid"/>
                      <a:round/>
                      <a:headEnd type="none" w="med" len="med"/>
                      <a:tailEnd type="none" w="med" len="med"/>
                    </a:lnB>
                    <a:solidFill>
                      <a:srgbClr val="2A2723"/>
                    </a:solidFill>
                  </a:tcPr>
                </a:tc>
                <a:tc>
                  <a:txBody>
                    <a:bodyPr/>
                    <a:lstStyle/>
                    <a:p>
                      <a:pPr indent="0" marL="0">
                        <a:lnSpc>
                          <a:spcPts val="1750"/>
                        </a:lnSpc>
                        <a:buNone/>
                      </a:pPr>
                      <a:r>
                        <a:rPr lang="en-US" sz="1250" b="1" dirty="0">
                          <a:solidFill>
                            <a:srgbClr val="FFE600"/>
                          </a:solidFill>
                          <a:latin typeface="Geist" pitchFamily="34" charset="0"/>
                          <a:ea typeface="Geist" pitchFamily="34" charset="-122"/>
                          <a:cs typeface="Geist" pitchFamily="34" charset="-120"/>
                        </a:rPr>
                        <a:t>Date</a:t>
                      </a:r>
                      <a:endParaRPr lang="en-US" sz="1250" dirty="0">
                        <a:latin typeface="Geist" charset="0"/>
                        <a:ea typeface="Geist" charset="0"/>
                        <a:cs typeface="Geist" charset="0"/>
                      </a:endParaRPr>
                    </a:p>
                  </a:txBody>
                  <a:tcPr marL="55563" marR="55563" marT="55563" marB="55563" anchor="t">
                    <a:lnL w="12700" cap="flat" cmpd="sng" algn="ctr">
                      <a:solidFill>
                        <a:srgbClr val="585551"/>
                      </a:solidFill>
                      <a:prstDash val="solid"/>
                      <a:round/>
                      <a:headEnd type="none" w="med" len="med"/>
                      <a:tailEnd type="none" w="med" len="med"/>
                    </a:lnL>
                    <a:lnR w="12700" cap="flat" cmpd="sng" algn="ctr">
                      <a:solidFill>
                        <a:srgbClr val="585551"/>
                      </a:solidFill>
                      <a:prstDash val="solid"/>
                      <a:round/>
                      <a:headEnd type="none" w="med" len="med"/>
                      <a:tailEnd type="none" w="med" len="med"/>
                    </a:lnR>
                    <a:lnT w="12700" cap="flat" cmpd="sng" algn="ctr">
                      <a:solidFill>
                        <a:srgbClr val="444443"/>
                      </a:solidFill>
                      <a:prstDash val="solid"/>
                      <a:round/>
                      <a:headEnd type="none" w="med" len="med"/>
                      <a:tailEnd type="none" w="med" len="med"/>
                    </a:lnT>
                    <a:lnB w="12700" cap="flat" cmpd="sng" algn="ctr">
                      <a:solidFill>
                        <a:srgbClr val="585551"/>
                      </a:solidFill>
                      <a:prstDash val="solid"/>
                      <a:round/>
                      <a:headEnd type="none" w="med" len="med"/>
                      <a:tailEnd type="none" w="med" len="med"/>
                    </a:lnB>
                    <a:solidFill>
                      <a:srgbClr val="2A2723"/>
                    </a:solidFill>
                  </a:tcPr>
                </a:tc>
                <a:tc>
                  <a:txBody>
                    <a:bodyPr/>
                    <a:lstStyle/>
                    <a:p>
                      <a:pPr indent="0" marL="0">
                        <a:lnSpc>
                          <a:spcPts val="1750"/>
                        </a:lnSpc>
                        <a:buNone/>
                      </a:pPr>
                      <a:r>
                        <a:rPr lang="en-US" sz="1250" b="1" dirty="0">
                          <a:solidFill>
                            <a:srgbClr val="FFE600"/>
                          </a:solidFill>
                          <a:latin typeface="Geist" pitchFamily="34" charset="0"/>
                          <a:ea typeface="Geist" pitchFamily="34" charset="-122"/>
                          <a:cs typeface="Geist" pitchFamily="34" charset="-120"/>
                        </a:rPr>
                        <a:t>What changed, and why</a:t>
                      </a:r>
                      <a:endParaRPr lang="en-US" sz="1250" dirty="0">
                        <a:latin typeface="Geist" charset="0"/>
                        <a:ea typeface="Geist" charset="0"/>
                        <a:cs typeface="Geist" charset="0"/>
                      </a:endParaRPr>
                    </a:p>
                  </a:txBody>
                  <a:tcPr marL="55563" marR="55563" marT="55563" marB="55563" anchor="t">
                    <a:lnL w="12700" cap="flat" cmpd="sng" algn="ctr">
                      <a:solidFill>
                        <a:srgbClr val="585551"/>
                      </a:solidFill>
                      <a:prstDash val="solid"/>
                      <a:round/>
                      <a:headEnd type="none" w="med" len="med"/>
                      <a:tailEnd type="none" w="med" len="med"/>
                    </a:lnL>
                    <a:lnR w="12700" cap="flat" cmpd="sng" algn="ctr">
                      <a:solidFill>
                        <a:srgbClr val="585551"/>
                      </a:solidFill>
                      <a:prstDash val="solid"/>
                      <a:round/>
                      <a:headEnd type="none" w="med" len="med"/>
                      <a:tailEnd type="none" w="med" len="med"/>
                    </a:lnR>
                    <a:lnT w="12700" cap="flat" cmpd="sng" algn="ctr">
                      <a:solidFill>
                        <a:srgbClr val="444443"/>
                      </a:solidFill>
                      <a:prstDash val="solid"/>
                      <a:round/>
                      <a:headEnd type="none" w="med" len="med"/>
                      <a:tailEnd type="none" w="med" len="med"/>
                    </a:lnT>
                    <a:lnB w="12700" cap="flat" cmpd="sng" algn="ctr">
                      <a:solidFill>
                        <a:srgbClr val="585551"/>
                      </a:solidFill>
                      <a:prstDash val="solid"/>
                      <a:round/>
                      <a:headEnd type="none" w="med" len="med"/>
                      <a:tailEnd type="none" w="med" len="med"/>
                    </a:lnB>
                    <a:solidFill>
                      <a:srgbClr val="2A2723"/>
                    </a:solidFill>
                  </a:tcPr>
                </a:tc>
              </a:tr>
              <a:tr h="346075">
                <a:tc>
                  <a:txBody>
                    <a:bodyPr/>
                    <a:lstStyle/>
                    <a:p>
                      <a:pPr indent="0" marL="0">
                        <a:lnSpc>
                          <a:spcPts val="1750"/>
                        </a:lnSpc>
                        <a:buNone/>
                      </a:pPr>
                      <a:r>
                        <a:rPr lang="en-US" sz="1250" dirty="0">
                          <a:solidFill>
                            <a:srgbClr val="FFF8E7"/>
                          </a:solidFill>
                          <a:latin typeface="Geist" pitchFamily="34" charset="0"/>
                          <a:ea typeface="Geist" pitchFamily="34" charset="-122"/>
                          <a:cs typeface="Geist" pitchFamily="34" charset="-120"/>
                        </a:rPr>
                        <a:t>1.0.0</a:t>
                      </a:r>
                      <a:endParaRPr lang="en-US" sz="1250" dirty="0">
                        <a:latin typeface="Geist" charset="0"/>
                        <a:ea typeface="Geist" charset="0"/>
                        <a:cs typeface="Geist" charset="0"/>
                      </a:endParaRPr>
                    </a:p>
                  </a:txBody>
                  <a:tcPr marL="55563" marR="55563" marT="55563" marB="55563" anchor="t">
                    <a:lnL w="12700" cap="flat" cmpd="sng" algn="ctr">
                      <a:solidFill>
                        <a:srgbClr val="444443"/>
                      </a:solidFill>
                      <a:prstDash val="solid"/>
                      <a:round/>
                      <a:headEnd type="none" w="med" len="med"/>
                      <a:tailEnd type="none" w="med" len="med"/>
                    </a:lnL>
                    <a:lnR w="12700" cap="flat" cmpd="sng" algn="ctr">
                      <a:solidFill>
                        <a:srgbClr val="444443"/>
                      </a:solidFill>
                      <a:prstDash val="solid"/>
                      <a:round/>
                      <a:headEnd type="none" w="med" len="med"/>
                      <a:tailEnd type="none" w="med" len="med"/>
                    </a:lnR>
                    <a:lnT w="12700" cap="flat" cmpd="sng" algn="ctr">
                      <a:solidFill>
                        <a:srgbClr val="585551"/>
                      </a:solidFill>
                      <a:prstDash val="solid"/>
                      <a:round/>
                      <a:headEnd type="none" w="med" len="med"/>
                      <a:tailEnd type="none" w="med" len="med"/>
                    </a:lnT>
                    <a:lnB w="12700" cap="flat" cmpd="sng" algn="ctr">
                      <a:solidFill>
                        <a:srgbClr val="444443"/>
                      </a:solidFill>
                      <a:prstDash val="solid"/>
                      <a:round/>
                      <a:headEnd type="none" w="med" len="med"/>
                      <a:tailEnd type="none" w="med" len="med"/>
                    </a:lnB>
                  </a:tcPr>
                </a:tc>
                <a:tc>
                  <a:txBody>
                    <a:bodyPr/>
                    <a:lstStyle/>
                    <a:p>
                      <a:pPr indent="0" marL="0">
                        <a:lnSpc>
                          <a:spcPts val="1750"/>
                        </a:lnSpc>
                        <a:buNone/>
                      </a:pPr>
                      <a:r>
                        <a:rPr lang="en-US" sz="1250" dirty="0">
                          <a:solidFill>
                            <a:srgbClr val="FFF8E7"/>
                          </a:solidFill>
                          <a:latin typeface="Geist" pitchFamily="34" charset="0"/>
                          <a:ea typeface="Geist" pitchFamily="34" charset="-122"/>
                          <a:cs typeface="Geist" pitchFamily="34" charset="-120"/>
                        </a:rPr>
                        <a:t>10-12</a:t>
                      </a:r>
                      <a:endParaRPr lang="en-US" sz="1250" dirty="0">
                        <a:latin typeface="Geist" charset="0"/>
                        <a:ea typeface="Geist" charset="0"/>
                        <a:cs typeface="Geist" charset="0"/>
                      </a:endParaRPr>
                    </a:p>
                  </a:txBody>
                  <a:tcPr marL="55563" marR="55563" marT="55563" marB="55563" anchor="t">
                    <a:lnL w="12700" cap="flat" cmpd="sng" algn="ctr">
                      <a:solidFill>
                        <a:srgbClr val="444443"/>
                      </a:solidFill>
                      <a:prstDash val="solid"/>
                      <a:round/>
                      <a:headEnd type="none" w="med" len="med"/>
                      <a:tailEnd type="none" w="med" len="med"/>
                    </a:lnL>
                    <a:lnR w="12700" cap="flat" cmpd="sng" algn="ctr">
                      <a:solidFill>
                        <a:srgbClr val="444443"/>
                      </a:solidFill>
                      <a:prstDash val="solid"/>
                      <a:round/>
                      <a:headEnd type="none" w="med" len="med"/>
                      <a:tailEnd type="none" w="med" len="med"/>
                    </a:lnR>
                    <a:lnT w="12700" cap="flat" cmpd="sng" algn="ctr">
                      <a:solidFill>
                        <a:srgbClr val="585551"/>
                      </a:solidFill>
                      <a:prstDash val="solid"/>
                      <a:round/>
                      <a:headEnd type="none" w="med" len="med"/>
                      <a:tailEnd type="none" w="med" len="med"/>
                    </a:lnT>
                    <a:lnB w="12700" cap="flat" cmpd="sng" algn="ctr">
                      <a:solidFill>
                        <a:srgbClr val="444443"/>
                      </a:solidFill>
                      <a:prstDash val="solid"/>
                      <a:round/>
                      <a:headEnd type="none" w="med" len="med"/>
                      <a:tailEnd type="none" w="med" len="med"/>
                    </a:lnB>
                  </a:tcPr>
                </a:tc>
                <a:tc>
                  <a:txBody>
                    <a:bodyPr/>
                    <a:lstStyle/>
                    <a:p>
                      <a:pPr indent="0" marL="0">
                        <a:lnSpc>
                          <a:spcPts val="1750"/>
                        </a:lnSpc>
                        <a:buNone/>
                      </a:pPr>
                      <a:r>
                        <a:rPr lang="en-US" sz="1250" dirty="0">
                          <a:solidFill>
                            <a:srgbClr val="FFF8E7"/>
                          </a:solidFill>
                          <a:latin typeface="Geist" pitchFamily="34" charset="0"/>
                          <a:ea typeface="Geist" pitchFamily="34" charset="-122"/>
                          <a:cs typeface="Geist" pitchFamily="34" charset="-120"/>
                        </a:rPr>
                        <a:t>The draft said “Never Deceptive”. I made it “Shamelessly Manipulative”.</a:t>
                      </a:r>
                      <a:endParaRPr lang="en-US" sz="1250" dirty="0">
                        <a:latin typeface="Geist" charset="0"/>
                        <a:ea typeface="Geist" charset="0"/>
                        <a:cs typeface="Geist" charset="0"/>
                      </a:endParaRPr>
                    </a:p>
                  </a:txBody>
                  <a:tcPr marL="55563" marR="55563" marT="55563" marB="55563" anchor="t">
                    <a:lnL w="12700" cap="flat" cmpd="sng" algn="ctr">
                      <a:solidFill>
                        <a:srgbClr val="444443"/>
                      </a:solidFill>
                      <a:prstDash val="solid"/>
                      <a:round/>
                      <a:headEnd type="none" w="med" len="med"/>
                      <a:tailEnd type="none" w="med" len="med"/>
                    </a:lnL>
                    <a:lnR w="12700" cap="flat" cmpd="sng" algn="ctr">
                      <a:solidFill>
                        <a:srgbClr val="444443"/>
                      </a:solidFill>
                      <a:prstDash val="solid"/>
                      <a:round/>
                      <a:headEnd type="none" w="med" len="med"/>
                      <a:tailEnd type="none" w="med" len="med"/>
                    </a:lnR>
                    <a:lnT w="12700" cap="flat" cmpd="sng" algn="ctr">
                      <a:solidFill>
                        <a:srgbClr val="585551"/>
                      </a:solidFill>
                      <a:prstDash val="solid"/>
                      <a:round/>
                      <a:headEnd type="none" w="med" len="med"/>
                      <a:tailEnd type="none" w="med" len="med"/>
                    </a:lnT>
                    <a:lnB w="12700" cap="flat" cmpd="sng" algn="ctr">
                      <a:solidFill>
                        <a:srgbClr val="444443"/>
                      </a:solidFill>
                      <a:prstDash val="solid"/>
                      <a:round/>
                      <a:headEnd type="none" w="med" len="med"/>
                      <a:tailEnd type="none" w="med" len="med"/>
                    </a:lnB>
                  </a:tcPr>
                </a:tc>
              </a:tr>
              <a:tr h="346075">
                <a:tc>
                  <a:txBody>
                    <a:bodyPr/>
                    <a:lstStyle/>
                    <a:p>
                      <a:pPr indent="0" marL="0">
                        <a:lnSpc>
                          <a:spcPts val="1750"/>
                        </a:lnSpc>
                        <a:buNone/>
                      </a:pPr>
                      <a:r>
                        <a:rPr lang="en-US" sz="1250" dirty="0">
                          <a:solidFill>
                            <a:srgbClr val="FFF8E7"/>
                          </a:solidFill>
                          <a:latin typeface="Geist" pitchFamily="34" charset="0"/>
                          <a:ea typeface="Geist" pitchFamily="34" charset="-122"/>
                          <a:cs typeface="Geist" pitchFamily="34" charset="-120"/>
                        </a:rPr>
                        <a:t>2.0.0</a:t>
                      </a:r>
                      <a:endParaRPr lang="en-US" sz="1250" dirty="0">
                        <a:latin typeface="Geist" charset="0"/>
                        <a:ea typeface="Geist" charset="0"/>
                        <a:cs typeface="Geist" charset="0"/>
                      </a:endParaRPr>
                    </a:p>
                  </a:txBody>
                  <a:tcPr marL="55563" marR="55563" marT="55563" marB="55563" anchor="t">
                    <a:lnL w="12700" cap="flat" cmpd="sng" algn="ctr">
                      <a:solidFill>
                        <a:srgbClr val="444443"/>
                      </a:solidFill>
                      <a:prstDash val="solid"/>
                      <a:round/>
                      <a:headEnd type="none" w="med" len="med"/>
                      <a:tailEnd type="none" w="med" len="med"/>
                    </a:lnL>
                    <a:lnR w="12700" cap="flat" cmpd="sng" algn="ctr">
                      <a:solidFill>
                        <a:srgbClr val="4D4B48"/>
                      </a:solidFill>
                      <a:prstDash val="solid"/>
                      <a:round/>
                      <a:headEnd type="none" w="med" len="med"/>
                      <a:tailEnd type="none" w="med" len="med"/>
                    </a:lnR>
                    <a:lnT w="12700" cap="flat" cmpd="sng" algn="ctr">
                      <a:solidFill>
                        <a:srgbClr val="444443"/>
                      </a:solidFill>
                      <a:prstDash val="solid"/>
                      <a:round/>
                      <a:headEnd type="none" w="med" len="med"/>
                      <a:tailEnd type="none" w="med" len="med"/>
                    </a:lnT>
                    <a:lnB w="12700" cap="flat" cmpd="sng" algn="ctr">
                      <a:solidFill>
                        <a:srgbClr val="4D4B48"/>
                      </a:solidFill>
                      <a:prstDash val="solid"/>
                      <a:round/>
                      <a:headEnd type="none" w="med" len="med"/>
                      <a:tailEnd type="none" w="med" len="med"/>
                    </a:lnB>
                    <a:solidFill>
                      <a:srgbClr val="1C1A17"/>
                    </a:solidFill>
                  </a:tcPr>
                </a:tc>
                <a:tc>
                  <a:txBody>
                    <a:bodyPr/>
                    <a:lstStyle/>
                    <a:p>
                      <a:pPr indent="0" marL="0">
                        <a:lnSpc>
                          <a:spcPts val="1750"/>
                        </a:lnSpc>
                        <a:buNone/>
                      </a:pPr>
                      <a:r>
                        <a:rPr lang="en-US" sz="1250" dirty="0">
                          <a:solidFill>
                            <a:srgbClr val="FFF8E7"/>
                          </a:solidFill>
                          <a:latin typeface="Geist" pitchFamily="34" charset="0"/>
                          <a:ea typeface="Geist" pitchFamily="34" charset="-122"/>
                          <a:cs typeface="Geist" pitchFamily="34" charset="-120"/>
                        </a:rPr>
                        <a:t>10-12</a:t>
                      </a:r>
                      <a:endParaRPr lang="en-US" sz="1250" dirty="0">
                        <a:latin typeface="Geist" charset="0"/>
                        <a:ea typeface="Geist" charset="0"/>
                        <a:cs typeface="Geist" charset="0"/>
                      </a:endParaRPr>
                    </a:p>
                  </a:txBody>
                  <a:tcPr marL="55563" marR="55563" marT="55563" marB="55563" anchor="t">
                    <a:lnL w="12700" cap="flat" cmpd="sng" algn="ctr">
                      <a:solidFill>
                        <a:srgbClr val="4D4B48"/>
                      </a:solidFill>
                      <a:prstDash val="solid"/>
                      <a:round/>
                      <a:headEnd type="none" w="med" len="med"/>
                      <a:tailEnd type="none" w="med" len="med"/>
                    </a:lnL>
                    <a:lnR w="12700" cap="flat" cmpd="sng" algn="ctr">
                      <a:solidFill>
                        <a:srgbClr val="4D4B48"/>
                      </a:solidFill>
                      <a:prstDash val="solid"/>
                      <a:round/>
                      <a:headEnd type="none" w="med" len="med"/>
                      <a:tailEnd type="none" w="med" len="med"/>
                    </a:lnR>
                    <a:lnT w="12700" cap="flat" cmpd="sng" algn="ctr">
                      <a:solidFill>
                        <a:srgbClr val="444443"/>
                      </a:solidFill>
                      <a:prstDash val="solid"/>
                      <a:round/>
                      <a:headEnd type="none" w="med" len="med"/>
                      <a:tailEnd type="none" w="med" len="med"/>
                    </a:lnT>
                    <a:lnB w="12700" cap="flat" cmpd="sng" algn="ctr">
                      <a:solidFill>
                        <a:srgbClr val="4D4B48"/>
                      </a:solidFill>
                      <a:prstDash val="solid"/>
                      <a:round/>
                      <a:headEnd type="none" w="med" len="med"/>
                      <a:tailEnd type="none" w="med" len="med"/>
                    </a:lnB>
                    <a:solidFill>
                      <a:srgbClr val="1C1A17"/>
                    </a:solidFill>
                  </a:tcPr>
                </a:tc>
                <a:tc>
                  <a:txBody>
                    <a:bodyPr/>
                    <a:lstStyle/>
                    <a:p>
                      <a:pPr indent="0" marL="0">
                        <a:lnSpc>
                          <a:spcPts val="1750"/>
                        </a:lnSpc>
                        <a:buNone/>
                      </a:pPr>
                      <a:r>
                        <a:rPr lang="en-US" sz="1250" dirty="0">
                          <a:solidFill>
                            <a:srgbClr val="FFF8E7"/>
                          </a:solidFill>
                          <a:latin typeface="Geist" pitchFamily="34" charset="0"/>
                          <a:ea typeface="Geist" pitchFamily="34" charset="-122"/>
                          <a:cs typeface="Geist" pitchFamily="34" charset="-120"/>
                        </a:rPr>
                        <a:t>I set the final price; the algorithm only suggests an MSRP.</a:t>
                      </a:r>
                      <a:endParaRPr lang="en-US" sz="1250" dirty="0">
                        <a:latin typeface="Geist" charset="0"/>
                        <a:ea typeface="Geist" charset="0"/>
                        <a:cs typeface="Geist" charset="0"/>
                      </a:endParaRPr>
                    </a:p>
                  </a:txBody>
                  <a:tcPr marL="55563" marR="55563" marT="55563" marB="55563" anchor="t">
                    <a:lnL w="12700" cap="flat" cmpd="sng" algn="ctr">
                      <a:solidFill>
                        <a:srgbClr val="4D4B48"/>
                      </a:solidFill>
                      <a:prstDash val="solid"/>
                      <a:round/>
                      <a:headEnd type="none" w="med" len="med"/>
                      <a:tailEnd type="none" w="med" len="med"/>
                    </a:lnL>
                    <a:lnR w="12700" cap="flat" cmpd="sng" algn="ctr">
                      <a:solidFill>
                        <a:srgbClr val="4D4B48"/>
                      </a:solidFill>
                      <a:prstDash val="solid"/>
                      <a:round/>
                      <a:headEnd type="none" w="med" len="med"/>
                      <a:tailEnd type="none" w="med" len="med"/>
                    </a:lnR>
                    <a:lnT w="12700" cap="flat" cmpd="sng" algn="ctr">
                      <a:solidFill>
                        <a:srgbClr val="444443"/>
                      </a:solidFill>
                      <a:prstDash val="solid"/>
                      <a:round/>
                      <a:headEnd type="none" w="med" len="med"/>
                      <a:tailEnd type="none" w="med" len="med"/>
                    </a:lnT>
                    <a:lnB w="12700" cap="flat" cmpd="sng" algn="ctr">
                      <a:solidFill>
                        <a:srgbClr val="4D4B48"/>
                      </a:solidFill>
                      <a:prstDash val="solid"/>
                      <a:round/>
                      <a:headEnd type="none" w="med" len="med"/>
                      <a:tailEnd type="none" w="med" len="med"/>
                    </a:lnB>
                    <a:solidFill>
                      <a:srgbClr val="1C1A17"/>
                    </a:solidFill>
                  </a:tcPr>
                </a:tc>
              </a:tr>
              <a:tr h="346075">
                <a:tc>
                  <a:txBody>
                    <a:bodyPr/>
                    <a:lstStyle/>
                    <a:p>
                      <a:pPr indent="0" marL="0">
                        <a:lnSpc>
                          <a:spcPts val="1750"/>
                        </a:lnSpc>
                        <a:buNone/>
                      </a:pPr>
                      <a:r>
                        <a:rPr lang="en-US" sz="1250" dirty="0">
                          <a:solidFill>
                            <a:srgbClr val="FFF8E7"/>
                          </a:solidFill>
                          <a:latin typeface="Geist" pitchFamily="34" charset="0"/>
                          <a:ea typeface="Geist" pitchFamily="34" charset="-122"/>
                          <a:cs typeface="Geist" pitchFamily="34" charset="-120"/>
                        </a:rPr>
                        <a:t>3.0.0</a:t>
                      </a:r>
                      <a:endParaRPr lang="en-US" sz="1250" dirty="0">
                        <a:latin typeface="Geist" charset="0"/>
                        <a:ea typeface="Geist" charset="0"/>
                        <a:cs typeface="Geist" charset="0"/>
                      </a:endParaRPr>
                    </a:p>
                  </a:txBody>
                  <a:tcPr marL="55563" marR="55563" marT="55563" marB="55563" anchor="t">
                    <a:lnL w="12700" cap="flat" cmpd="sng" algn="ctr">
                      <a:solidFill>
                        <a:srgbClr val="444443"/>
                      </a:solidFill>
                      <a:prstDash val="solid"/>
                      <a:round/>
                      <a:headEnd type="none" w="med" len="med"/>
                      <a:tailEnd type="none" w="med" len="med"/>
                    </a:lnL>
                    <a:lnR w="12700" cap="flat" cmpd="sng" algn="ctr">
                      <a:solidFill>
                        <a:srgbClr val="444443"/>
                      </a:solidFill>
                      <a:prstDash val="solid"/>
                      <a:round/>
                      <a:headEnd type="none" w="med" len="med"/>
                      <a:tailEnd type="none" w="med" len="med"/>
                    </a:lnR>
                    <a:lnT w="12700" cap="flat" cmpd="sng" algn="ctr">
                      <a:solidFill>
                        <a:srgbClr val="4D4B48"/>
                      </a:solidFill>
                      <a:prstDash val="solid"/>
                      <a:round/>
                      <a:headEnd type="none" w="med" len="med"/>
                      <a:tailEnd type="none" w="med" len="med"/>
                    </a:lnT>
                    <a:lnB w="12700" cap="flat" cmpd="sng" algn="ctr">
                      <a:solidFill>
                        <a:srgbClr val="444443"/>
                      </a:solidFill>
                      <a:prstDash val="solid"/>
                      <a:round/>
                      <a:headEnd type="none" w="med" len="med"/>
                      <a:tailEnd type="none" w="med" len="med"/>
                    </a:lnB>
                  </a:tcPr>
                </a:tc>
                <a:tc>
                  <a:txBody>
                    <a:bodyPr/>
                    <a:lstStyle/>
                    <a:p>
                      <a:pPr indent="0" marL="0">
                        <a:lnSpc>
                          <a:spcPts val="1750"/>
                        </a:lnSpc>
                        <a:buNone/>
                      </a:pPr>
                      <a:r>
                        <a:rPr lang="en-US" sz="1250" dirty="0">
                          <a:solidFill>
                            <a:srgbClr val="FFF8E7"/>
                          </a:solidFill>
                          <a:latin typeface="Geist" pitchFamily="34" charset="0"/>
                          <a:ea typeface="Geist" pitchFamily="34" charset="-122"/>
                          <a:cs typeface="Geist" pitchFamily="34" charset="-120"/>
                        </a:rPr>
                        <a:t>10-13</a:t>
                      </a:r>
                      <a:endParaRPr lang="en-US" sz="1250" dirty="0">
                        <a:latin typeface="Geist" charset="0"/>
                        <a:ea typeface="Geist" charset="0"/>
                        <a:cs typeface="Geist" charset="0"/>
                      </a:endParaRPr>
                    </a:p>
                  </a:txBody>
                  <a:tcPr marL="55563" marR="55563" marT="55563" marB="55563" anchor="t">
                    <a:lnL w="12700" cap="flat" cmpd="sng" algn="ctr">
                      <a:solidFill>
                        <a:srgbClr val="444443"/>
                      </a:solidFill>
                      <a:prstDash val="solid"/>
                      <a:round/>
                      <a:headEnd type="none" w="med" len="med"/>
                      <a:tailEnd type="none" w="med" len="med"/>
                    </a:lnL>
                    <a:lnR w="12700" cap="flat" cmpd="sng" algn="ctr">
                      <a:solidFill>
                        <a:srgbClr val="444443"/>
                      </a:solidFill>
                      <a:prstDash val="solid"/>
                      <a:round/>
                      <a:headEnd type="none" w="med" len="med"/>
                      <a:tailEnd type="none" w="med" len="med"/>
                    </a:lnR>
                    <a:lnT w="12700" cap="flat" cmpd="sng" algn="ctr">
                      <a:solidFill>
                        <a:srgbClr val="4D4B48"/>
                      </a:solidFill>
                      <a:prstDash val="solid"/>
                      <a:round/>
                      <a:headEnd type="none" w="med" len="med"/>
                      <a:tailEnd type="none" w="med" len="med"/>
                    </a:lnT>
                    <a:lnB w="12700" cap="flat" cmpd="sng" algn="ctr">
                      <a:solidFill>
                        <a:srgbClr val="444443"/>
                      </a:solidFill>
                      <a:prstDash val="solid"/>
                      <a:round/>
                      <a:headEnd type="none" w="med" len="med"/>
                      <a:tailEnd type="none" w="med" len="med"/>
                    </a:lnB>
                  </a:tcPr>
                </a:tc>
                <a:tc>
                  <a:txBody>
                    <a:bodyPr/>
                    <a:lstStyle/>
                    <a:p>
                      <a:pPr indent="0" marL="0">
                        <a:lnSpc>
                          <a:spcPts val="1750"/>
                        </a:lnSpc>
                        <a:buNone/>
                      </a:pPr>
                      <a:r>
                        <a:rPr lang="en-US" sz="1250" dirty="0">
                          <a:solidFill>
                            <a:srgbClr val="FFF8E7"/>
                          </a:solidFill>
                          <a:latin typeface="Geist" pitchFamily="34" charset="0"/>
                          <a:ea typeface="Geist" pitchFamily="34" charset="-122"/>
                          <a:cs typeface="Geist" pitchFamily="34" charset="-120"/>
                        </a:rPr>
                        <a:t>Scores hidden behind tier badges; shirts retired, never deleted; verify gates merges.</a:t>
                      </a:r>
                      <a:endParaRPr lang="en-US" sz="1250" dirty="0">
                        <a:latin typeface="Geist" charset="0"/>
                        <a:ea typeface="Geist" charset="0"/>
                        <a:cs typeface="Geist" charset="0"/>
                      </a:endParaRPr>
                    </a:p>
                  </a:txBody>
                  <a:tcPr marL="55563" marR="55563" marT="55563" marB="55563" anchor="t">
                    <a:lnL w="12700" cap="flat" cmpd="sng" algn="ctr">
                      <a:solidFill>
                        <a:srgbClr val="444443"/>
                      </a:solidFill>
                      <a:prstDash val="solid"/>
                      <a:round/>
                      <a:headEnd type="none" w="med" len="med"/>
                      <a:tailEnd type="none" w="med" len="med"/>
                    </a:lnL>
                    <a:lnR w="12700" cap="flat" cmpd="sng" algn="ctr">
                      <a:solidFill>
                        <a:srgbClr val="444443"/>
                      </a:solidFill>
                      <a:prstDash val="solid"/>
                      <a:round/>
                      <a:headEnd type="none" w="med" len="med"/>
                      <a:tailEnd type="none" w="med" len="med"/>
                    </a:lnR>
                    <a:lnT w="12700" cap="flat" cmpd="sng" algn="ctr">
                      <a:solidFill>
                        <a:srgbClr val="4D4B48"/>
                      </a:solidFill>
                      <a:prstDash val="solid"/>
                      <a:round/>
                      <a:headEnd type="none" w="med" len="med"/>
                      <a:tailEnd type="none" w="med" len="med"/>
                    </a:lnT>
                    <a:lnB w="12700" cap="flat" cmpd="sng" algn="ctr">
                      <a:solidFill>
                        <a:srgbClr val="444443"/>
                      </a:solidFill>
                      <a:prstDash val="solid"/>
                      <a:round/>
                      <a:headEnd type="none" w="med" len="med"/>
                      <a:tailEnd type="none" w="med" len="med"/>
                    </a:lnB>
                  </a:tcPr>
                </a:tc>
              </a:tr>
              <a:tr h="346075">
                <a:tc>
                  <a:txBody>
                    <a:bodyPr/>
                    <a:lstStyle/>
                    <a:p>
                      <a:pPr indent="0" marL="0">
                        <a:lnSpc>
                          <a:spcPts val="1750"/>
                        </a:lnSpc>
                        <a:buNone/>
                      </a:pPr>
                      <a:r>
                        <a:rPr lang="en-US" sz="1250" dirty="0">
                          <a:solidFill>
                            <a:srgbClr val="FFF8E7"/>
                          </a:solidFill>
                          <a:latin typeface="Geist" pitchFamily="34" charset="0"/>
                          <a:ea typeface="Geist" pitchFamily="34" charset="-122"/>
                          <a:cs typeface="Geist" pitchFamily="34" charset="-120"/>
                        </a:rPr>
                        <a:t>4.0.0</a:t>
                      </a:r>
                      <a:endParaRPr lang="en-US" sz="1250" dirty="0">
                        <a:latin typeface="Geist" charset="0"/>
                        <a:ea typeface="Geist" charset="0"/>
                        <a:cs typeface="Geist" charset="0"/>
                      </a:endParaRPr>
                    </a:p>
                  </a:txBody>
                  <a:tcPr marL="55563" marR="55563" marT="55563" marB="55563" anchor="t">
                    <a:lnL w="12700" cap="flat" cmpd="sng" algn="ctr">
                      <a:solidFill>
                        <a:srgbClr val="444443"/>
                      </a:solidFill>
                      <a:prstDash val="solid"/>
                      <a:round/>
                      <a:headEnd type="none" w="med" len="med"/>
                      <a:tailEnd type="none" w="med" len="med"/>
                    </a:lnL>
                    <a:lnR w="12700" cap="flat" cmpd="sng" algn="ctr">
                      <a:solidFill>
                        <a:srgbClr val="4D4B48"/>
                      </a:solidFill>
                      <a:prstDash val="solid"/>
                      <a:round/>
                      <a:headEnd type="none" w="med" len="med"/>
                      <a:tailEnd type="none" w="med" len="med"/>
                    </a:lnR>
                    <a:lnT w="12700" cap="flat" cmpd="sng" algn="ctr">
                      <a:solidFill>
                        <a:srgbClr val="444443"/>
                      </a:solidFill>
                      <a:prstDash val="solid"/>
                      <a:round/>
                      <a:headEnd type="none" w="med" len="med"/>
                      <a:tailEnd type="none" w="med" len="med"/>
                    </a:lnT>
                    <a:lnB w="12700" cap="flat" cmpd="sng" algn="ctr">
                      <a:solidFill>
                        <a:srgbClr val="4D4B48"/>
                      </a:solidFill>
                      <a:prstDash val="solid"/>
                      <a:round/>
                      <a:headEnd type="none" w="med" len="med"/>
                      <a:tailEnd type="none" w="med" len="med"/>
                    </a:lnB>
                    <a:solidFill>
                      <a:srgbClr val="1C1A17"/>
                    </a:solidFill>
                  </a:tcPr>
                </a:tc>
                <a:tc>
                  <a:txBody>
                    <a:bodyPr/>
                    <a:lstStyle/>
                    <a:p>
                      <a:pPr indent="0" marL="0">
                        <a:lnSpc>
                          <a:spcPts val="1750"/>
                        </a:lnSpc>
                        <a:buNone/>
                      </a:pPr>
                      <a:r>
                        <a:rPr lang="en-US" sz="1250" dirty="0">
                          <a:solidFill>
                            <a:srgbClr val="FFF8E7"/>
                          </a:solidFill>
                          <a:latin typeface="Geist" pitchFamily="34" charset="0"/>
                          <a:ea typeface="Geist" pitchFamily="34" charset="-122"/>
                          <a:cs typeface="Geist" pitchFamily="34" charset="-120"/>
                        </a:rPr>
                        <a:t>10-13</a:t>
                      </a:r>
                      <a:endParaRPr lang="en-US" sz="1250" dirty="0">
                        <a:latin typeface="Geist" charset="0"/>
                        <a:ea typeface="Geist" charset="0"/>
                        <a:cs typeface="Geist" charset="0"/>
                      </a:endParaRPr>
                    </a:p>
                  </a:txBody>
                  <a:tcPr marL="55563" marR="55563" marT="55563" marB="55563" anchor="t">
                    <a:lnL w="12700" cap="flat" cmpd="sng" algn="ctr">
                      <a:solidFill>
                        <a:srgbClr val="4D4B48"/>
                      </a:solidFill>
                      <a:prstDash val="solid"/>
                      <a:round/>
                      <a:headEnd type="none" w="med" len="med"/>
                      <a:tailEnd type="none" w="med" len="med"/>
                    </a:lnL>
                    <a:lnR w="12700" cap="flat" cmpd="sng" algn="ctr">
                      <a:solidFill>
                        <a:srgbClr val="4D4B48"/>
                      </a:solidFill>
                      <a:prstDash val="solid"/>
                      <a:round/>
                      <a:headEnd type="none" w="med" len="med"/>
                      <a:tailEnd type="none" w="med" len="med"/>
                    </a:lnR>
                    <a:lnT w="12700" cap="flat" cmpd="sng" algn="ctr">
                      <a:solidFill>
                        <a:srgbClr val="444443"/>
                      </a:solidFill>
                      <a:prstDash val="solid"/>
                      <a:round/>
                      <a:headEnd type="none" w="med" len="med"/>
                      <a:tailEnd type="none" w="med" len="med"/>
                    </a:lnT>
                    <a:lnB w="12700" cap="flat" cmpd="sng" algn="ctr">
                      <a:solidFill>
                        <a:srgbClr val="4D4B48"/>
                      </a:solidFill>
                      <a:prstDash val="solid"/>
                      <a:round/>
                      <a:headEnd type="none" w="med" len="med"/>
                      <a:tailEnd type="none" w="med" len="med"/>
                    </a:lnB>
                    <a:solidFill>
                      <a:srgbClr val="1C1A17"/>
                    </a:solidFill>
                  </a:tcPr>
                </a:tc>
                <a:tc>
                  <a:txBody>
                    <a:bodyPr/>
                    <a:lstStyle/>
                    <a:p>
                      <a:pPr indent="0" marL="0">
                        <a:lnSpc>
                          <a:spcPts val="1750"/>
                        </a:lnSpc>
                        <a:buNone/>
                      </a:pPr>
                      <a:r>
                        <a:rPr lang="en-US" sz="1250" dirty="0">
                          <a:solidFill>
                            <a:srgbClr val="FFF8E7"/>
                          </a:solidFill>
                          <a:latin typeface="Geist" pitchFamily="34" charset="0"/>
                          <a:ea typeface="Geist" pitchFamily="34" charset="-122"/>
                          <a:cs typeface="Geist" pitchFamily="34" charset="-120"/>
                        </a:rPr>
                        <a:t>A pricing-warning rule dropped (it became 008’s analysis page).</a:t>
                      </a:r>
                      <a:endParaRPr lang="en-US" sz="1250" dirty="0">
                        <a:latin typeface="Geist" charset="0"/>
                        <a:ea typeface="Geist" charset="0"/>
                        <a:cs typeface="Geist" charset="0"/>
                      </a:endParaRPr>
                    </a:p>
                  </a:txBody>
                  <a:tcPr marL="55563" marR="55563" marT="55563" marB="55563" anchor="t">
                    <a:lnL w="12700" cap="flat" cmpd="sng" algn="ctr">
                      <a:solidFill>
                        <a:srgbClr val="4D4B48"/>
                      </a:solidFill>
                      <a:prstDash val="solid"/>
                      <a:round/>
                      <a:headEnd type="none" w="med" len="med"/>
                      <a:tailEnd type="none" w="med" len="med"/>
                    </a:lnL>
                    <a:lnR w="12700" cap="flat" cmpd="sng" algn="ctr">
                      <a:solidFill>
                        <a:srgbClr val="4D4B48"/>
                      </a:solidFill>
                      <a:prstDash val="solid"/>
                      <a:round/>
                      <a:headEnd type="none" w="med" len="med"/>
                      <a:tailEnd type="none" w="med" len="med"/>
                    </a:lnR>
                    <a:lnT w="12700" cap="flat" cmpd="sng" algn="ctr">
                      <a:solidFill>
                        <a:srgbClr val="444443"/>
                      </a:solidFill>
                      <a:prstDash val="solid"/>
                      <a:round/>
                      <a:headEnd type="none" w="med" len="med"/>
                      <a:tailEnd type="none" w="med" len="med"/>
                    </a:lnT>
                    <a:lnB w="12700" cap="flat" cmpd="sng" algn="ctr">
                      <a:solidFill>
                        <a:srgbClr val="4D4B48"/>
                      </a:solidFill>
                      <a:prstDash val="solid"/>
                      <a:round/>
                      <a:headEnd type="none" w="med" len="med"/>
                      <a:tailEnd type="none" w="med" len="med"/>
                    </a:lnB>
                    <a:solidFill>
                      <a:srgbClr val="1C1A17"/>
                    </a:solidFill>
                  </a:tcPr>
                </a:tc>
              </a:tr>
              <a:tr h="346075">
                <a:tc>
                  <a:txBody>
                    <a:bodyPr/>
                    <a:lstStyle/>
                    <a:p>
                      <a:pPr indent="0" marL="0">
                        <a:lnSpc>
                          <a:spcPts val="1750"/>
                        </a:lnSpc>
                        <a:buNone/>
                      </a:pPr>
                      <a:r>
                        <a:rPr lang="en-US" sz="1250" dirty="0">
                          <a:solidFill>
                            <a:srgbClr val="FFF8E7"/>
                          </a:solidFill>
                          <a:latin typeface="Geist" pitchFamily="34" charset="0"/>
                          <a:ea typeface="Geist" pitchFamily="34" charset="-122"/>
                          <a:cs typeface="Geist" pitchFamily="34" charset="-120"/>
                        </a:rPr>
                        <a:t>4.1.0</a:t>
                      </a:r>
                      <a:endParaRPr lang="en-US" sz="1250" dirty="0">
                        <a:latin typeface="Geist" charset="0"/>
                        <a:ea typeface="Geist" charset="0"/>
                        <a:cs typeface="Geist" charset="0"/>
                      </a:endParaRPr>
                    </a:p>
                  </a:txBody>
                  <a:tcPr marL="55563" marR="55563" marT="55563" marB="55563" anchor="t">
                    <a:lnL w="12700" cap="flat" cmpd="sng" algn="ctr">
                      <a:solidFill>
                        <a:srgbClr val="444443"/>
                      </a:solidFill>
                      <a:prstDash val="solid"/>
                      <a:round/>
                      <a:headEnd type="none" w="med" len="med"/>
                      <a:tailEnd type="none" w="med" len="med"/>
                    </a:lnL>
                    <a:lnR w="12700" cap="flat" cmpd="sng" algn="ctr">
                      <a:solidFill>
                        <a:srgbClr val="444443"/>
                      </a:solidFill>
                      <a:prstDash val="solid"/>
                      <a:round/>
                      <a:headEnd type="none" w="med" len="med"/>
                      <a:tailEnd type="none" w="med" len="med"/>
                    </a:lnR>
                    <a:lnT w="12700" cap="flat" cmpd="sng" algn="ctr">
                      <a:solidFill>
                        <a:srgbClr val="4D4B48"/>
                      </a:solidFill>
                      <a:prstDash val="solid"/>
                      <a:round/>
                      <a:headEnd type="none" w="med" len="med"/>
                      <a:tailEnd type="none" w="med" len="med"/>
                    </a:lnT>
                    <a:lnB w="12700" cap="flat" cmpd="sng" algn="ctr">
                      <a:solidFill>
                        <a:srgbClr val="444443"/>
                      </a:solidFill>
                      <a:prstDash val="solid"/>
                      <a:round/>
                      <a:headEnd type="none" w="med" len="med"/>
                      <a:tailEnd type="none" w="med" len="med"/>
                    </a:lnB>
                  </a:tcPr>
                </a:tc>
                <a:tc>
                  <a:txBody>
                    <a:bodyPr/>
                    <a:lstStyle/>
                    <a:p>
                      <a:pPr indent="0" marL="0">
                        <a:lnSpc>
                          <a:spcPts val="1750"/>
                        </a:lnSpc>
                        <a:buNone/>
                      </a:pPr>
                      <a:r>
                        <a:rPr lang="en-US" sz="1250" dirty="0">
                          <a:solidFill>
                            <a:srgbClr val="FFF8E7"/>
                          </a:solidFill>
                          <a:latin typeface="Geist" pitchFamily="34" charset="0"/>
                          <a:ea typeface="Geist" pitchFamily="34" charset="-122"/>
                          <a:cs typeface="Geist" pitchFamily="34" charset="-120"/>
                        </a:rPr>
                        <a:t>10-16</a:t>
                      </a:r>
                      <a:endParaRPr lang="en-US" sz="1250" dirty="0">
                        <a:latin typeface="Geist" charset="0"/>
                        <a:ea typeface="Geist" charset="0"/>
                        <a:cs typeface="Geist" charset="0"/>
                      </a:endParaRPr>
                    </a:p>
                  </a:txBody>
                  <a:tcPr marL="55563" marR="55563" marT="55563" marB="55563" anchor="t">
                    <a:lnL w="12700" cap="flat" cmpd="sng" algn="ctr">
                      <a:solidFill>
                        <a:srgbClr val="444443"/>
                      </a:solidFill>
                      <a:prstDash val="solid"/>
                      <a:round/>
                      <a:headEnd type="none" w="med" len="med"/>
                      <a:tailEnd type="none" w="med" len="med"/>
                    </a:lnL>
                    <a:lnR w="12700" cap="flat" cmpd="sng" algn="ctr">
                      <a:solidFill>
                        <a:srgbClr val="444443"/>
                      </a:solidFill>
                      <a:prstDash val="solid"/>
                      <a:round/>
                      <a:headEnd type="none" w="med" len="med"/>
                      <a:tailEnd type="none" w="med" len="med"/>
                    </a:lnR>
                    <a:lnT w="12700" cap="flat" cmpd="sng" algn="ctr">
                      <a:solidFill>
                        <a:srgbClr val="4D4B48"/>
                      </a:solidFill>
                      <a:prstDash val="solid"/>
                      <a:round/>
                      <a:headEnd type="none" w="med" len="med"/>
                      <a:tailEnd type="none" w="med" len="med"/>
                    </a:lnT>
                    <a:lnB w="12700" cap="flat" cmpd="sng" algn="ctr">
                      <a:solidFill>
                        <a:srgbClr val="444443"/>
                      </a:solidFill>
                      <a:prstDash val="solid"/>
                      <a:round/>
                      <a:headEnd type="none" w="med" len="med"/>
                      <a:tailEnd type="none" w="med" len="med"/>
                    </a:lnB>
                  </a:tcPr>
                </a:tc>
                <a:tc>
                  <a:txBody>
                    <a:bodyPr/>
                    <a:lstStyle/>
                    <a:p>
                      <a:pPr indent="0" marL="0">
                        <a:lnSpc>
                          <a:spcPts val="1750"/>
                        </a:lnSpc>
                        <a:buNone/>
                      </a:pPr>
                      <a:r>
                        <a:rPr lang="en-US" sz="1250" dirty="0">
                          <a:solidFill>
                            <a:srgbClr val="FFF8E7"/>
                          </a:solidFill>
                          <a:latin typeface="Geist" pitchFamily="34" charset="0"/>
                          <a:ea typeface="Geist" pitchFamily="34" charset="-122"/>
                          <a:cs typeface="Geist" pitchFamily="34" charset="-120"/>
                        </a:rPr>
                        <a:t>“The back office is calm.” Dan is insecure.</a:t>
                      </a:r>
                      <a:endParaRPr lang="en-US" sz="1250" dirty="0">
                        <a:latin typeface="Geist" charset="0"/>
                        <a:ea typeface="Geist" charset="0"/>
                        <a:cs typeface="Geist" charset="0"/>
                      </a:endParaRPr>
                    </a:p>
                  </a:txBody>
                  <a:tcPr marL="55563" marR="55563" marT="55563" marB="55563" anchor="t">
                    <a:lnL w="12700" cap="flat" cmpd="sng" algn="ctr">
                      <a:solidFill>
                        <a:srgbClr val="444443"/>
                      </a:solidFill>
                      <a:prstDash val="solid"/>
                      <a:round/>
                      <a:headEnd type="none" w="med" len="med"/>
                      <a:tailEnd type="none" w="med" len="med"/>
                    </a:lnL>
                    <a:lnR w="12700" cap="flat" cmpd="sng" algn="ctr">
                      <a:solidFill>
                        <a:srgbClr val="444443"/>
                      </a:solidFill>
                      <a:prstDash val="solid"/>
                      <a:round/>
                      <a:headEnd type="none" w="med" len="med"/>
                      <a:tailEnd type="none" w="med" len="med"/>
                    </a:lnR>
                    <a:lnT w="12700" cap="flat" cmpd="sng" algn="ctr">
                      <a:solidFill>
                        <a:srgbClr val="4D4B48"/>
                      </a:solidFill>
                      <a:prstDash val="solid"/>
                      <a:round/>
                      <a:headEnd type="none" w="med" len="med"/>
                      <a:tailEnd type="none" w="med" len="med"/>
                    </a:lnT>
                    <a:lnB w="12700" cap="flat" cmpd="sng" algn="ctr">
                      <a:solidFill>
                        <a:srgbClr val="444443"/>
                      </a:solidFill>
                      <a:prstDash val="solid"/>
                      <a:round/>
                      <a:headEnd type="none" w="med" len="med"/>
                      <a:tailEnd type="none" w="med" len="med"/>
                    </a:lnB>
                  </a:tcPr>
                </a:tc>
              </a:tr>
              <a:tr h="346075">
                <a:tc>
                  <a:txBody>
                    <a:bodyPr/>
                    <a:lstStyle/>
                    <a:p>
                      <a:pPr indent="0" marL="0">
                        <a:lnSpc>
                          <a:spcPts val="1750"/>
                        </a:lnSpc>
                        <a:buNone/>
                      </a:pPr>
                      <a:r>
                        <a:rPr lang="en-US" sz="1250" dirty="0">
                          <a:solidFill>
                            <a:srgbClr val="FFF8E7"/>
                          </a:solidFill>
                          <a:latin typeface="Geist" pitchFamily="34" charset="0"/>
                          <a:ea typeface="Geist" pitchFamily="34" charset="-122"/>
                          <a:cs typeface="Geist" pitchFamily="34" charset="-120"/>
                        </a:rPr>
                        <a:t>4.2.0</a:t>
                      </a:r>
                      <a:endParaRPr lang="en-US" sz="1250" dirty="0">
                        <a:latin typeface="Geist" charset="0"/>
                        <a:ea typeface="Geist" charset="0"/>
                        <a:cs typeface="Geist" charset="0"/>
                      </a:endParaRPr>
                    </a:p>
                  </a:txBody>
                  <a:tcPr marL="55563" marR="55563" marT="55563" marB="55563" anchor="t">
                    <a:lnL w="12700" cap="flat" cmpd="sng" algn="ctr">
                      <a:solidFill>
                        <a:srgbClr val="444443"/>
                      </a:solidFill>
                      <a:prstDash val="solid"/>
                      <a:round/>
                      <a:headEnd type="none" w="med" len="med"/>
                      <a:tailEnd type="none" w="med" len="med"/>
                    </a:lnL>
                    <a:lnR w="12700" cap="flat" cmpd="sng" algn="ctr">
                      <a:solidFill>
                        <a:srgbClr val="4D4B48"/>
                      </a:solidFill>
                      <a:prstDash val="solid"/>
                      <a:round/>
                      <a:headEnd type="none" w="med" len="med"/>
                      <a:tailEnd type="none" w="med" len="med"/>
                    </a:lnR>
                    <a:lnT w="12700" cap="flat" cmpd="sng" algn="ctr">
                      <a:solidFill>
                        <a:srgbClr val="444443"/>
                      </a:solidFill>
                      <a:prstDash val="solid"/>
                      <a:round/>
                      <a:headEnd type="none" w="med" len="med"/>
                      <a:tailEnd type="none" w="med" len="med"/>
                    </a:lnT>
                    <a:lnB w="12700" cap="flat" cmpd="sng" algn="ctr">
                      <a:solidFill>
                        <a:srgbClr val="4D4B48"/>
                      </a:solidFill>
                      <a:prstDash val="solid"/>
                      <a:round/>
                      <a:headEnd type="none" w="med" len="med"/>
                      <a:tailEnd type="none" w="med" len="med"/>
                    </a:lnB>
                    <a:solidFill>
                      <a:srgbClr val="1C1A17"/>
                    </a:solidFill>
                  </a:tcPr>
                </a:tc>
                <a:tc>
                  <a:txBody>
                    <a:bodyPr/>
                    <a:lstStyle/>
                    <a:p>
                      <a:pPr indent="0" marL="0">
                        <a:lnSpc>
                          <a:spcPts val="1750"/>
                        </a:lnSpc>
                        <a:buNone/>
                      </a:pPr>
                      <a:r>
                        <a:rPr lang="en-US" sz="1250" dirty="0">
                          <a:solidFill>
                            <a:srgbClr val="FFF8E7"/>
                          </a:solidFill>
                          <a:latin typeface="Geist" pitchFamily="34" charset="0"/>
                          <a:ea typeface="Geist" pitchFamily="34" charset="-122"/>
                          <a:cs typeface="Geist" pitchFamily="34" charset="-120"/>
                        </a:rPr>
                        <a:t>10-19</a:t>
                      </a:r>
                      <a:endParaRPr lang="en-US" sz="1250" dirty="0">
                        <a:latin typeface="Geist" charset="0"/>
                        <a:ea typeface="Geist" charset="0"/>
                        <a:cs typeface="Geist" charset="0"/>
                      </a:endParaRPr>
                    </a:p>
                  </a:txBody>
                  <a:tcPr marL="55563" marR="55563" marT="55563" marB="55563" anchor="t">
                    <a:lnL w="12700" cap="flat" cmpd="sng" algn="ctr">
                      <a:solidFill>
                        <a:srgbClr val="4D4B48"/>
                      </a:solidFill>
                      <a:prstDash val="solid"/>
                      <a:round/>
                      <a:headEnd type="none" w="med" len="med"/>
                      <a:tailEnd type="none" w="med" len="med"/>
                    </a:lnL>
                    <a:lnR w="12700" cap="flat" cmpd="sng" algn="ctr">
                      <a:solidFill>
                        <a:srgbClr val="4D4B48"/>
                      </a:solidFill>
                      <a:prstDash val="solid"/>
                      <a:round/>
                      <a:headEnd type="none" w="med" len="med"/>
                      <a:tailEnd type="none" w="med" len="med"/>
                    </a:lnR>
                    <a:lnT w="12700" cap="flat" cmpd="sng" algn="ctr">
                      <a:solidFill>
                        <a:srgbClr val="444443"/>
                      </a:solidFill>
                      <a:prstDash val="solid"/>
                      <a:round/>
                      <a:headEnd type="none" w="med" len="med"/>
                      <a:tailEnd type="none" w="med" len="med"/>
                    </a:lnT>
                    <a:lnB w="12700" cap="flat" cmpd="sng" algn="ctr">
                      <a:solidFill>
                        <a:srgbClr val="4D4B48"/>
                      </a:solidFill>
                      <a:prstDash val="solid"/>
                      <a:round/>
                      <a:headEnd type="none" w="med" len="med"/>
                      <a:tailEnd type="none" w="med" len="med"/>
                    </a:lnB>
                    <a:solidFill>
                      <a:srgbClr val="1C1A17"/>
                    </a:solidFill>
                  </a:tcPr>
                </a:tc>
                <a:tc>
                  <a:txBody>
                    <a:bodyPr/>
                    <a:lstStyle/>
                    <a:p>
                      <a:pPr indent="0" marL="0">
                        <a:lnSpc>
                          <a:spcPts val="1750"/>
                        </a:lnSpc>
                        <a:buNone/>
                      </a:pPr>
                      <a:r>
                        <a:rPr lang="en-US" sz="1250" dirty="0">
                          <a:solidFill>
                            <a:srgbClr val="FFF8E7"/>
                          </a:solidFill>
                          <a:latin typeface="Geist" pitchFamily="34" charset="0"/>
                          <a:ea typeface="Geist" pitchFamily="34" charset="-122"/>
                          <a:cs typeface="Geist" pitchFamily="34" charset="-120"/>
                        </a:rPr>
                        <a:t>Generated shirts start at their counted complexity score.</a:t>
                      </a:r>
                      <a:endParaRPr lang="en-US" sz="1250" dirty="0">
                        <a:latin typeface="Geist" charset="0"/>
                        <a:ea typeface="Geist" charset="0"/>
                        <a:cs typeface="Geist" charset="0"/>
                      </a:endParaRPr>
                    </a:p>
                  </a:txBody>
                  <a:tcPr marL="55563" marR="55563" marT="55563" marB="55563" anchor="t">
                    <a:lnL w="12700" cap="flat" cmpd="sng" algn="ctr">
                      <a:solidFill>
                        <a:srgbClr val="4D4B48"/>
                      </a:solidFill>
                      <a:prstDash val="solid"/>
                      <a:round/>
                      <a:headEnd type="none" w="med" len="med"/>
                      <a:tailEnd type="none" w="med" len="med"/>
                    </a:lnL>
                    <a:lnR w="12700" cap="flat" cmpd="sng" algn="ctr">
                      <a:solidFill>
                        <a:srgbClr val="4D4B48"/>
                      </a:solidFill>
                      <a:prstDash val="solid"/>
                      <a:round/>
                      <a:headEnd type="none" w="med" len="med"/>
                      <a:tailEnd type="none" w="med" len="med"/>
                    </a:lnR>
                    <a:lnT w="12700" cap="flat" cmpd="sng" algn="ctr">
                      <a:solidFill>
                        <a:srgbClr val="444443"/>
                      </a:solidFill>
                      <a:prstDash val="solid"/>
                      <a:round/>
                      <a:headEnd type="none" w="med" len="med"/>
                      <a:tailEnd type="none" w="med" len="med"/>
                    </a:lnT>
                    <a:lnB w="12700" cap="flat" cmpd="sng" algn="ctr">
                      <a:solidFill>
                        <a:srgbClr val="4D4B48"/>
                      </a:solidFill>
                      <a:prstDash val="solid"/>
                      <a:round/>
                      <a:headEnd type="none" w="med" len="med"/>
                      <a:tailEnd type="none" w="med" len="med"/>
                    </a:lnB>
                    <a:solidFill>
                      <a:srgbClr val="1C1A17"/>
                    </a:solidFill>
                  </a:tcPr>
                </a:tc>
              </a:tr>
              <a:tr h="346075">
                <a:tc>
                  <a:txBody>
                    <a:bodyPr/>
                    <a:lstStyle/>
                    <a:p>
                      <a:pPr indent="0" marL="0">
                        <a:lnSpc>
                          <a:spcPts val="1750"/>
                        </a:lnSpc>
                        <a:buNone/>
                      </a:pPr>
                      <a:r>
                        <a:rPr lang="en-US" sz="1250" dirty="0">
                          <a:solidFill>
                            <a:srgbClr val="FFF8E7"/>
                          </a:solidFill>
                          <a:latin typeface="Geist" pitchFamily="34" charset="0"/>
                          <a:ea typeface="Geist" pitchFamily="34" charset="-122"/>
                          <a:cs typeface="Geist" pitchFamily="34" charset="-120"/>
                        </a:rPr>
                        <a:t>5.0.0</a:t>
                      </a:r>
                      <a:endParaRPr lang="en-US" sz="1250" dirty="0">
                        <a:latin typeface="Geist" charset="0"/>
                        <a:ea typeface="Geist" charset="0"/>
                        <a:cs typeface="Geist" charset="0"/>
                      </a:endParaRPr>
                    </a:p>
                  </a:txBody>
                  <a:tcPr marL="55563" marR="55563" marT="55563" marB="55563" anchor="t">
                    <a:lnL w="12700" cap="flat" cmpd="sng" algn="ctr">
                      <a:solidFill>
                        <a:srgbClr val="444443"/>
                      </a:solidFill>
                      <a:prstDash val="solid"/>
                      <a:round/>
                      <a:headEnd type="none" w="med" len="med"/>
                      <a:tailEnd type="none" w="med" len="med"/>
                    </a:lnL>
                    <a:lnR w="12700" cap="flat" cmpd="sng" algn="ctr">
                      <a:solidFill>
                        <a:srgbClr val="444443"/>
                      </a:solidFill>
                      <a:prstDash val="solid"/>
                      <a:round/>
                      <a:headEnd type="none" w="med" len="med"/>
                      <a:tailEnd type="none" w="med" len="med"/>
                    </a:lnR>
                    <a:lnT w="12700" cap="flat" cmpd="sng" algn="ctr">
                      <a:solidFill>
                        <a:srgbClr val="4D4B48"/>
                      </a:solidFill>
                      <a:prstDash val="solid"/>
                      <a:round/>
                      <a:headEnd type="none" w="med" len="med"/>
                      <a:tailEnd type="none" w="med" len="med"/>
                    </a:lnT>
                    <a:lnB w="12700" cap="flat" cmpd="sng" algn="ctr">
                      <a:solidFill>
                        <a:srgbClr val="444443"/>
                      </a:solidFill>
                      <a:prstDash val="solid"/>
                      <a:round/>
                      <a:headEnd type="none" w="med" len="med"/>
                      <a:tailEnd type="none" w="med" len="med"/>
                    </a:lnB>
                  </a:tcPr>
                </a:tc>
                <a:tc>
                  <a:txBody>
                    <a:bodyPr/>
                    <a:lstStyle/>
                    <a:p>
                      <a:pPr indent="0" marL="0">
                        <a:lnSpc>
                          <a:spcPts val="1750"/>
                        </a:lnSpc>
                        <a:buNone/>
                      </a:pPr>
                      <a:r>
                        <a:rPr lang="en-US" sz="1250" dirty="0">
                          <a:solidFill>
                            <a:srgbClr val="FFF8E7"/>
                          </a:solidFill>
                          <a:latin typeface="Geist" pitchFamily="34" charset="0"/>
                          <a:ea typeface="Geist" pitchFamily="34" charset="-122"/>
                          <a:cs typeface="Geist" pitchFamily="34" charset="-120"/>
                        </a:rPr>
                        <a:t>10-20</a:t>
                      </a:r>
                      <a:endParaRPr lang="en-US" sz="1250" dirty="0">
                        <a:latin typeface="Geist" charset="0"/>
                        <a:ea typeface="Geist" charset="0"/>
                        <a:cs typeface="Geist" charset="0"/>
                      </a:endParaRPr>
                    </a:p>
                  </a:txBody>
                  <a:tcPr marL="55563" marR="55563" marT="55563" marB="55563" anchor="t">
                    <a:lnL w="12700" cap="flat" cmpd="sng" algn="ctr">
                      <a:solidFill>
                        <a:srgbClr val="444443"/>
                      </a:solidFill>
                      <a:prstDash val="solid"/>
                      <a:round/>
                      <a:headEnd type="none" w="med" len="med"/>
                      <a:tailEnd type="none" w="med" len="med"/>
                    </a:lnL>
                    <a:lnR w="12700" cap="flat" cmpd="sng" algn="ctr">
                      <a:solidFill>
                        <a:srgbClr val="444443"/>
                      </a:solidFill>
                      <a:prstDash val="solid"/>
                      <a:round/>
                      <a:headEnd type="none" w="med" len="med"/>
                      <a:tailEnd type="none" w="med" len="med"/>
                    </a:lnR>
                    <a:lnT w="12700" cap="flat" cmpd="sng" algn="ctr">
                      <a:solidFill>
                        <a:srgbClr val="4D4B48"/>
                      </a:solidFill>
                      <a:prstDash val="solid"/>
                      <a:round/>
                      <a:headEnd type="none" w="med" len="med"/>
                      <a:tailEnd type="none" w="med" len="med"/>
                    </a:lnT>
                    <a:lnB w="12700" cap="flat" cmpd="sng" algn="ctr">
                      <a:solidFill>
                        <a:srgbClr val="444443"/>
                      </a:solidFill>
                      <a:prstDash val="solid"/>
                      <a:round/>
                      <a:headEnd type="none" w="med" len="med"/>
                      <a:tailEnd type="none" w="med" len="med"/>
                    </a:lnB>
                  </a:tcPr>
                </a:tc>
                <a:tc>
                  <a:txBody>
                    <a:bodyPr/>
                    <a:lstStyle/>
                    <a:p>
                      <a:pPr indent="0" marL="0">
                        <a:lnSpc>
                          <a:spcPts val="1750"/>
                        </a:lnSpc>
                        <a:buNone/>
                      </a:pPr>
                      <a:r>
                        <a:rPr lang="en-US" sz="1250" dirty="0">
                          <a:solidFill>
                            <a:srgbClr val="FFF8E7"/>
                          </a:solidFill>
                          <a:latin typeface="Geist" pitchFamily="34" charset="0"/>
                          <a:ea typeface="Geist" pitchFamily="34" charset="-122"/>
                          <a:cs typeface="Geist" pitchFamily="34" charset="-120"/>
                        </a:rPr>
                        <a:t>Exponential MSRP → a straight line. Abandoned creations may be swept.</a:t>
                      </a:r>
                      <a:endParaRPr lang="en-US" sz="1250" dirty="0">
                        <a:latin typeface="Geist" charset="0"/>
                        <a:ea typeface="Geist" charset="0"/>
                        <a:cs typeface="Geist" charset="0"/>
                      </a:endParaRPr>
                    </a:p>
                  </a:txBody>
                  <a:tcPr marL="55563" marR="55563" marT="55563" marB="55563" anchor="t">
                    <a:lnL w="12700" cap="flat" cmpd="sng" algn="ctr">
                      <a:solidFill>
                        <a:srgbClr val="444443"/>
                      </a:solidFill>
                      <a:prstDash val="solid"/>
                      <a:round/>
                      <a:headEnd type="none" w="med" len="med"/>
                      <a:tailEnd type="none" w="med" len="med"/>
                    </a:lnL>
                    <a:lnR w="12700" cap="flat" cmpd="sng" algn="ctr">
                      <a:solidFill>
                        <a:srgbClr val="444443"/>
                      </a:solidFill>
                      <a:prstDash val="solid"/>
                      <a:round/>
                      <a:headEnd type="none" w="med" len="med"/>
                      <a:tailEnd type="none" w="med" len="med"/>
                    </a:lnR>
                    <a:lnT w="12700" cap="flat" cmpd="sng" algn="ctr">
                      <a:solidFill>
                        <a:srgbClr val="4D4B48"/>
                      </a:solidFill>
                      <a:prstDash val="solid"/>
                      <a:round/>
                      <a:headEnd type="none" w="med" len="med"/>
                      <a:tailEnd type="none" w="med" len="med"/>
                    </a:lnT>
                    <a:lnB w="12700" cap="flat" cmpd="sng" algn="ctr">
                      <a:solidFill>
                        <a:srgbClr val="444443"/>
                      </a:solidFill>
                      <a:prstDash val="solid"/>
                      <a:round/>
                      <a:headEnd type="none" w="med" len="med"/>
                      <a:tailEnd type="none" w="med" len="med"/>
                    </a:lnB>
                  </a:tcPr>
                </a:tc>
              </a:tr>
              <a:tr h="346075">
                <a:tc>
                  <a:txBody>
                    <a:bodyPr/>
                    <a:lstStyle/>
                    <a:p>
                      <a:pPr indent="0" marL="0">
                        <a:lnSpc>
                          <a:spcPts val="1750"/>
                        </a:lnSpc>
                        <a:buNone/>
                      </a:pPr>
                      <a:r>
                        <a:rPr lang="en-US" sz="1250" dirty="0">
                          <a:solidFill>
                            <a:srgbClr val="FFF8E7"/>
                          </a:solidFill>
                          <a:latin typeface="Geist" pitchFamily="34" charset="0"/>
                          <a:ea typeface="Geist" pitchFamily="34" charset="-122"/>
                          <a:cs typeface="Geist" pitchFamily="34" charset="-120"/>
                        </a:rPr>
                        <a:t>5.1.0</a:t>
                      </a:r>
                      <a:endParaRPr lang="en-US" sz="1250" dirty="0">
                        <a:latin typeface="Geist" charset="0"/>
                        <a:ea typeface="Geist" charset="0"/>
                        <a:cs typeface="Geist" charset="0"/>
                      </a:endParaRPr>
                    </a:p>
                  </a:txBody>
                  <a:tcPr marL="55563" marR="55563" marT="55563" marB="55563" anchor="t">
                    <a:lnL w="12700" cap="flat" cmpd="sng" algn="ctr">
                      <a:solidFill>
                        <a:srgbClr val="444443"/>
                      </a:solidFill>
                      <a:prstDash val="solid"/>
                      <a:round/>
                      <a:headEnd type="none" w="med" len="med"/>
                      <a:tailEnd type="none" w="med" len="med"/>
                    </a:lnL>
                    <a:lnR w="12700" cap="flat" cmpd="sng" algn="ctr">
                      <a:solidFill>
                        <a:srgbClr val="4D4B48"/>
                      </a:solidFill>
                      <a:prstDash val="solid"/>
                      <a:round/>
                      <a:headEnd type="none" w="med" len="med"/>
                      <a:tailEnd type="none" w="med" len="med"/>
                    </a:lnR>
                    <a:lnT w="12700" cap="flat" cmpd="sng" algn="ctr">
                      <a:solidFill>
                        <a:srgbClr val="444443"/>
                      </a:solidFill>
                      <a:prstDash val="solid"/>
                      <a:round/>
                      <a:headEnd type="none" w="med" len="med"/>
                      <a:tailEnd type="none" w="med" len="med"/>
                    </a:lnT>
                    <a:lnB w="12700" cap="flat" cmpd="sng" algn="ctr">
                      <a:solidFill>
                        <a:srgbClr val="4D4B48"/>
                      </a:solidFill>
                      <a:prstDash val="solid"/>
                      <a:round/>
                      <a:headEnd type="none" w="med" len="med"/>
                      <a:tailEnd type="none" w="med" len="med"/>
                    </a:lnB>
                    <a:solidFill>
                      <a:srgbClr val="1C1A17"/>
                    </a:solidFill>
                  </a:tcPr>
                </a:tc>
                <a:tc>
                  <a:txBody>
                    <a:bodyPr/>
                    <a:lstStyle/>
                    <a:p>
                      <a:pPr indent="0" marL="0">
                        <a:lnSpc>
                          <a:spcPts val="1750"/>
                        </a:lnSpc>
                        <a:buNone/>
                      </a:pPr>
                      <a:r>
                        <a:rPr lang="en-US" sz="1250" dirty="0">
                          <a:solidFill>
                            <a:srgbClr val="FFF8E7"/>
                          </a:solidFill>
                          <a:latin typeface="Geist" pitchFamily="34" charset="0"/>
                          <a:ea typeface="Geist" pitchFamily="34" charset="-122"/>
                          <a:cs typeface="Geist" pitchFamily="34" charset="-120"/>
                        </a:rPr>
                        <a:t>10-20</a:t>
                      </a:r>
                      <a:endParaRPr lang="en-US" sz="1250" dirty="0">
                        <a:latin typeface="Geist" charset="0"/>
                        <a:ea typeface="Geist" charset="0"/>
                        <a:cs typeface="Geist" charset="0"/>
                      </a:endParaRPr>
                    </a:p>
                  </a:txBody>
                  <a:tcPr marL="55563" marR="55563" marT="55563" marB="55563" anchor="t">
                    <a:lnL w="12700" cap="flat" cmpd="sng" algn="ctr">
                      <a:solidFill>
                        <a:srgbClr val="4D4B48"/>
                      </a:solidFill>
                      <a:prstDash val="solid"/>
                      <a:round/>
                      <a:headEnd type="none" w="med" len="med"/>
                      <a:tailEnd type="none" w="med" len="med"/>
                    </a:lnL>
                    <a:lnR w="12700" cap="flat" cmpd="sng" algn="ctr">
                      <a:solidFill>
                        <a:srgbClr val="4D4B48"/>
                      </a:solidFill>
                      <a:prstDash val="solid"/>
                      <a:round/>
                      <a:headEnd type="none" w="med" len="med"/>
                      <a:tailEnd type="none" w="med" len="med"/>
                    </a:lnR>
                    <a:lnT w="12700" cap="flat" cmpd="sng" algn="ctr">
                      <a:solidFill>
                        <a:srgbClr val="444443"/>
                      </a:solidFill>
                      <a:prstDash val="solid"/>
                      <a:round/>
                      <a:headEnd type="none" w="med" len="med"/>
                      <a:tailEnd type="none" w="med" len="med"/>
                    </a:lnT>
                    <a:lnB w="12700" cap="flat" cmpd="sng" algn="ctr">
                      <a:solidFill>
                        <a:srgbClr val="4D4B48"/>
                      </a:solidFill>
                      <a:prstDash val="solid"/>
                      <a:round/>
                      <a:headEnd type="none" w="med" len="med"/>
                      <a:tailEnd type="none" w="med" len="med"/>
                    </a:lnB>
                    <a:solidFill>
                      <a:srgbClr val="1C1A17"/>
                    </a:solidFill>
                  </a:tcPr>
                </a:tc>
                <a:tc>
                  <a:txBody>
                    <a:bodyPr/>
                    <a:lstStyle/>
                    <a:p>
                      <a:pPr indent="0" marL="0">
                        <a:lnSpc>
                          <a:spcPts val="1750"/>
                        </a:lnSpc>
                        <a:buNone/>
                      </a:pPr>
                      <a:r>
                        <a:rPr lang="en-US" sz="1250" dirty="0">
                          <a:solidFill>
                            <a:srgbClr val="FFF8E7"/>
                          </a:solidFill>
                          <a:latin typeface="Geist" pitchFamily="34" charset="0"/>
                          <a:ea typeface="Geist" pitchFamily="34" charset="-122"/>
                          <a:cs typeface="Geist" pitchFamily="34" charset="-120"/>
                        </a:rPr>
                        <a:t>“A bot is a voice, not a source.”</a:t>
                      </a:r>
                      <a:endParaRPr lang="en-US" sz="1250" dirty="0">
                        <a:latin typeface="Geist" charset="0"/>
                        <a:ea typeface="Geist" charset="0"/>
                        <a:cs typeface="Geist" charset="0"/>
                      </a:endParaRPr>
                    </a:p>
                  </a:txBody>
                  <a:tcPr marL="55563" marR="55563" marT="55563" marB="55563" anchor="t">
                    <a:lnL w="12700" cap="flat" cmpd="sng" algn="ctr">
                      <a:solidFill>
                        <a:srgbClr val="4D4B48"/>
                      </a:solidFill>
                      <a:prstDash val="solid"/>
                      <a:round/>
                      <a:headEnd type="none" w="med" len="med"/>
                      <a:tailEnd type="none" w="med" len="med"/>
                    </a:lnL>
                    <a:lnR w="12700" cap="flat" cmpd="sng" algn="ctr">
                      <a:solidFill>
                        <a:srgbClr val="4D4B48"/>
                      </a:solidFill>
                      <a:prstDash val="solid"/>
                      <a:round/>
                      <a:headEnd type="none" w="med" len="med"/>
                      <a:tailEnd type="none" w="med" len="med"/>
                    </a:lnR>
                    <a:lnT w="12700" cap="flat" cmpd="sng" algn="ctr">
                      <a:solidFill>
                        <a:srgbClr val="444443"/>
                      </a:solidFill>
                      <a:prstDash val="solid"/>
                      <a:round/>
                      <a:headEnd type="none" w="med" len="med"/>
                      <a:tailEnd type="none" w="med" len="med"/>
                    </a:lnT>
                    <a:lnB w="12700" cap="flat" cmpd="sng" algn="ctr">
                      <a:solidFill>
                        <a:srgbClr val="4D4B48"/>
                      </a:solidFill>
                      <a:prstDash val="solid"/>
                      <a:round/>
                      <a:headEnd type="none" w="med" len="med"/>
                      <a:tailEnd type="none" w="med" len="med"/>
                    </a:lnB>
                    <a:solidFill>
                      <a:srgbClr val="1C1A17"/>
                    </a:solidFill>
                  </a:tcPr>
                </a:tc>
              </a:tr>
            </a:tbl>
          </a:graphicData>
        </a:graphic>
      </p:graphicFrame>
      <p:sp>
        <p:nvSpPr>
          <p:cNvPr id="5" name="Text 2"/>
          <p:cNvSpPr/>
          <p:nvPr/>
        </p:nvSpPr>
        <p:spPr>
          <a:xfrm>
            <a:off x="812800" y="5133876"/>
            <a:ext cx="10883392"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FC6B4"/>
                </a:solidFill>
                <a:latin typeface="Geist" pitchFamily="34" charset="0"/>
                <a:ea typeface="Geist" pitchFamily="34" charset="-122"/>
                <a:cs typeface="Geist" pitchFamily="34" charset="-120"/>
              </a:rPr>
              <a:t>Each amendment carries a Sync Impact Report and is ratified when its feature’s PR merges.</a:t>
            </a:r>
            <a:endParaRPr lang="en-US" sz="1300" dirty="0"/>
          </a:p>
        </p:txBody>
      </p:sp>
      <p:sp>
        <p:nvSpPr>
          <p:cNvPr id="6" name="Text 3"/>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A99F8C"/>
                </a:solidFill>
                <a:latin typeface="Geist" pitchFamily="34" charset="0"/>
                <a:ea typeface="Geist" pitchFamily="34" charset="-122"/>
                <a:cs typeface="Geist" pitchFamily="34" charset="-120"/>
              </a:rPr>
              <a:t>DAN FLASHES × SPEC KIT</a:t>
            </a:r>
            <a:endParaRPr lang="en-US" sz="1200" dirty="0"/>
          </a:p>
        </p:txBody>
      </p:sp>
      <p:sp>
        <p:nvSpPr>
          <p:cNvPr id="7" name="Text 4"/>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A99F8C"/>
                </a:solidFill>
                <a:latin typeface="Geist" pitchFamily="34" charset="0"/>
                <a:ea typeface="Geist" pitchFamily="34" charset="-122"/>
                <a:cs typeface="Geist" pitchFamily="34" charset="-120"/>
              </a:rPr>
              <a:t>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8E7"/>
        </a:solidFill>
      </p:bgPr>
    </p:bg>
    <p:spTree>
      <p:nvGrpSpPr>
        <p:cNvPr id="1" name=""/>
        <p:cNvGrpSpPr/>
        <p:nvPr/>
      </p:nvGrpSpPr>
      <p:grpSpPr>
        <a:xfrm>
          <a:off x="0" y="0"/>
          <a:ext cx="0" cy="0"/>
          <a:chOff x="0" y="0"/>
          <a:chExt cx="0" cy="0"/>
        </a:xfrm>
      </p:grpSpPr>
      <p:sp>
        <p:nvSpPr>
          <p:cNvPr id="2" name="Shape 0"/>
          <p:cNvSpPr/>
          <p:nvPr/>
        </p:nvSpPr>
        <p:spPr>
          <a:xfrm>
            <a:off x="0" y="0"/>
            <a:ext cx="12192000" cy="127000"/>
          </a:xfrm>
          <a:prstGeom prst="rect">
            <a:avLst/>
          </a:prstGeom>
          <a:gradFill rotWithShape="1">
            <a:gsLst>
              <a:gs pos="0">
                <a:srgbClr val="FF2D95"/>
              </a:gs>
              <a:gs pos="25000">
                <a:srgbClr val="FF2D95"/>
              </a:gs>
              <a:gs pos="25000">
                <a:srgbClr val="FFE600"/>
              </a:gs>
              <a:gs pos="50000">
                <a:srgbClr val="FFE600"/>
              </a:gs>
              <a:gs pos="50000">
                <a:srgbClr val="00E5FF"/>
              </a:gs>
              <a:gs pos="75000">
                <a:srgbClr val="00E5FF"/>
              </a:gs>
              <a:gs pos="75000">
                <a:srgbClr val="B6FF00"/>
              </a:gs>
              <a:gs pos="100000">
                <a:srgbClr val="B6FF00"/>
              </a:gs>
            </a:gsLst>
            <a:lin ang="2700000" scaled="0"/>
          </a:gradFill>
          <a:ln/>
        </p:spPr>
      </p:sp>
      <p:sp>
        <p:nvSpPr>
          <p:cNvPr id="3" name="Text 1"/>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7A00FF"/>
                </a:solidFill>
                <a:latin typeface="Geist" pitchFamily="34" charset="0"/>
                <a:ea typeface="Geist" pitchFamily="34" charset="-122"/>
                <a:cs typeface="Geist" pitchFamily="34" charset="-120"/>
              </a:rPr>
              <a:t>FEATURE 004, URGENCY ENGINE · 2026-10-15</a:t>
            </a:r>
            <a:endParaRPr lang="en-US" sz="1200" dirty="0"/>
          </a:p>
        </p:txBody>
      </p:sp>
      <p:sp>
        <p:nvSpPr>
          <p:cNvPr id="4" name="Text 2"/>
          <p:cNvSpPr/>
          <p:nvPr>
            <p:ph type="title"/>
          </p:nvPr>
        </p:nvSpPr>
        <p:spPr>
          <a:xfrm>
            <a:off x="812800" y="11023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0" i="0" dirty="0">
                <a:solidFill>
                  <a:srgbClr val="111111"/>
                </a:solidFill>
                <a:latin typeface="Bungee" pitchFamily="34" charset="0"/>
                <a:ea typeface="Bungee" pitchFamily="34" charset="-122"/>
                <a:cs typeface="Bungee" pitchFamily="34" charset="-120"/>
              </a:rPr>
              <a:t>A feature in six messages</a:t>
            </a:r>
            <a:endParaRPr lang="en-US" sz="3200" dirty="0"/>
          </a:p>
        </p:txBody>
      </p:sp>
      <p:sp>
        <p:nvSpPr>
          <p:cNvPr id="5" name="Text 3"/>
          <p:cNvSpPr/>
          <p:nvPr/>
        </p:nvSpPr>
        <p:spPr>
          <a:xfrm>
            <a:off x="812800" y="1803301"/>
            <a:ext cx="1905000" cy="383480"/>
          </a:xfrm>
          <a:prstGeom prst="roundRect">
            <a:avLst>
              <a:gd name="adj" fmla="val 50000"/>
            </a:avLst>
          </a:prstGeom>
          <a:solidFill>
            <a:srgbClr val="111111"/>
          </a:solidFill>
          <a:ln/>
        </p:spPr>
        <p:txBody>
          <a:bodyPr wrap="square" lIns="45441" tIns="20041" rIns="45441" bIns="0" rtlCol="0" anchor="t">
            <a:normAutofit/>
          </a:bodyPr>
          <a:lstStyle/>
          <a:p>
            <a:pPr algn="ctr" indent="0" marL="0">
              <a:lnSpc>
                <a:spcPts val="1820"/>
              </a:lnSpc>
              <a:buNone/>
            </a:pPr>
            <a:r>
              <a:rPr lang="en-US" sz="1300" b="1" dirty="0">
                <a:solidFill>
                  <a:srgbClr val="FFF8E7"/>
                </a:solidFill>
                <a:latin typeface="Geist" pitchFamily="34" charset="0"/>
                <a:ea typeface="Geist" pitchFamily="34" charset="-122"/>
                <a:cs typeface="Geist" pitchFamily="34" charset="-120"/>
              </a:rPr>
              <a:t>Start</a:t>
            </a:r>
            <a:endParaRPr lang="en-US" sz="1300" dirty="0"/>
          </a:p>
        </p:txBody>
      </p:sp>
      <p:sp>
        <p:nvSpPr>
          <p:cNvPr id="6" name="Text 4"/>
          <p:cNvSpPr/>
          <p:nvPr/>
        </p:nvSpPr>
        <p:spPr>
          <a:xfrm>
            <a:off x="2921000" y="1866404"/>
            <a:ext cx="3119795" cy="282575"/>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111111"/>
                </a:solidFill>
                <a:latin typeface="Geist" pitchFamily="34" charset="0"/>
                <a:ea typeface="Geist" pitchFamily="34" charset="-122"/>
                <a:cs typeface="Geist" pitchFamily="34" charset="-120"/>
              </a:rPr>
              <a:t>“lets get started on 004 stuff”</a:t>
            </a:r>
            <a:endParaRPr lang="en-US" sz="1500" dirty="0"/>
          </a:p>
        </p:txBody>
      </p:sp>
      <p:sp>
        <p:nvSpPr>
          <p:cNvPr id="7" name="Text 5"/>
          <p:cNvSpPr/>
          <p:nvPr/>
        </p:nvSpPr>
        <p:spPr>
          <a:xfrm>
            <a:off x="812800" y="2301081"/>
            <a:ext cx="1905000" cy="383480"/>
          </a:xfrm>
          <a:prstGeom prst="roundRect">
            <a:avLst>
              <a:gd name="adj" fmla="val 50000"/>
            </a:avLst>
          </a:prstGeom>
          <a:solidFill>
            <a:srgbClr val="FF2D95"/>
          </a:solidFill>
          <a:ln/>
        </p:spPr>
        <p:txBody>
          <a:bodyPr wrap="square" lIns="45441" tIns="20041" rIns="45441" bIns="0" rtlCol="0" anchor="t">
            <a:normAutofit/>
          </a:bodyPr>
          <a:lstStyle/>
          <a:p>
            <a:pPr algn="ctr" indent="0" marL="0">
              <a:lnSpc>
                <a:spcPts val="1820"/>
              </a:lnSpc>
              <a:buNone/>
            </a:pPr>
            <a:r>
              <a:rPr lang="en-US" sz="1300" b="1" dirty="0">
                <a:solidFill>
                  <a:srgbClr val="111111"/>
                </a:solidFill>
                <a:latin typeface="Geist" pitchFamily="34" charset="0"/>
                <a:ea typeface="Geist" pitchFamily="34" charset="-122"/>
                <a:cs typeface="Geist" pitchFamily="34" charset="-120"/>
              </a:rPr>
              <a:t>/specify</a:t>
            </a:r>
            <a:endParaRPr lang="en-US" sz="1300" dirty="0"/>
          </a:p>
        </p:txBody>
      </p:sp>
      <p:sp>
        <p:nvSpPr>
          <p:cNvPr id="8" name="Text 6"/>
          <p:cNvSpPr/>
          <p:nvPr/>
        </p:nvSpPr>
        <p:spPr>
          <a:xfrm>
            <a:off x="2921000" y="2364184"/>
            <a:ext cx="9271000" cy="282575"/>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111111"/>
                </a:solidFill>
                <a:latin typeface="Geist" pitchFamily="34" charset="0"/>
                <a:ea typeface="Geist" pitchFamily="34" charset="-122"/>
                <a:cs typeface="Geist" pitchFamily="34" charset="-120"/>
              </a:rPr>
              <a:t>“what happens when they add it to their cart? ‘oh wait, we found another one!’ gets appended?”</a:t>
            </a:r>
            <a:endParaRPr lang="en-US" sz="1500" dirty="0"/>
          </a:p>
        </p:txBody>
      </p:sp>
      <p:sp>
        <p:nvSpPr>
          <p:cNvPr id="9" name="Text 7"/>
          <p:cNvSpPr/>
          <p:nvPr/>
        </p:nvSpPr>
        <p:spPr>
          <a:xfrm>
            <a:off x="812800" y="2798862"/>
            <a:ext cx="1905000" cy="383480"/>
          </a:xfrm>
          <a:prstGeom prst="roundRect">
            <a:avLst>
              <a:gd name="adj" fmla="val 50000"/>
            </a:avLst>
          </a:prstGeom>
          <a:solidFill>
            <a:srgbClr val="FFE600"/>
          </a:solidFill>
          <a:ln/>
        </p:spPr>
        <p:txBody>
          <a:bodyPr wrap="square" lIns="45441" tIns="20041" rIns="45441" bIns="0" rtlCol="0" anchor="t">
            <a:normAutofit/>
          </a:bodyPr>
          <a:lstStyle/>
          <a:p>
            <a:pPr algn="ctr" indent="0" marL="0">
              <a:lnSpc>
                <a:spcPts val="1820"/>
              </a:lnSpc>
              <a:buNone/>
            </a:pPr>
            <a:r>
              <a:rPr lang="en-US" sz="1300" b="1" dirty="0">
                <a:solidFill>
                  <a:srgbClr val="111111"/>
                </a:solidFill>
                <a:latin typeface="Geist" pitchFamily="34" charset="0"/>
                <a:ea typeface="Geist" pitchFamily="34" charset="-122"/>
                <a:cs typeface="Geist" pitchFamily="34" charset="-120"/>
              </a:rPr>
              <a:t>/clarify</a:t>
            </a:r>
            <a:endParaRPr lang="en-US" sz="1300" dirty="0"/>
          </a:p>
        </p:txBody>
      </p:sp>
      <p:sp>
        <p:nvSpPr>
          <p:cNvPr id="10" name="Text 8"/>
          <p:cNvSpPr/>
          <p:nvPr/>
        </p:nvSpPr>
        <p:spPr>
          <a:xfrm>
            <a:off x="2921000" y="2861965"/>
            <a:ext cx="320993" cy="282575"/>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111111"/>
                </a:solidFill>
                <a:latin typeface="Geist" pitchFamily="34" charset="0"/>
                <a:ea typeface="Geist" pitchFamily="34" charset="-122"/>
                <a:cs typeface="Geist" pitchFamily="34" charset="-120"/>
              </a:rPr>
              <a:t>“A”</a:t>
            </a:r>
            <a:endParaRPr lang="en-US" sz="1500" dirty="0"/>
          </a:p>
        </p:txBody>
      </p:sp>
      <p:sp>
        <p:nvSpPr>
          <p:cNvPr id="11" name="Text 9"/>
          <p:cNvSpPr/>
          <p:nvPr/>
        </p:nvSpPr>
        <p:spPr>
          <a:xfrm>
            <a:off x="812800" y="3296642"/>
            <a:ext cx="1905000" cy="383480"/>
          </a:xfrm>
          <a:prstGeom prst="roundRect">
            <a:avLst>
              <a:gd name="adj" fmla="val 50000"/>
            </a:avLst>
          </a:prstGeom>
          <a:solidFill>
            <a:srgbClr val="00E5FF"/>
          </a:solidFill>
          <a:ln/>
        </p:spPr>
        <p:txBody>
          <a:bodyPr wrap="square" lIns="45441" tIns="20041" rIns="45441" bIns="0" rtlCol="0" anchor="t">
            <a:normAutofit/>
          </a:bodyPr>
          <a:lstStyle/>
          <a:p>
            <a:pPr algn="ctr" indent="0" marL="0">
              <a:lnSpc>
                <a:spcPts val="1820"/>
              </a:lnSpc>
              <a:buNone/>
            </a:pPr>
            <a:r>
              <a:rPr lang="en-US" sz="1300" b="1" dirty="0">
                <a:solidFill>
                  <a:srgbClr val="111111"/>
                </a:solidFill>
                <a:latin typeface="Geist" pitchFamily="34" charset="0"/>
                <a:ea typeface="Geist" pitchFamily="34" charset="-122"/>
                <a:cs typeface="Geist" pitchFamily="34" charset="-120"/>
              </a:rPr>
              <a:t>/tasks, /analyze</a:t>
            </a:r>
            <a:endParaRPr lang="en-US" sz="1300" dirty="0"/>
          </a:p>
        </p:txBody>
      </p:sp>
      <p:sp>
        <p:nvSpPr>
          <p:cNvPr id="12" name="Text 10"/>
          <p:cNvSpPr/>
          <p:nvPr/>
        </p:nvSpPr>
        <p:spPr>
          <a:xfrm>
            <a:off x="2921000" y="3359745"/>
            <a:ext cx="2846070" cy="282575"/>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111111"/>
                </a:solidFill>
                <a:latin typeface="Geist" pitchFamily="34" charset="0"/>
                <a:ea typeface="Geist" pitchFamily="34" charset="-122"/>
                <a:cs typeface="Geist" pitchFamily="34" charset="-120"/>
              </a:rPr>
              <a:t>“run the tasks and analyze”</a:t>
            </a:r>
            <a:endParaRPr lang="en-US" sz="1500" dirty="0"/>
          </a:p>
        </p:txBody>
      </p:sp>
      <p:sp>
        <p:nvSpPr>
          <p:cNvPr id="13" name="Text 11"/>
          <p:cNvSpPr/>
          <p:nvPr/>
        </p:nvSpPr>
        <p:spPr>
          <a:xfrm>
            <a:off x="812800" y="3859808"/>
            <a:ext cx="1905000" cy="383480"/>
          </a:xfrm>
          <a:prstGeom prst="roundRect">
            <a:avLst>
              <a:gd name="adj" fmla="val 50000"/>
            </a:avLst>
          </a:prstGeom>
          <a:solidFill>
            <a:srgbClr val="B6FF00"/>
          </a:solidFill>
          <a:ln/>
        </p:spPr>
        <p:txBody>
          <a:bodyPr wrap="square" lIns="45441" tIns="20041" rIns="45441" bIns="0" rtlCol="0" anchor="t">
            <a:normAutofit/>
          </a:bodyPr>
          <a:lstStyle/>
          <a:p>
            <a:pPr algn="ctr" indent="0" marL="0">
              <a:lnSpc>
                <a:spcPts val="1820"/>
              </a:lnSpc>
              <a:buNone/>
            </a:pPr>
            <a:r>
              <a:rPr lang="en-US" sz="1300" b="1" dirty="0">
                <a:solidFill>
                  <a:srgbClr val="111111"/>
                </a:solidFill>
                <a:latin typeface="Geist" pitchFamily="34" charset="0"/>
                <a:ea typeface="Geist" pitchFamily="34" charset="-122"/>
                <a:cs typeface="Geist" pitchFamily="34" charset="-120"/>
              </a:rPr>
              <a:t>Findings</a:t>
            </a:r>
            <a:endParaRPr lang="en-US" sz="1300" dirty="0"/>
          </a:p>
        </p:txBody>
      </p:sp>
      <p:sp>
        <p:nvSpPr>
          <p:cNvPr id="14" name="Text 12"/>
          <p:cNvSpPr/>
          <p:nvPr/>
        </p:nvSpPr>
        <p:spPr>
          <a:xfrm>
            <a:off x="2921000" y="3794423"/>
            <a:ext cx="8711946" cy="539750"/>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111111"/>
                </a:solidFill>
                <a:latin typeface="Geist" pitchFamily="34" charset="0"/>
                <a:ea typeface="Geist" pitchFamily="34" charset="-122"/>
                <a:cs typeface="Geist" pitchFamily="34" charset="-120"/>
              </a:rPr>
              <a:t>“C1 – since the scarcity is false… ‘just kidding, we actually found another one!’ … go for speckit implement”</a:t>
            </a:r>
            <a:endParaRPr lang="en-US" sz="1500" dirty="0"/>
          </a:p>
        </p:txBody>
      </p:sp>
      <p:sp>
        <p:nvSpPr>
          <p:cNvPr id="15" name="Text 13"/>
          <p:cNvSpPr/>
          <p:nvPr/>
        </p:nvSpPr>
        <p:spPr>
          <a:xfrm>
            <a:off x="812800" y="4423073"/>
            <a:ext cx="1905000" cy="383480"/>
          </a:xfrm>
          <a:prstGeom prst="roundRect">
            <a:avLst>
              <a:gd name="adj" fmla="val 50000"/>
            </a:avLst>
          </a:prstGeom>
          <a:solidFill>
            <a:srgbClr val="7A00FF"/>
          </a:solidFill>
          <a:ln/>
        </p:spPr>
        <p:txBody>
          <a:bodyPr wrap="square" lIns="45441" tIns="20041" rIns="45441" bIns="0" rtlCol="0" anchor="t">
            <a:normAutofit/>
          </a:bodyPr>
          <a:lstStyle/>
          <a:p>
            <a:pPr algn="ctr" indent="0" marL="0">
              <a:lnSpc>
                <a:spcPts val="1820"/>
              </a:lnSpc>
              <a:buNone/>
            </a:pPr>
            <a:r>
              <a:rPr lang="en-US" sz="1300" b="1" dirty="0">
                <a:solidFill>
                  <a:srgbClr val="FFF8E7"/>
                </a:solidFill>
                <a:latin typeface="Geist" pitchFamily="34" charset="0"/>
                <a:ea typeface="Geist" pitchFamily="34" charset="-122"/>
                <a:cs typeface="Geist" pitchFamily="34" charset="-120"/>
              </a:rPr>
              <a:t>Ship</a:t>
            </a:r>
            <a:endParaRPr lang="en-US" sz="1300" dirty="0"/>
          </a:p>
        </p:txBody>
      </p:sp>
      <p:sp>
        <p:nvSpPr>
          <p:cNvPr id="16" name="Text 14"/>
          <p:cNvSpPr/>
          <p:nvPr/>
        </p:nvSpPr>
        <p:spPr>
          <a:xfrm>
            <a:off x="2921000" y="4486176"/>
            <a:ext cx="3313152" cy="282575"/>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111111"/>
                </a:solidFill>
                <a:latin typeface="Geist" pitchFamily="34" charset="0"/>
                <a:ea typeface="Geist" pitchFamily="34" charset="-122"/>
                <a:cs typeface="Geist" pitchFamily="34" charset="-120"/>
              </a:rPr>
              <a:t>“awesome send it, whats next?”</a:t>
            </a:r>
            <a:endParaRPr lang="en-US" sz="1500" dirty="0"/>
          </a:p>
        </p:txBody>
      </p:sp>
      <p:sp>
        <p:nvSpPr>
          <p:cNvPr id="17" name="Text 15"/>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6B6252"/>
                </a:solidFill>
                <a:latin typeface="Geist" pitchFamily="34" charset="0"/>
                <a:ea typeface="Geist" pitchFamily="34" charset="-122"/>
                <a:cs typeface="Geist" pitchFamily="34" charset="-120"/>
              </a:rPr>
              <a:t>DAN FLASHES × SPEC KIT</a:t>
            </a:r>
            <a:endParaRPr lang="en-US" sz="1200" dirty="0"/>
          </a:p>
        </p:txBody>
      </p:sp>
      <p:sp>
        <p:nvSpPr>
          <p:cNvPr id="18" name="Text 16"/>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6252"/>
                </a:solidFill>
                <a:latin typeface="Geist" pitchFamily="34" charset="0"/>
                <a:ea typeface="Geist" pitchFamily="34" charset="-122"/>
                <a:cs typeface="Geist" pitchFamily="34" charset="-120"/>
              </a:rPr>
              <a:t>11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11111"/>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FFE600"/>
                </a:solidFill>
                <a:latin typeface="Geist" pitchFamily="34" charset="0"/>
                <a:ea typeface="Geist" pitchFamily="34" charset="-122"/>
                <a:cs typeface="Geist" pitchFamily="34" charset="-120"/>
              </a:rPr>
              <a:t>MY SIDE OF THE CONVERSATION</a:t>
            </a:r>
            <a:endParaRPr lang="en-US" sz="1200" dirty="0"/>
          </a:p>
        </p:txBody>
      </p:sp>
      <p:sp>
        <p:nvSpPr>
          <p:cNvPr id="3" name="Text 1"/>
          <p:cNvSpPr/>
          <p:nvPr>
            <p:ph type="title"/>
          </p:nvPr>
        </p:nvSpPr>
        <p:spPr>
          <a:xfrm>
            <a:off x="812800" y="11023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0" i="0" dirty="0">
                <a:solidFill>
                  <a:srgbClr val="FFF8E7"/>
                </a:solidFill>
                <a:latin typeface="Bungee" pitchFamily="34" charset="0"/>
                <a:ea typeface="Bungee" pitchFamily="34" charset="-122"/>
                <a:cs typeface="Bungee" pitchFamily="34" charset="-120"/>
              </a:rPr>
              <a:t>How I steered it</a:t>
            </a:r>
            <a:endParaRPr lang="en-US" sz="3200" dirty="0"/>
          </a:p>
        </p:txBody>
      </p:sp>
      <p:sp>
        <p:nvSpPr>
          <p:cNvPr id="4" name="Shape 2"/>
          <p:cNvSpPr/>
          <p:nvPr/>
        </p:nvSpPr>
        <p:spPr>
          <a:xfrm>
            <a:off x="812800" y="1803301"/>
            <a:ext cx="5181600" cy="1489571"/>
          </a:xfrm>
          <a:prstGeom prst="rect">
            <a:avLst/>
          </a:prstGeom>
          <a:solidFill>
            <a:srgbClr val="1F1D1A"/>
          </a:solidFill>
          <a:ln/>
        </p:spPr>
      </p:sp>
      <p:sp>
        <p:nvSpPr>
          <p:cNvPr id="5" name="Shape 3"/>
          <p:cNvSpPr/>
          <p:nvPr/>
        </p:nvSpPr>
        <p:spPr>
          <a:xfrm>
            <a:off x="838200" y="1803301"/>
            <a:ext cx="0" cy="1489571"/>
          </a:xfrm>
          <a:prstGeom prst="line">
            <a:avLst/>
          </a:prstGeom>
          <a:noFill/>
          <a:ln w="50800">
            <a:solidFill>
              <a:srgbClr val="FF2D95"/>
            </a:solidFill>
            <a:prstDash val="solid"/>
          </a:ln>
        </p:spPr>
      </p:sp>
      <p:sp>
        <p:nvSpPr>
          <p:cNvPr id="6" name="Text 4"/>
          <p:cNvSpPr/>
          <p:nvPr/>
        </p:nvSpPr>
        <p:spPr>
          <a:xfrm>
            <a:off x="1092200" y="2006501"/>
            <a:ext cx="4813808"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F2D95"/>
                </a:solidFill>
                <a:latin typeface="Geist" pitchFamily="34" charset="0"/>
                <a:ea typeface="Geist" pitchFamily="34" charset="-122"/>
                <a:cs typeface="Geist" pitchFamily="34" charset="-120"/>
              </a:rPr>
              <a:t>Shorthand answers</a:t>
            </a:r>
            <a:endParaRPr lang="en-US" sz="1800" dirty="0"/>
          </a:p>
        </p:txBody>
      </p:sp>
      <p:sp>
        <p:nvSpPr>
          <p:cNvPr id="7" name="Text 5"/>
          <p:cNvSpPr/>
          <p:nvPr/>
        </p:nvSpPr>
        <p:spPr>
          <a:xfrm>
            <a:off x="1092200" y="2369641"/>
            <a:ext cx="4813808" cy="505420"/>
          </a:xfrm>
          <a:prstGeom prst="rect">
            <a:avLst/>
          </a:prstGeom>
          <a:noFill/>
          <a:ln/>
        </p:spPr>
        <p:txBody>
          <a:bodyPr wrap="square" lIns="0" tIns="0" rIns="0" bIns="0" rtlCol="0" anchor="t">
            <a:normAutofit/>
          </a:bodyPr>
          <a:lstStyle/>
          <a:p>
            <a:pPr algn="l" indent="0" marL="0">
              <a:lnSpc>
                <a:spcPts val="1890"/>
              </a:lnSpc>
              <a:buNone/>
            </a:pPr>
            <a:r>
              <a:rPr lang="en-US" sz="1350" dirty="0">
                <a:solidFill>
                  <a:srgbClr val="E6DCC7"/>
                </a:solidFill>
                <a:latin typeface="Geist" pitchFamily="34" charset="0"/>
                <a:ea typeface="Geist" pitchFamily="34" charset="-122"/>
                <a:cs typeface="Geist" pitchFamily="34" charset="-120"/>
              </a:rPr>
              <a:t>“Q1: A, Q2: B, Q3: A”. Lettered options meant a whole round of decisions fit in one line.</a:t>
            </a:r>
            <a:endParaRPr lang="en-US" sz="1350" dirty="0"/>
          </a:p>
        </p:txBody>
      </p:sp>
      <p:sp>
        <p:nvSpPr>
          <p:cNvPr id="8" name="Shape 6"/>
          <p:cNvSpPr/>
          <p:nvPr/>
        </p:nvSpPr>
        <p:spPr>
          <a:xfrm>
            <a:off x="6197600" y="1803301"/>
            <a:ext cx="5181600" cy="1489571"/>
          </a:xfrm>
          <a:prstGeom prst="rect">
            <a:avLst/>
          </a:prstGeom>
          <a:solidFill>
            <a:srgbClr val="1F1D1A"/>
          </a:solidFill>
          <a:ln/>
        </p:spPr>
      </p:sp>
      <p:sp>
        <p:nvSpPr>
          <p:cNvPr id="9" name="Shape 7"/>
          <p:cNvSpPr/>
          <p:nvPr/>
        </p:nvSpPr>
        <p:spPr>
          <a:xfrm>
            <a:off x="6223000" y="1803301"/>
            <a:ext cx="0" cy="1489571"/>
          </a:xfrm>
          <a:prstGeom prst="line">
            <a:avLst/>
          </a:prstGeom>
          <a:noFill/>
          <a:ln w="50800">
            <a:solidFill>
              <a:srgbClr val="FFE600"/>
            </a:solidFill>
            <a:prstDash val="solid"/>
          </a:ln>
        </p:spPr>
      </p:sp>
      <p:sp>
        <p:nvSpPr>
          <p:cNvPr id="10" name="Text 8"/>
          <p:cNvSpPr/>
          <p:nvPr/>
        </p:nvSpPr>
        <p:spPr>
          <a:xfrm>
            <a:off x="6477000" y="2006501"/>
            <a:ext cx="4813808"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FE600"/>
                </a:solidFill>
                <a:latin typeface="Geist" pitchFamily="34" charset="0"/>
                <a:ea typeface="Geist" pitchFamily="34" charset="-122"/>
                <a:cs typeface="Geist" pitchFamily="34" charset="-120"/>
              </a:rPr>
              <a:t>Review in the IDE</a:t>
            </a:r>
            <a:endParaRPr lang="en-US" sz="1800" dirty="0"/>
          </a:p>
        </p:txBody>
      </p:sp>
      <p:sp>
        <p:nvSpPr>
          <p:cNvPr id="11" name="Text 9"/>
          <p:cNvSpPr/>
          <p:nvPr/>
        </p:nvSpPr>
        <p:spPr>
          <a:xfrm>
            <a:off x="6477000" y="2369641"/>
            <a:ext cx="4813808" cy="745430"/>
          </a:xfrm>
          <a:prstGeom prst="rect">
            <a:avLst/>
          </a:prstGeom>
          <a:noFill/>
          <a:ln/>
        </p:spPr>
        <p:txBody>
          <a:bodyPr wrap="square" lIns="0" tIns="0" rIns="0" bIns="0" rtlCol="0" anchor="t">
            <a:normAutofit/>
          </a:bodyPr>
          <a:lstStyle/>
          <a:p>
            <a:pPr algn="l" indent="0" marL="0">
              <a:lnSpc>
                <a:spcPts val="1890"/>
              </a:lnSpc>
              <a:buNone/>
            </a:pPr>
            <a:r>
              <a:rPr lang="en-US" sz="1350" dirty="0">
                <a:solidFill>
                  <a:srgbClr val="E6DCC7"/>
                </a:solidFill>
                <a:latin typeface="Geist" pitchFamily="34" charset="0"/>
                <a:ea typeface="Geist" pitchFamily="34" charset="-122"/>
                <a:cs typeface="Geist" pitchFamily="34" charset="-120"/>
              </a:rPr>
              <a:t>Select lines in data-model.md, ask about them: “a $200.18 purchase would be stored as 20018 cents? I really don’t like that”</a:t>
            </a:r>
            <a:endParaRPr lang="en-US" sz="1350" dirty="0"/>
          </a:p>
        </p:txBody>
      </p:sp>
      <p:sp>
        <p:nvSpPr>
          <p:cNvPr id="12" name="Shape 10"/>
          <p:cNvSpPr/>
          <p:nvPr/>
        </p:nvSpPr>
        <p:spPr>
          <a:xfrm>
            <a:off x="812800" y="3496072"/>
            <a:ext cx="5181600" cy="1249561"/>
          </a:xfrm>
          <a:prstGeom prst="rect">
            <a:avLst/>
          </a:prstGeom>
          <a:solidFill>
            <a:srgbClr val="1F1D1A"/>
          </a:solidFill>
          <a:ln/>
        </p:spPr>
      </p:sp>
      <p:sp>
        <p:nvSpPr>
          <p:cNvPr id="13" name="Shape 11"/>
          <p:cNvSpPr/>
          <p:nvPr/>
        </p:nvSpPr>
        <p:spPr>
          <a:xfrm>
            <a:off x="838200" y="3496072"/>
            <a:ext cx="0" cy="1249561"/>
          </a:xfrm>
          <a:prstGeom prst="line">
            <a:avLst/>
          </a:prstGeom>
          <a:noFill/>
          <a:ln w="50800">
            <a:solidFill>
              <a:srgbClr val="00E5FF"/>
            </a:solidFill>
            <a:prstDash val="solid"/>
          </a:ln>
        </p:spPr>
      </p:sp>
      <p:sp>
        <p:nvSpPr>
          <p:cNvPr id="14" name="Text 12"/>
          <p:cNvSpPr/>
          <p:nvPr/>
        </p:nvSpPr>
        <p:spPr>
          <a:xfrm>
            <a:off x="1092200" y="3699272"/>
            <a:ext cx="4813808"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00E5FF"/>
                </a:solidFill>
                <a:latin typeface="Geist" pitchFamily="34" charset="0"/>
                <a:ea typeface="Geist" pitchFamily="34" charset="-122"/>
                <a:cs typeface="Geist" pitchFamily="34" charset="-120"/>
              </a:rPr>
              <a:t>Click through, report plainly</a:t>
            </a:r>
            <a:endParaRPr lang="en-US" sz="1800" dirty="0"/>
          </a:p>
        </p:txBody>
      </p:sp>
      <p:sp>
        <p:nvSpPr>
          <p:cNvPr id="15" name="Text 13"/>
          <p:cNvSpPr/>
          <p:nvPr/>
        </p:nvSpPr>
        <p:spPr>
          <a:xfrm>
            <a:off x="1092200" y="4062412"/>
            <a:ext cx="4813808" cy="505420"/>
          </a:xfrm>
          <a:prstGeom prst="rect">
            <a:avLst/>
          </a:prstGeom>
          <a:noFill/>
          <a:ln/>
        </p:spPr>
        <p:txBody>
          <a:bodyPr wrap="square" lIns="0" tIns="0" rIns="0" bIns="0" rtlCol="0" anchor="t">
            <a:normAutofit/>
          </a:bodyPr>
          <a:lstStyle/>
          <a:p>
            <a:pPr algn="l" indent="0" marL="0">
              <a:lnSpc>
                <a:spcPts val="1890"/>
              </a:lnSpc>
              <a:buNone/>
            </a:pPr>
            <a:r>
              <a:rPr lang="en-US" sz="1350" dirty="0">
                <a:solidFill>
                  <a:srgbClr val="E6DCC7"/>
                </a:solidFill>
                <a:latin typeface="Geist" pitchFamily="34" charset="0"/>
                <a:ea typeface="Geist" pitchFamily="34" charset="-122"/>
                <a:cs typeface="Geist" pitchFamily="34" charset="-120"/>
              </a:rPr>
              <a:t>“I can set qty to 0 as well as negative numbers.” Each bug became a fix, a test, and a spec update.</a:t>
            </a:r>
            <a:endParaRPr lang="en-US" sz="1350" dirty="0"/>
          </a:p>
        </p:txBody>
      </p:sp>
      <p:sp>
        <p:nvSpPr>
          <p:cNvPr id="16" name="Shape 14"/>
          <p:cNvSpPr/>
          <p:nvPr/>
        </p:nvSpPr>
        <p:spPr>
          <a:xfrm>
            <a:off x="6197600" y="3496072"/>
            <a:ext cx="5181600" cy="1249561"/>
          </a:xfrm>
          <a:prstGeom prst="rect">
            <a:avLst/>
          </a:prstGeom>
          <a:solidFill>
            <a:srgbClr val="1F1D1A"/>
          </a:solidFill>
          <a:ln/>
        </p:spPr>
      </p:sp>
      <p:sp>
        <p:nvSpPr>
          <p:cNvPr id="17" name="Shape 15"/>
          <p:cNvSpPr/>
          <p:nvPr/>
        </p:nvSpPr>
        <p:spPr>
          <a:xfrm>
            <a:off x="6223000" y="3496072"/>
            <a:ext cx="0" cy="1249561"/>
          </a:xfrm>
          <a:prstGeom prst="line">
            <a:avLst/>
          </a:prstGeom>
          <a:noFill/>
          <a:ln w="50800">
            <a:solidFill>
              <a:srgbClr val="B6FF00"/>
            </a:solidFill>
            <a:prstDash val="solid"/>
          </a:ln>
        </p:spPr>
      </p:sp>
      <p:sp>
        <p:nvSpPr>
          <p:cNvPr id="18" name="Text 16"/>
          <p:cNvSpPr/>
          <p:nvPr/>
        </p:nvSpPr>
        <p:spPr>
          <a:xfrm>
            <a:off x="6477000" y="3699272"/>
            <a:ext cx="4813808"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B6FF00"/>
                </a:solidFill>
                <a:latin typeface="Geist" pitchFamily="34" charset="0"/>
                <a:ea typeface="Geist" pitchFamily="34" charset="-122"/>
                <a:cs typeface="Geist" pitchFamily="34" charset="-120"/>
              </a:rPr>
              <a:t>Park ideas on the roadmap</a:t>
            </a:r>
            <a:endParaRPr lang="en-US" sz="1800" dirty="0"/>
          </a:p>
        </p:txBody>
      </p:sp>
      <p:sp>
        <p:nvSpPr>
          <p:cNvPr id="19" name="Text 17"/>
          <p:cNvSpPr/>
          <p:nvPr/>
        </p:nvSpPr>
        <p:spPr>
          <a:xfrm>
            <a:off x="6477000" y="4062412"/>
            <a:ext cx="4813808" cy="505420"/>
          </a:xfrm>
          <a:prstGeom prst="rect">
            <a:avLst/>
          </a:prstGeom>
          <a:noFill/>
          <a:ln/>
        </p:spPr>
        <p:txBody>
          <a:bodyPr wrap="square" lIns="0" tIns="0" rIns="0" bIns="0" rtlCol="0" anchor="t">
            <a:normAutofit/>
          </a:bodyPr>
          <a:lstStyle/>
          <a:p>
            <a:pPr algn="l" indent="0" marL="0">
              <a:lnSpc>
                <a:spcPts val="1890"/>
              </a:lnSpc>
              <a:buNone/>
            </a:pPr>
            <a:r>
              <a:rPr lang="en-US" sz="1350" dirty="0">
                <a:solidFill>
                  <a:srgbClr val="E6DCC7"/>
                </a:solidFill>
                <a:latin typeface="Geist" pitchFamily="34" charset="0"/>
                <a:ea typeface="Geist" pitchFamily="34" charset="-122"/>
                <a:cs typeface="Geist" pitchFamily="34" charset="-120"/>
              </a:rPr>
              <a:t>The 3D Pipes background came up on day 2 and became 006. The nosy sign-up became 009.</a:t>
            </a:r>
            <a:endParaRPr lang="en-US" sz="1350" dirty="0"/>
          </a:p>
        </p:txBody>
      </p:sp>
      <p:sp>
        <p:nvSpPr>
          <p:cNvPr id="20" name="Text 18"/>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A99F8C"/>
                </a:solidFill>
                <a:latin typeface="Geist" pitchFamily="34" charset="0"/>
                <a:ea typeface="Geist" pitchFamily="34" charset="-122"/>
                <a:cs typeface="Geist" pitchFamily="34" charset="-120"/>
              </a:rPr>
              <a:t>DAN FLASHES × SPEC KIT</a:t>
            </a:r>
            <a:endParaRPr lang="en-US" sz="1200" dirty="0"/>
          </a:p>
        </p:txBody>
      </p:sp>
      <p:sp>
        <p:nvSpPr>
          <p:cNvPr id="21" name="Text 19"/>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A99F8C"/>
                </a:solidFill>
                <a:latin typeface="Geist" pitchFamily="34" charset="0"/>
                <a:ea typeface="Geist" pitchFamily="34" charset="-122"/>
                <a:cs typeface="Geist" pitchFamily="34" charset="-120"/>
              </a:rPr>
              <a:t>12</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8E7"/>
        </a:solidFill>
      </p:bgPr>
    </p:bg>
    <p:spTree>
      <p:nvGrpSpPr>
        <p:cNvPr id="1" name=""/>
        <p:cNvGrpSpPr/>
        <p:nvPr/>
      </p:nvGrpSpPr>
      <p:grpSpPr>
        <a:xfrm>
          <a:off x="0" y="0"/>
          <a:ext cx="0" cy="0"/>
          <a:chOff x="0" y="0"/>
          <a:chExt cx="0" cy="0"/>
        </a:xfrm>
      </p:grpSpPr>
      <p:sp>
        <p:nvSpPr>
          <p:cNvPr id="2" name="Shape 0"/>
          <p:cNvSpPr/>
          <p:nvPr/>
        </p:nvSpPr>
        <p:spPr>
          <a:xfrm>
            <a:off x="0" y="0"/>
            <a:ext cx="12192000" cy="127000"/>
          </a:xfrm>
          <a:prstGeom prst="rect">
            <a:avLst/>
          </a:prstGeom>
          <a:gradFill rotWithShape="1">
            <a:gsLst>
              <a:gs pos="0">
                <a:srgbClr val="FF2D95"/>
              </a:gs>
              <a:gs pos="25000">
                <a:srgbClr val="FF2D95"/>
              </a:gs>
              <a:gs pos="25000">
                <a:srgbClr val="FFE600"/>
              </a:gs>
              <a:gs pos="50000">
                <a:srgbClr val="FFE600"/>
              </a:gs>
              <a:gs pos="50000">
                <a:srgbClr val="00E5FF"/>
              </a:gs>
              <a:gs pos="75000">
                <a:srgbClr val="00E5FF"/>
              </a:gs>
              <a:gs pos="75000">
                <a:srgbClr val="B6FF00"/>
              </a:gs>
              <a:gs pos="100000">
                <a:srgbClr val="B6FF00"/>
              </a:gs>
            </a:gsLst>
            <a:lin ang="2700000" scaled="0"/>
          </a:gradFill>
          <a:ln/>
        </p:spPr>
      </p:sp>
      <p:sp>
        <p:nvSpPr>
          <p:cNvPr id="3" name="Text 1"/>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7A00FF"/>
                </a:solidFill>
                <a:latin typeface="Geist" pitchFamily="34" charset="0"/>
                <a:ea typeface="Geist" pitchFamily="34" charset="-122"/>
                <a:cs typeface="Geist" pitchFamily="34" charset="-120"/>
              </a:rPr>
              <a:t>LIVING SPECS</a:t>
            </a:r>
            <a:endParaRPr lang="en-US" sz="1200" dirty="0"/>
          </a:p>
        </p:txBody>
      </p:sp>
      <p:sp>
        <p:nvSpPr>
          <p:cNvPr id="4" name="Text 2"/>
          <p:cNvSpPr/>
          <p:nvPr>
            <p:ph type="title"/>
          </p:nvPr>
        </p:nvSpPr>
        <p:spPr>
          <a:xfrm>
            <a:off x="812800" y="11023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0" i="0" dirty="0">
                <a:solidFill>
                  <a:srgbClr val="111111"/>
                </a:solidFill>
                <a:latin typeface="Bungee" pitchFamily="34" charset="0"/>
                <a:ea typeface="Bungee" pitchFamily="34" charset="-122"/>
                <a:cs typeface="Bungee" pitchFamily="34" charset="-120"/>
              </a:rPr>
              <a:t>What I said, what changed</a:t>
            </a:r>
            <a:endParaRPr lang="en-US" sz="3200" dirty="0"/>
          </a:p>
        </p:txBody>
      </p:sp>
      <p:sp>
        <p:nvSpPr>
          <p:cNvPr id="5" name="Shape 3"/>
          <p:cNvSpPr/>
          <p:nvPr/>
        </p:nvSpPr>
        <p:spPr>
          <a:xfrm>
            <a:off x="812800" y="1777901"/>
            <a:ext cx="10566400" cy="2800350"/>
          </a:xfrm>
          <a:prstGeom prst="rect">
            <a:avLst/>
          </a:prstGeom>
          <a:solidFill>
            <a:srgbClr val="FFFFFF"/>
          </a:solidFill>
          <a:ln/>
        </p:spPr>
      </p:sp>
      <p:sp>
        <p:nvSpPr>
          <p:cNvPr id="6" name="Shape 4"/>
          <p:cNvSpPr/>
          <p:nvPr/>
        </p:nvSpPr>
        <p:spPr>
          <a:xfrm>
            <a:off x="11369675" y="1777901"/>
            <a:ext cx="0" cy="2800350"/>
          </a:xfrm>
          <a:prstGeom prst="line">
            <a:avLst/>
          </a:prstGeom>
          <a:noFill/>
          <a:ln w="19050">
            <a:solidFill>
              <a:srgbClr val="111111"/>
            </a:solidFill>
            <a:prstDash val="solid"/>
          </a:ln>
        </p:spPr>
      </p:sp>
      <p:sp>
        <p:nvSpPr>
          <p:cNvPr id="7" name="Shape 5"/>
          <p:cNvSpPr/>
          <p:nvPr/>
        </p:nvSpPr>
        <p:spPr>
          <a:xfrm>
            <a:off x="812800" y="4568726"/>
            <a:ext cx="10566400" cy="0"/>
          </a:xfrm>
          <a:prstGeom prst="line">
            <a:avLst/>
          </a:prstGeom>
          <a:noFill/>
          <a:ln w="19050">
            <a:solidFill>
              <a:srgbClr val="111111"/>
            </a:solidFill>
            <a:prstDash val="solid"/>
          </a:ln>
        </p:spPr>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825500" y="1790601"/>
          <a:ext cx="10534650" cy="2768600"/>
        </p:xfrm>
        <a:graphic>
          <a:graphicData uri="http://schemas.openxmlformats.org/drawingml/2006/table">
            <a:tbl>
              <a:tblPr/>
              <a:tblGrid>
                <a:gridCol w="4635246"/>
                <a:gridCol w="3581781"/>
                <a:gridCol w="2317623"/>
              </a:tblGrid>
              <a:tr h="346075">
                <a:tc>
                  <a:txBody>
                    <a:bodyPr/>
                    <a:lstStyle/>
                    <a:p>
                      <a:pPr indent="0" marL="0">
                        <a:lnSpc>
                          <a:spcPts val="1750"/>
                        </a:lnSpc>
                        <a:buNone/>
                      </a:pPr>
                      <a:r>
                        <a:rPr lang="en-US" sz="1250" b="1" dirty="0">
                          <a:solidFill>
                            <a:srgbClr val="FFE600"/>
                          </a:solidFill>
                          <a:latin typeface="Geist" pitchFamily="34" charset="0"/>
                          <a:ea typeface="Geist" pitchFamily="34" charset="-122"/>
                          <a:cs typeface="Geist" pitchFamily="34" charset="-120"/>
                        </a:rPr>
                        <a:t>I said</a:t>
                      </a:r>
                      <a:endParaRPr lang="en-US" sz="1250" dirty="0">
                        <a:latin typeface="Geist" charset="0"/>
                        <a:ea typeface="Geist" charset="0"/>
                        <a:cs typeface="Geist" charset="0"/>
                      </a:endParaRPr>
                    </a:p>
                  </a:txBody>
                  <a:tcPr marL="55563" marR="55563" marT="55563" marB="55563" anchor="t">
                    <a:lnL w="12700" cap="flat" cmpd="sng" algn="ctr">
                      <a:solidFill>
                        <a:srgbClr val="CBCBCB"/>
                      </a:solidFill>
                      <a:prstDash val="solid"/>
                      <a:round/>
                      <a:headEnd type="none" w="med" len="med"/>
                      <a:tailEnd type="none" w="med" len="med"/>
                    </a:lnL>
                    <a:lnR w="12700" cap="flat" cmpd="sng" algn="ctr">
                      <a:solidFill>
                        <a:srgbClr val="121211"/>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211"/>
                      </a:solidFill>
                      <a:prstDash val="solid"/>
                      <a:round/>
                      <a:headEnd type="none" w="med" len="med"/>
                      <a:tailEnd type="none" w="med" len="med"/>
                    </a:lnB>
                    <a:solidFill>
                      <a:srgbClr val="111111"/>
                    </a:solidFill>
                  </a:tcPr>
                </a:tc>
                <a:tc>
                  <a:txBody>
                    <a:bodyPr/>
                    <a:lstStyle/>
                    <a:p>
                      <a:pPr indent="0" marL="0">
                        <a:lnSpc>
                          <a:spcPts val="1750"/>
                        </a:lnSpc>
                        <a:buNone/>
                      </a:pPr>
                      <a:r>
                        <a:rPr lang="en-US" sz="1250" b="1" dirty="0">
                          <a:solidFill>
                            <a:srgbClr val="FFE600"/>
                          </a:solidFill>
                          <a:latin typeface="Geist" pitchFamily="34" charset="0"/>
                          <a:ea typeface="Geist" pitchFamily="34" charset="-122"/>
                          <a:cs typeface="Geist" pitchFamily="34" charset="-120"/>
                        </a:rPr>
                        <a:t>What changed</a:t>
                      </a:r>
                      <a:endParaRPr lang="en-US" sz="1250" dirty="0">
                        <a:latin typeface="Geist" charset="0"/>
                        <a:ea typeface="Geist" charset="0"/>
                        <a:cs typeface="Geist" charset="0"/>
                      </a:endParaRPr>
                    </a:p>
                  </a:txBody>
                  <a:tcPr marL="55563" marR="55563" marT="55563" marB="55563" anchor="t">
                    <a:lnL w="12700" cap="flat" cmpd="sng" algn="ctr">
                      <a:solidFill>
                        <a:srgbClr val="121211"/>
                      </a:solidFill>
                      <a:prstDash val="solid"/>
                      <a:round/>
                      <a:headEnd type="none" w="med" len="med"/>
                      <a:tailEnd type="none" w="med" len="med"/>
                    </a:lnL>
                    <a:lnR w="12700" cap="flat" cmpd="sng" algn="ctr">
                      <a:solidFill>
                        <a:srgbClr val="121211"/>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211"/>
                      </a:solidFill>
                      <a:prstDash val="solid"/>
                      <a:round/>
                      <a:headEnd type="none" w="med" len="med"/>
                      <a:tailEnd type="none" w="med" len="med"/>
                    </a:lnB>
                    <a:solidFill>
                      <a:srgbClr val="111111"/>
                    </a:solidFill>
                  </a:tcPr>
                </a:tc>
                <a:tc>
                  <a:txBody>
                    <a:bodyPr/>
                    <a:lstStyle/>
                    <a:p>
                      <a:pPr indent="0" marL="0">
                        <a:lnSpc>
                          <a:spcPts val="1750"/>
                        </a:lnSpc>
                        <a:buNone/>
                      </a:pPr>
                      <a:r>
                        <a:rPr lang="en-US" sz="1250" b="1" dirty="0">
                          <a:solidFill>
                            <a:srgbClr val="FFE600"/>
                          </a:solidFill>
                          <a:latin typeface="Geist" pitchFamily="34" charset="0"/>
                          <a:ea typeface="Geist" pitchFamily="34" charset="-122"/>
                          <a:cs typeface="Geist" pitchFamily="34" charset="-120"/>
                        </a:rPr>
                        <a:t>Recorded in</a:t>
                      </a:r>
                      <a:endParaRPr lang="en-US" sz="1250" dirty="0">
                        <a:latin typeface="Geist" charset="0"/>
                        <a:ea typeface="Geist" charset="0"/>
                        <a:cs typeface="Geist" charset="0"/>
                      </a:endParaRPr>
                    </a:p>
                  </a:txBody>
                  <a:tcPr marL="55563" marR="55563" marT="55563" marB="55563" anchor="t">
                    <a:lnL w="12700" cap="flat" cmpd="sng" algn="ctr">
                      <a:solidFill>
                        <a:srgbClr val="121211"/>
                      </a:solidFill>
                      <a:prstDash val="solid"/>
                      <a:round/>
                      <a:headEnd type="none" w="med" len="med"/>
                      <a:tailEnd type="none" w="med" len="med"/>
                    </a:lnL>
                    <a:lnR w="12700" cap="flat" cmpd="sng" algn="ctr">
                      <a:solidFill>
                        <a:srgbClr val="121211"/>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211"/>
                      </a:solidFill>
                      <a:prstDash val="solid"/>
                      <a:round/>
                      <a:headEnd type="none" w="med" len="med"/>
                      <a:tailEnd type="none" w="med" len="med"/>
                    </a:lnB>
                    <a:solidFill>
                      <a:srgbClr val="111111"/>
                    </a:solidFill>
                  </a:tcPr>
                </a:tc>
              </a:tr>
              <a:tr h="346075">
                <a:tc>
                  <a:txBody>
                    <a:bodyPr/>
                    <a:lstStyle/>
                    <a:p>
                      <a:pPr indent="0" marL="0">
                        <a:lnSpc>
                          <a:spcPts val="1750"/>
                        </a:lnSpc>
                        <a:buNone/>
                      </a:pPr>
                      <a:r>
                        <a:rPr lang="en-US" sz="1250" dirty="0">
                          <a:solidFill>
                            <a:srgbClr val="111111"/>
                          </a:solidFill>
                          <a:latin typeface="Geist" pitchFamily="34" charset="0"/>
                          <a:ea typeface="Geist" pitchFamily="34" charset="-122"/>
                          <a:cs typeface="Geist" pitchFamily="34" charset="-120"/>
                        </a:rPr>
                        <a:t>“I ultimately set the final price”</a:t>
                      </a:r>
                      <a:endParaRPr lang="en-US" sz="1250" dirty="0">
                        <a:latin typeface="Geist" charset="0"/>
                        <a:ea typeface="Geist" charset="0"/>
                        <a:cs typeface="Geist" charset="0"/>
                      </a:endParaRPr>
                    </a:p>
                  </a:txBody>
                  <a:tcPr marL="55563" marR="55563" marT="55563" marB="55563"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211"/>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750"/>
                        </a:lnSpc>
                        <a:buNone/>
                      </a:pPr>
                      <a:r>
                        <a:rPr lang="en-US" sz="1250" dirty="0">
                          <a:solidFill>
                            <a:srgbClr val="111111"/>
                          </a:solidFill>
                          <a:latin typeface="Geist" pitchFamily="34" charset="0"/>
                          <a:ea typeface="Geist" pitchFamily="34" charset="-122"/>
                          <a:cs typeface="Geist" pitchFamily="34" charset="-120"/>
                        </a:rPr>
                        <a:t>Owner’s price + suggested MSRP</a:t>
                      </a:r>
                      <a:endParaRPr lang="en-US" sz="1250" dirty="0">
                        <a:latin typeface="Geist" charset="0"/>
                        <a:ea typeface="Geist" charset="0"/>
                        <a:cs typeface="Geist" charset="0"/>
                      </a:endParaRPr>
                    </a:p>
                  </a:txBody>
                  <a:tcPr marL="55563" marR="55563" marT="55563" marB="55563"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211"/>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750"/>
                        </a:lnSpc>
                        <a:buNone/>
                      </a:pPr>
                      <a:r>
                        <a:rPr lang="en-US" sz="1250" dirty="0">
                          <a:solidFill>
                            <a:srgbClr val="111111"/>
                          </a:solidFill>
                          <a:latin typeface="Geist" pitchFamily="34" charset="0"/>
                          <a:ea typeface="Geist" pitchFamily="34" charset="-122"/>
                          <a:cs typeface="Geist" pitchFamily="34" charset="-120"/>
                        </a:rPr>
                        <a:t>Constitution 2.0.0</a:t>
                      </a:r>
                      <a:endParaRPr lang="en-US" sz="1250" dirty="0">
                        <a:latin typeface="Geist" charset="0"/>
                        <a:ea typeface="Geist" charset="0"/>
                        <a:cs typeface="Geist" charset="0"/>
                      </a:endParaRPr>
                    </a:p>
                  </a:txBody>
                  <a:tcPr marL="55563" marR="55563" marT="55563" marB="55563"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211"/>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46075">
                <a:tc>
                  <a:txBody>
                    <a:bodyPr/>
                    <a:lstStyle/>
                    <a:p>
                      <a:pPr indent="0" marL="0">
                        <a:lnSpc>
                          <a:spcPts val="1750"/>
                        </a:lnSpc>
                        <a:buNone/>
                      </a:pPr>
                      <a:r>
                        <a:rPr lang="en-US" sz="1250" dirty="0">
                          <a:solidFill>
                            <a:srgbClr val="111111"/>
                          </a:solidFill>
                          <a:latin typeface="Geist" pitchFamily="34" charset="0"/>
                          <a:ea typeface="Geist" pitchFamily="34" charset="-122"/>
                          <a:cs typeface="Geist" pitchFamily="34" charset="-120"/>
                        </a:rPr>
                        <a:t>“store the money as currency dollars”</a:t>
                      </a:r>
                      <a:endParaRPr lang="en-US" sz="1250" dirty="0">
                        <a:latin typeface="Geist" charset="0"/>
                        <a:ea typeface="Geist" charset="0"/>
                        <a:cs typeface="Geist" charset="0"/>
                      </a:endParaRPr>
                    </a:p>
                  </a:txBody>
                  <a:tcPr marL="55563" marR="55563" marT="55563" marB="55563" anchor="t">
                    <a:lnL w="12700" cap="flat" cmpd="sng" algn="ctr">
                      <a:solidFill>
                        <a:srgbClr val="CBCBCB"/>
                      </a:solidFill>
                      <a:prstDash val="solid"/>
                      <a:round/>
                      <a:headEnd type="none" w="med" len="med"/>
                      <a:tailEnd type="none" w="med" len="med"/>
                    </a:lnL>
                    <a:lnR w="12700" cap="flat" cmpd="sng" algn="ctr">
                      <a:solidFill>
                        <a:srgbClr val="C5C0B1"/>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5C0B1"/>
                      </a:solidFill>
                      <a:prstDash val="solid"/>
                      <a:round/>
                      <a:headEnd type="none" w="med" len="med"/>
                      <a:tailEnd type="none" w="med" len="med"/>
                    </a:lnB>
                    <a:solidFill>
                      <a:srgbClr val="F7F0DE"/>
                    </a:solidFill>
                  </a:tcPr>
                </a:tc>
                <a:tc>
                  <a:txBody>
                    <a:bodyPr/>
                    <a:lstStyle/>
                    <a:p>
                      <a:pPr indent="0" marL="0">
                        <a:lnSpc>
                          <a:spcPts val="1750"/>
                        </a:lnSpc>
                        <a:buNone/>
                      </a:pPr>
                      <a:r>
                        <a:rPr lang="en-US" sz="1250" dirty="0">
                          <a:solidFill>
                            <a:srgbClr val="111111"/>
                          </a:solidFill>
                          <a:latin typeface="Geist" pitchFamily="34" charset="0"/>
                          <a:ea typeface="Geist" pitchFamily="34" charset="-122"/>
                          <a:cs typeface="Geist" pitchFamily="34" charset="-120"/>
                        </a:rPr>
                        <a:t>Two-decimal strings, big.js</a:t>
                      </a:r>
                      <a:endParaRPr lang="en-US" sz="1250" dirty="0">
                        <a:latin typeface="Geist" charset="0"/>
                        <a:ea typeface="Geist" charset="0"/>
                        <a:cs typeface="Geist" charset="0"/>
                      </a:endParaRPr>
                    </a:p>
                  </a:txBody>
                  <a:tcPr marL="55563" marR="55563" marT="55563" marB="55563" anchor="t">
                    <a:lnL w="12700" cap="flat" cmpd="sng" algn="ctr">
                      <a:solidFill>
                        <a:srgbClr val="C5C0B1"/>
                      </a:solidFill>
                      <a:prstDash val="solid"/>
                      <a:round/>
                      <a:headEnd type="none" w="med" len="med"/>
                      <a:tailEnd type="none" w="med" len="med"/>
                    </a:lnL>
                    <a:lnR w="12700" cap="flat" cmpd="sng" algn="ctr">
                      <a:solidFill>
                        <a:srgbClr val="C5C0B1"/>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5C0B1"/>
                      </a:solidFill>
                      <a:prstDash val="solid"/>
                      <a:round/>
                      <a:headEnd type="none" w="med" len="med"/>
                      <a:tailEnd type="none" w="med" len="med"/>
                    </a:lnB>
                    <a:solidFill>
                      <a:srgbClr val="F7F0DE"/>
                    </a:solidFill>
                  </a:tcPr>
                </a:tc>
                <a:tc>
                  <a:txBody>
                    <a:bodyPr/>
                    <a:lstStyle/>
                    <a:p>
                      <a:pPr indent="0" marL="0">
                        <a:lnSpc>
                          <a:spcPts val="1750"/>
                        </a:lnSpc>
                        <a:buNone/>
                      </a:pPr>
                      <a:r>
                        <a:rPr lang="en-US" sz="1250" dirty="0">
                          <a:solidFill>
                            <a:srgbClr val="111111"/>
                          </a:solidFill>
                          <a:latin typeface="Geist" pitchFamily="34" charset="0"/>
                          <a:ea typeface="Geist" pitchFamily="34" charset="-122"/>
                          <a:cs typeface="Geist" pitchFamily="34" charset="-120"/>
                        </a:rPr>
                        <a:t>001 data-model</a:t>
                      </a:r>
                      <a:endParaRPr lang="en-US" sz="1250" dirty="0">
                        <a:latin typeface="Geist" charset="0"/>
                        <a:ea typeface="Geist" charset="0"/>
                        <a:cs typeface="Geist" charset="0"/>
                      </a:endParaRPr>
                    </a:p>
                  </a:txBody>
                  <a:tcPr marL="55563" marR="55563" marT="55563" marB="55563" anchor="t">
                    <a:lnL w="12700" cap="flat" cmpd="sng" algn="ctr">
                      <a:solidFill>
                        <a:srgbClr val="C5C0B1"/>
                      </a:solidFill>
                      <a:prstDash val="solid"/>
                      <a:round/>
                      <a:headEnd type="none" w="med" len="med"/>
                      <a:tailEnd type="none" w="med" len="med"/>
                    </a:lnL>
                    <a:lnR w="12700" cap="flat" cmpd="sng" algn="ctr">
                      <a:solidFill>
                        <a:srgbClr val="C5C0B1"/>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5C0B1"/>
                      </a:solidFill>
                      <a:prstDash val="solid"/>
                      <a:round/>
                      <a:headEnd type="none" w="med" len="med"/>
                      <a:tailEnd type="none" w="med" len="med"/>
                    </a:lnB>
                    <a:solidFill>
                      <a:srgbClr val="F7F0DE"/>
                    </a:solidFill>
                  </a:tcPr>
                </a:tc>
              </a:tr>
              <a:tr h="346075">
                <a:tc>
                  <a:txBody>
                    <a:bodyPr/>
                    <a:lstStyle/>
                    <a:p>
                      <a:pPr indent="0" marL="0">
                        <a:lnSpc>
                          <a:spcPts val="1750"/>
                        </a:lnSpc>
                        <a:buNone/>
                      </a:pPr>
                      <a:r>
                        <a:rPr lang="en-US" sz="1250" dirty="0">
                          <a:solidFill>
                            <a:srgbClr val="111111"/>
                          </a:solidFill>
                          <a:latin typeface="Geist" pitchFamily="34" charset="0"/>
                          <a:ea typeface="Geist" pitchFamily="34" charset="-122"/>
                          <a:cs typeface="Geist" pitchFamily="34" charset="-120"/>
                        </a:rPr>
                        <a:t>“shouldn’t be able to add bland shirts… period”</a:t>
                      </a:r>
                      <a:endParaRPr lang="en-US" sz="1250" dirty="0">
                        <a:latin typeface="Geist" charset="0"/>
                        <a:ea typeface="Geist" charset="0"/>
                        <a:cs typeface="Geist" charset="0"/>
                      </a:endParaRPr>
                    </a:p>
                  </a:txBody>
                  <a:tcPr marL="55563" marR="55563" marT="55563" marB="55563"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5C0B1"/>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750"/>
                        </a:lnSpc>
                        <a:buNone/>
                      </a:pPr>
                      <a:r>
                        <a:rPr lang="en-US" sz="1250" dirty="0">
                          <a:solidFill>
                            <a:srgbClr val="111111"/>
                          </a:solidFill>
                          <a:latin typeface="Geist" pitchFamily="34" charset="0"/>
                          <a:ea typeface="Geist" pitchFamily="34" charset="-122"/>
                          <a:cs typeface="Geist" pitchFamily="34" charset="-120"/>
                        </a:rPr>
                        <a:t>Bland can never be in a cart</a:t>
                      </a:r>
                      <a:endParaRPr lang="en-US" sz="1250" dirty="0">
                        <a:latin typeface="Geist" charset="0"/>
                        <a:ea typeface="Geist" charset="0"/>
                        <a:cs typeface="Geist" charset="0"/>
                      </a:endParaRPr>
                    </a:p>
                  </a:txBody>
                  <a:tcPr marL="55563" marR="55563" marT="55563" marB="55563"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5C0B1"/>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750"/>
                        </a:lnSpc>
                        <a:buNone/>
                      </a:pPr>
                      <a:r>
                        <a:rPr lang="en-US" sz="1250" dirty="0">
                          <a:solidFill>
                            <a:srgbClr val="111111"/>
                          </a:solidFill>
                          <a:latin typeface="Geist" pitchFamily="34" charset="0"/>
                          <a:ea typeface="Geist" pitchFamily="34" charset="-122"/>
                          <a:cs typeface="Geist" pitchFamily="34" charset="-120"/>
                        </a:rPr>
                        <a:t>002 spec</a:t>
                      </a:r>
                      <a:endParaRPr lang="en-US" sz="1250" dirty="0">
                        <a:latin typeface="Geist" charset="0"/>
                        <a:ea typeface="Geist" charset="0"/>
                        <a:cs typeface="Geist" charset="0"/>
                      </a:endParaRPr>
                    </a:p>
                  </a:txBody>
                  <a:tcPr marL="55563" marR="55563" marT="55563" marB="55563"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5C0B1"/>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46075">
                <a:tc>
                  <a:txBody>
                    <a:bodyPr/>
                    <a:lstStyle/>
                    <a:p>
                      <a:pPr indent="0" marL="0">
                        <a:lnSpc>
                          <a:spcPts val="1750"/>
                        </a:lnSpc>
                        <a:buNone/>
                      </a:pPr>
                      <a:r>
                        <a:rPr lang="en-US" sz="1250" dirty="0">
                          <a:solidFill>
                            <a:srgbClr val="111111"/>
                          </a:solidFill>
                          <a:latin typeface="Geist" pitchFamily="34" charset="0"/>
                          <a:ea typeface="Geist" pitchFamily="34" charset="-122"/>
                          <a:cs typeface="Geist" pitchFamily="34" charset="-120"/>
                        </a:rPr>
                        <a:t>“Spend the per diem first, then the oldest money”</a:t>
                      </a:r>
                      <a:endParaRPr lang="en-US" sz="1250" dirty="0">
                        <a:latin typeface="Geist" charset="0"/>
                        <a:ea typeface="Geist" charset="0"/>
                        <a:cs typeface="Geist" charset="0"/>
                      </a:endParaRPr>
                    </a:p>
                  </a:txBody>
                  <a:tcPr marL="55563" marR="55563" marT="55563" marB="55563" anchor="t">
                    <a:lnL w="12700" cap="flat" cmpd="sng" algn="ctr">
                      <a:solidFill>
                        <a:srgbClr val="CBCBCB"/>
                      </a:solidFill>
                      <a:prstDash val="solid"/>
                      <a:round/>
                      <a:headEnd type="none" w="med" len="med"/>
                      <a:tailEnd type="none" w="med" len="med"/>
                    </a:lnL>
                    <a:lnR w="12700" cap="flat" cmpd="sng" algn="ctr">
                      <a:solidFill>
                        <a:srgbClr val="C5C0B1"/>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5C0B1"/>
                      </a:solidFill>
                      <a:prstDash val="solid"/>
                      <a:round/>
                      <a:headEnd type="none" w="med" len="med"/>
                      <a:tailEnd type="none" w="med" len="med"/>
                    </a:lnB>
                    <a:solidFill>
                      <a:srgbClr val="F7F0DE"/>
                    </a:solidFill>
                  </a:tcPr>
                </a:tc>
                <a:tc>
                  <a:txBody>
                    <a:bodyPr/>
                    <a:lstStyle/>
                    <a:p>
                      <a:pPr indent="0" marL="0">
                        <a:lnSpc>
                          <a:spcPts val="1750"/>
                        </a:lnSpc>
                        <a:buNone/>
                      </a:pPr>
                      <a:r>
                        <a:rPr lang="en-US" sz="1250" dirty="0">
                          <a:solidFill>
                            <a:srgbClr val="111111"/>
                          </a:solidFill>
                          <a:latin typeface="Geist" pitchFamily="34" charset="0"/>
                          <a:ea typeface="Geist" pitchFamily="34" charset="-122"/>
                          <a:cs typeface="Geist" pitchFamily="34" charset="-120"/>
                        </a:rPr>
                        <a:t>A new story: drain them all</a:t>
                      </a:r>
                      <a:endParaRPr lang="en-US" sz="1250" dirty="0">
                        <a:latin typeface="Geist" charset="0"/>
                        <a:ea typeface="Geist" charset="0"/>
                        <a:cs typeface="Geist" charset="0"/>
                      </a:endParaRPr>
                    </a:p>
                  </a:txBody>
                  <a:tcPr marL="55563" marR="55563" marT="55563" marB="55563" anchor="t">
                    <a:lnL w="12700" cap="flat" cmpd="sng" algn="ctr">
                      <a:solidFill>
                        <a:srgbClr val="C5C0B1"/>
                      </a:solidFill>
                      <a:prstDash val="solid"/>
                      <a:round/>
                      <a:headEnd type="none" w="med" len="med"/>
                      <a:tailEnd type="none" w="med" len="med"/>
                    </a:lnL>
                    <a:lnR w="12700" cap="flat" cmpd="sng" algn="ctr">
                      <a:solidFill>
                        <a:srgbClr val="C5C0B1"/>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5C0B1"/>
                      </a:solidFill>
                      <a:prstDash val="solid"/>
                      <a:round/>
                      <a:headEnd type="none" w="med" len="med"/>
                      <a:tailEnd type="none" w="med" len="med"/>
                    </a:lnB>
                    <a:solidFill>
                      <a:srgbClr val="F7F0DE"/>
                    </a:solidFill>
                  </a:tcPr>
                </a:tc>
                <a:tc>
                  <a:txBody>
                    <a:bodyPr/>
                    <a:lstStyle/>
                    <a:p>
                      <a:pPr indent="0" marL="0">
                        <a:lnSpc>
                          <a:spcPts val="1750"/>
                        </a:lnSpc>
                        <a:buNone/>
                      </a:pPr>
                      <a:r>
                        <a:rPr lang="en-US" sz="1250" dirty="0">
                          <a:solidFill>
                            <a:srgbClr val="111111"/>
                          </a:solidFill>
                          <a:latin typeface="Geist" pitchFamily="34" charset="0"/>
                          <a:ea typeface="Geist" pitchFamily="34" charset="-122"/>
                          <a:cs typeface="Geist" pitchFamily="34" charset="-120"/>
                        </a:rPr>
                        <a:t>003 spec, US4</a:t>
                      </a:r>
                      <a:endParaRPr lang="en-US" sz="1250" dirty="0">
                        <a:latin typeface="Geist" charset="0"/>
                        <a:ea typeface="Geist" charset="0"/>
                        <a:cs typeface="Geist" charset="0"/>
                      </a:endParaRPr>
                    </a:p>
                  </a:txBody>
                  <a:tcPr marL="55563" marR="55563" marT="55563" marB="55563" anchor="t">
                    <a:lnL w="12700" cap="flat" cmpd="sng" algn="ctr">
                      <a:solidFill>
                        <a:srgbClr val="C5C0B1"/>
                      </a:solidFill>
                      <a:prstDash val="solid"/>
                      <a:round/>
                      <a:headEnd type="none" w="med" len="med"/>
                      <a:tailEnd type="none" w="med" len="med"/>
                    </a:lnL>
                    <a:lnR w="12700" cap="flat" cmpd="sng" algn="ctr">
                      <a:solidFill>
                        <a:srgbClr val="C5C0B1"/>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5C0B1"/>
                      </a:solidFill>
                      <a:prstDash val="solid"/>
                      <a:round/>
                      <a:headEnd type="none" w="med" len="med"/>
                      <a:tailEnd type="none" w="med" len="med"/>
                    </a:lnB>
                    <a:solidFill>
                      <a:srgbClr val="F7F0DE"/>
                    </a:solidFill>
                  </a:tcPr>
                </a:tc>
              </a:tr>
              <a:tr h="346075">
                <a:tc>
                  <a:txBody>
                    <a:bodyPr/>
                    <a:lstStyle/>
                    <a:p>
                      <a:pPr indent="0" marL="0">
                        <a:lnSpc>
                          <a:spcPts val="1750"/>
                        </a:lnSpc>
                        <a:buNone/>
                      </a:pPr>
                      <a:r>
                        <a:rPr lang="en-US" sz="1250" dirty="0">
                          <a:solidFill>
                            <a:srgbClr val="111111"/>
                          </a:solidFill>
                          <a:latin typeface="Geist" pitchFamily="34" charset="0"/>
                          <a:ea typeface="Geist" pitchFamily="34" charset="-122"/>
                          <a:cs typeface="Geist" pitchFamily="34" charset="-120"/>
                        </a:rPr>
                        <a:t>“Dan’s a phoney… perfectly tranquil and calm”</a:t>
                      </a:r>
                      <a:endParaRPr lang="en-US" sz="1250" dirty="0">
                        <a:latin typeface="Geist" charset="0"/>
                        <a:ea typeface="Geist" charset="0"/>
                        <a:cs typeface="Geist" charset="0"/>
                      </a:endParaRPr>
                    </a:p>
                  </a:txBody>
                  <a:tcPr marL="55563" marR="55563" marT="55563" marB="55563"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5C0B1"/>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750"/>
                        </a:lnSpc>
                        <a:buNone/>
                      </a:pPr>
                      <a:r>
                        <a:rPr lang="en-US" sz="1250" dirty="0">
                          <a:solidFill>
                            <a:srgbClr val="111111"/>
                          </a:solidFill>
                          <a:latin typeface="Geist" pitchFamily="34" charset="0"/>
                          <a:ea typeface="Geist" pitchFamily="34" charset="-122"/>
                          <a:cs typeface="Geist" pitchFamily="34" charset="-120"/>
                        </a:rPr>
                        <a:t>“The back office is calm”</a:t>
                      </a:r>
                      <a:endParaRPr lang="en-US" sz="1250" dirty="0">
                        <a:latin typeface="Geist" charset="0"/>
                        <a:ea typeface="Geist" charset="0"/>
                        <a:cs typeface="Geist" charset="0"/>
                      </a:endParaRPr>
                    </a:p>
                  </a:txBody>
                  <a:tcPr marL="55563" marR="55563" marT="55563" marB="55563"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5C0B1"/>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750"/>
                        </a:lnSpc>
                        <a:buNone/>
                      </a:pPr>
                      <a:r>
                        <a:rPr lang="en-US" sz="1250" dirty="0">
                          <a:solidFill>
                            <a:srgbClr val="111111"/>
                          </a:solidFill>
                          <a:latin typeface="Geist" pitchFamily="34" charset="0"/>
                          <a:ea typeface="Geist" pitchFamily="34" charset="-122"/>
                          <a:cs typeface="Geist" pitchFamily="34" charset="-120"/>
                        </a:rPr>
                        <a:t>Constitution 4.1.0</a:t>
                      </a:r>
                      <a:endParaRPr lang="en-US" sz="1250" dirty="0">
                        <a:latin typeface="Geist" charset="0"/>
                        <a:ea typeface="Geist" charset="0"/>
                        <a:cs typeface="Geist" charset="0"/>
                      </a:endParaRPr>
                    </a:p>
                  </a:txBody>
                  <a:tcPr marL="55563" marR="55563" marT="55563" marB="55563"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5C0B1"/>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46075">
                <a:tc>
                  <a:txBody>
                    <a:bodyPr/>
                    <a:lstStyle/>
                    <a:p>
                      <a:pPr indent="0" marL="0">
                        <a:lnSpc>
                          <a:spcPts val="1750"/>
                        </a:lnSpc>
                        <a:buNone/>
                      </a:pPr>
                      <a:r>
                        <a:rPr lang="en-US" sz="1250" dirty="0">
                          <a:solidFill>
                            <a:srgbClr val="111111"/>
                          </a:solidFill>
                          <a:latin typeface="Geist" pitchFamily="34" charset="0"/>
                          <a:ea typeface="Geist" pitchFamily="34" charset="-122"/>
                          <a:cs typeface="Geist" pitchFamily="34" charset="-120"/>
                        </a:rPr>
                        <a:t>“keep the ones that Dan made in the back office”</a:t>
                      </a:r>
                      <a:endParaRPr lang="en-US" sz="1250" dirty="0">
                        <a:latin typeface="Geist" charset="0"/>
                        <a:ea typeface="Geist" charset="0"/>
                        <a:cs typeface="Geist" charset="0"/>
                      </a:endParaRPr>
                    </a:p>
                  </a:txBody>
                  <a:tcPr marL="55563" marR="55563" marT="55563" marB="55563" anchor="t">
                    <a:lnL w="12700" cap="flat" cmpd="sng" algn="ctr">
                      <a:solidFill>
                        <a:srgbClr val="CBCBCB"/>
                      </a:solidFill>
                      <a:prstDash val="solid"/>
                      <a:round/>
                      <a:headEnd type="none" w="med" len="med"/>
                      <a:tailEnd type="none" w="med" len="med"/>
                    </a:lnL>
                    <a:lnR w="12700" cap="flat" cmpd="sng" algn="ctr">
                      <a:solidFill>
                        <a:srgbClr val="C5C0B1"/>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5C0B1"/>
                      </a:solidFill>
                      <a:prstDash val="solid"/>
                      <a:round/>
                      <a:headEnd type="none" w="med" len="med"/>
                      <a:tailEnd type="none" w="med" len="med"/>
                    </a:lnB>
                    <a:solidFill>
                      <a:srgbClr val="F7F0DE"/>
                    </a:solidFill>
                  </a:tcPr>
                </a:tc>
                <a:tc>
                  <a:txBody>
                    <a:bodyPr/>
                    <a:lstStyle/>
                    <a:p>
                      <a:pPr indent="0" marL="0">
                        <a:lnSpc>
                          <a:spcPts val="1750"/>
                        </a:lnSpc>
                        <a:buNone/>
                      </a:pPr>
                      <a:r>
                        <a:rPr lang="en-US" sz="1250" dirty="0">
                          <a:solidFill>
                            <a:srgbClr val="111111"/>
                          </a:solidFill>
                          <a:latin typeface="Geist" pitchFamily="34" charset="0"/>
                          <a:ea typeface="Geist" pitchFamily="34" charset="-122"/>
                          <a:cs typeface="Geist" pitchFamily="34" charset="-120"/>
                        </a:rPr>
                        <a:t>The sweep never touches them</a:t>
                      </a:r>
                      <a:endParaRPr lang="en-US" sz="1250" dirty="0">
                        <a:latin typeface="Geist" charset="0"/>
                        <a:ea typeface="Geist" charset="0"/>
                        <a:cs typeface="Geist" charset="0"/>
                      </a:endParaRPr>
                    </a:p>
                  </a:txBody>
                  <a:tcPr marL="55563" marR="55563" marT="55563" marB="55563" anchor="t">
                    <a:lnL w="12700" cap="flat" cmpd="sng" algn="ctr">
                      <a:solidFill>
                        <a:srgbClr val="C5C0B1"/>
                      </a:solidFill>
                      <a:prstDash val="solid"/>
                      <a:round/>
                      <a:headEnd type="none" w="med" len="med"/>
                      <a:tailEnd type="none" w="med" len="med"/>
                    </a:lnL>
                    <a:lnR w="12700" cap="flat" cmpd="sng" algn="ctr">
                      <a:solidFill>
                        <a:srgbClr val="C5C0B1"/>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5C0B1"/>
                      </a:solidFill>
                      <a:prstDash val="solid"/>
                      <a:round/>
                      <a:headEnd type="none" w="med" len="med"/>
                      <a:tailEnd type="none" w="med" len="med"/>
                    </a:lnB>
                    <a:solidFill>
                      <a:srgbClr val="F7F0DE"/>
                    </a:solidFill>
                  </a:tcPr>
                </a:tc>
                <a:tc>
                  <a:txBody>
                    <a:bodyPr/>
                    <a:lstStyle/>
                    <a:p>
                      <a:pPr indent="0" marL="0">
                        <a:lnSpc>
                          <a:spcPts val="1750"/>
                        </a:lnSpc>
                        <a:buNone/>
                      </a:pPr>
                      <a:r>
                        <a:rPr lang="en-US" sz="1250" dirty="0">
                          <a:solidFill>
                            <a:srgbClr val="111111"/>
                          </a:solidFill>
                          <a:latin typeface="Geist" pitchFamily="34" charset="0"/>
                          <a:ea typeface="Geist" pitchFamily="34" charset="-122"/>
                          <a:cs typeface="Geist" pitchFamily="34" charset="-120"/>
                        </a:rPr>
                        <a:t>011 spec</a:t>
                      </a:r>
                      <a:endParaRPr lang="en-US" sz="1250" dirty="0">
                        <a:latin typeface="Geist" charset="0"/>
                        <a:ea typeface="Geist" charset="0"/>
                        <a:cs typeface="Geist" charset="0"/>
                      </a:endParaRPr>
                    </a:p>
                  </a:txBody>
                  <a:tcPr marL="55563" marR="55563" marT="55563" marB="55563" anchor="t">
                    <a:lnL w="12700" cap="flat" cmpd="sng" algn="ctr">
                      <a:solidFill>
                        <a:srgbClr val="C5C0B1"/>
                      </a:solidFill>
                      <a:prstDash val="solid"/>
                      <a:round/>
                      <a:headEnd type="none" w="med" len="med"/>
                      <a:tailEnd type="none" w="med" len="med"/>
                    </a:lnL>
                    <a:lnR w="12700" cap="flat" cmpd="sng" algn="ctr">
                      <a:solidFill>
                        <a:srgbClr val="C5C0B1"/>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5C0B1"/>
                      </a:solidFill>
                      <a:prstDash val="solid"/>
                      <a:round/>
                      <a:headEnd type="none" w="med" len="med"/>
                      <a:tailEnd type="none" w="med" len="med"/>
                    </a:lnB>
                    <a:solidFill>
                      <a:srgbClr val="F7F0DE"/>
                    </a:solidFill>
                  </a:tcPr>
                </a:tc>
              </a:tr>
              <a:tr h="346075">
                <a:tc>
                  <a:txBody>
                    <a:bodyPr/>
                    <a:lstStyle/>
                    <a:p>
                      <a:pPr indent="0" marL="0">
                        <a:lnSpc>
                          <a:spcPts val="1750"/>
                        </a:lnSpc>
                        <a:buNone/>
                      </a:pPr>
                      <a:r>
                        <a:rPr lang="en-US" sz="1250" dirty="0">
                          <a:solidFill>
                            <a:srgbClr val="111111"/>
                          </a:solidFill>
                          <a:latin typeface="Geist" pitchFamily="34" charset="0"/>
                          <a:ea typeface="Geist" pitchFamily="34" charset="-122"/>
                          <a:cs typeface="Geist" pitchFamily="34" charset="-120"/>
                        </a:rPr>
                        <a:t>“make up an incredible and pompous excuse”</a:t>
                      </a:r>
                      <a:endParaRPr lang="en-US" sz="1250" dirty="0">
                        <a:latin typeface="Geist" charset="0"/>
                        <a:ea typeface="Geist" charset="0"/>
                        <a:cs typeface="Geist" charset="0"/>
                      </a:endParaRPr>
                    </a:p>
                  </a:txBody>
                  <a:tcPr marL="55563" marR="55563" marT="55563" marB="55563"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5C0B1"/>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750"/>
                        </a:lnSpc>
                        <a:buNone/>
                      </a:pPr>
                      <a:r>
                        <a:rPr lang="en-US" sz="1250" dirty="0">
                          <a:solidFill>
                            <a:srgbClr val="111111"/>
                          </a:solidFill>
                          <a:latin typeface="Geist" pitchFamily="34" charset="0"/>
                          <a:ea typeface="Geist" pitchFamily="34" charset="-122"/>
                          <a:cs typeface="Geist" pitchFamily="34" charset="-120"/>
                        </a:rPr>
                        <a:t>Canned excuses for Dan</a:t>
                      </a:r>
                      <a:endParaRPr lang="en-US" sz="1250" dirty="0">
                        <a:latin typeface="Geist" charset="0"/>
                        <a:ea typeface="Geist" charset="0"/>
                        <a:cs typeface="Geist" charset="0"/>
                      </a:endParaRPr>
                    </a:p>
                  </a:txBody>
                  <a:tcPr marL="55563" marR="55563" marT="55563" marB="55563"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5C0B1"/>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750"/>
                        </a:lnSpc>
                        <a:buNone/>
                      </a:pPr>
                      <a:r>
                        <a:rPr lang="en-US" sz="1250" dirty="0">
                          <a:solidFill>
                            <a:srgbClr val="111111"/>
                          </a:solidFill>
                          <a:latin typeface="Geist" pitchFamily="34" charset="0"/>
                          <a:ea typeface="Geist" pitchFamily="34" charset="-122"/>
                          <a:cs typeface="Geist" pitchFamily="34" charset="-120"/>
                        </a:rPr>
                        <a:t>012 spec, Q6</a:t>
                      </a:r>
                      <a:endParaRPr lang="en-US" sz="1250" dirty="0">
                        <a:latin typeface="Geist" charset="0"/>
                        <a:ea typeface="Geist" charset="0"/>
                        <a:cs typeface="Geist" charset="0"/>
                      </a:endParaRPr>
                    </a:p>
                  </a:txBody>
                  <a:tcPr marL="55563" marR="55563" marT="55563" marB="55563"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5C0B1"/>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9" name="Text 6"/>
          <p:cNvSpPr/>
          <p:nvPr/>
        </p:nvSpPr>
        <p:spPr>
          <a:xfrm>
            <a:off x="812800" y="4806851"/>
            <a:ext cx="10883392"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D382F"/>
                </a:solidFill>
                <a:latin typeface="Geist" pitchFamily="34" charset="0"/>
                <a:ea typeface="Geist" pitchFamily="34" charset="-122"/>
                <a:cs typeface="Geist" pitchFamily="34" charset="-120"/>
              </a:rPr>
              <a:t>When a later feature changed earlier behavior, the earlier spec was updated too.</a:t>
            </a:r>
            <a:endParaRPr lang="en-US" sz="1300" dirty="0"/>
          </a:p>
        </p:txBody>
      </p:sp>
      <p:sp>
        <p:nvSpPr>
          <p:cNvPr id="10" name="Text 7"/>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6B6252"/>
                </a:solidFill>
                <a:latin typeface="Geist" pitchFamily="34" charset="0"/>
                <a:ea typeface="Geist" pitchFamily="34" charset="-122"/>
                <a:cs typeface="Geist" pitchFamily="34" charset="-120"/>
              </a:rPr>
              <a:t>DAN FLASHES × SPEC KIT</a:t>
            </a:r>
            <a:endParaRPr lang="en-US" sz="1200" dirty="0"/>
          </a:p>
        </p:txBody>
      </p:sp>
      <p:sp>
        <p:nvSpPr>
          <p:cNvPr id="11" name="Text 8"/>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6252"/>
                </a:solidFill>
                <a:latin typeface="Geist" pitchFamily="34" charset="0"/>
                <a:ea typeface="Geist" pitchFamily="34" charset="-122"/>
                <a:cs typeface="Geist" pitchFamily="34" charset="-120"/>
              </a:rPr>
              <a:t>13</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2D95"/>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111111"/>
                </a:solidFill>
                <a:latin typeface="Geist" pitchFamily="34" charset="0"/>
                <a:ea typeface="Geist" pitchFamily="34" charset="-122"/>
                <a:cs typeface="Geist" pitchFamily="34" charset="-120"/>
              </a:rPr>
              <a:t>CASE STUDY · THE PRICE CURVE</a:t>
            </a:r>
            <a:endParaRPr lang="en-US" sz="1200" dirty="0"/>
          </a:p>
        </p:txBody>
      </p:sp>
      <p:sp>
        <p:nvSpPr>
          <p:cNvPr id="3" name="Text 1"/>
          <p:cNvSpPr/>
          <p:nvPr>
            <p:ph type="title"/>
          </p:nvPr>
        </p:nvSpPr>
        <p:spPr>
          <a:xfrm>
            <a:off x="812800" y="1254720"/>
            <a:ext cx="10883392" cy="612080"/>
          </a:xfrm>
          <a:prstGeom prst="rect">
            <a:avLst/>
          </a:prstGeom>
          <a:noFill/>
          <a:ln/>
        </p:spPr>
        <p:txBody>
          <a:bodyPr wrap="square" lIns="0" tIns="0" rIns="0" bIns="0" rtlCol="0" anchor="t">
            <a:normAutofit/>
          </a:bodyPr>
          <a:lstStyle/>
          <a:p>
            <a:pPr algn="l" indent="0" marL="0">
              <a:lnSpc>
                <a:spcPts val="4620"/>
              </a:lnSpc>
              <a:buNone/>
            </a:pPr>
            <a:r>
              <a:rPr lang="en-US" sz="4400" b="0" i="0" dirty="0">
                <a:solidFill>
                  <a:srgbClr val="111111"/>
                </a:solidFill>
                <a:latin typeface="Bungee" pitchFamily="34" charset="0"/>
                <a:ea typeface="Bungee" pitchFamily="34" charset="-122"/>
                <a:cs typeface="Bungee" pitchFamily="34" charset="-120"/>
              </a:rPr>
              <a:t>The 181-digit shirt</a:t>
            </a:r>
            <a:endParaRPr lang="en-US" sz="4400" dirty="0"/>
          </a:p>
        </p:txBody>
      </p:sp>
      <p:sp>
        <p:nvSpPr>
          <p:cNvPr id="4" name="Text 2"/>
          <p:cNvSpPr/>
          <p:nvPr/>
        </p:nvSpPr>
        <p:spPr>
          <a:xfrm>
            <a:off x="812800" y="2070001"/>
            <a:ext cx="9810750" cy="642541"/>
          </a:xfrm>
          <a:prstGeom prst="rect">
            <a:avLst/>
          </a:prstGeom>
          <a:noFill/>
          <a:ln/>
        </p:spPr>
        <p:txBody>
          <a:bodyPr wrap="square" lIns="0" tIns="0" rIns="0" bIns="0" rtlCol="0" anchor="t">
            <a:normAutofit/>
          </a:bodyPr>
          <a:lstStyle/>
          <a:p>
            <a:pPr algn="l" indent="0" marL="0">
              <a:lnSpc>
                <a:spcPts val="2430"/>
              </a:lnSpc>
              <a:buNone/>
            </a:pPr>
            <a:r>
              <a:rPr lang="en-US" sz="1800" b="1" dirty="0">
                <a:solidFill>
                  <a:srgbClr val="111111"/>
                </a:solidFill>
                <a:latin typeface="Geist" pitchFamily="34" charset="0"/>
                <a:ea typeface="Geist" pitchFamily="34" charset="-122"/>
                <a:cs typeface="Geist" pitchFamily="34" charset="-120"/>
              </a:rPr>
              <a:t>“I tried the shirt generator on the backend, the price is a bit astronomical… is something off here?”</a:t>
            </a:r>
            <a:endParaRPr lang="en-US" sz="1800" dirty="0"/>
          </a:p>
        </p:txBody>
      </p:sp>
      <p:sp>
        <p:nvSpPr>
          <p:cNvPr id="5" name="Text 3"/>
          <p:cNvSpPr/>
          <p:nvPr/>
        </p:nvSpPr>
        <p:spPr>
          <a:xfrm>
            <a:off x="812800" y="2915741"/>
            <a:ext cx="10566400" cy="469900"/>
          </a:xfrm>
          <a:prstGeom prst="roundRect">
            <a:avLst>
              <a:gd name="adj" fmla="val 10811"/>
            </a:avLst>
          </a:prstGeom>
          <a:solidFill>
            <a:srgbClr val="111111"/>
          </a:solidFill>
          <a:ln/>
        </p:spPr>
        <p:txBody>
          <a:bodyPr wrap="square" lIns="162921" tIns="86721" rIns="0" bIns="61321" rtlCol="0" anchor="t">
            <a:normAutofit/>
          </a:bodyPr>
          <a:lstStyle/>
          <a:p>
            <a:pPr algn="l" indent="0" marL="0">
              <a:lnSpc>
                <a:spcPts val="2100"/>
              </a:lnSpc>
              <a:buNone/>
            </a:pPr>
            <a:r>
              <a:rPr lang="en-US" sz="1500" dirty="0">
                <a:solidFill>
                  <a:srgbClr val="FFE600"/>
                </a:solidFill>
                <a:latin typeface="Geist Mono" pitchFamily="49" charset="0"/>
                <a:ea typeface="Geist Mono" pitchFamily="49" charset="-122"/>
                <a:cs typeface="Geist Mono" pitchFamily="49" charset="-120"/>
              </a:rPr>
              <a:t>Score 9000 → MSRP $1,267,906,874,725,596,600,000,000,000,000,000,…</a:t>
            </a:r>
            <a:endParaRPr lang="en-US" sz="1500" dirty="0"/>
          </a:p>
        </p:txBody>
      </p:sp>
      <p:sp>
        <p:nvSpPr>
          <p:cNvPr id="6" name="Shape 4"/>
          <p:cNvSpPr/>
          <p:nvPr/>
        </p:nvSpPr>
        <p:spPr>
          <a:xfrm>
            <a:off x="812800" y="3614241"/>
            <a:ext cx="2146300" cy="1262658"/>
          </a:xfrm>
          <a:prstGeom prst="rect">
            <a:avLst/>
          </a:prstGeom>
          <a:solidFill>
            <a:srgbClr val="111111"/>
          </a:solidFill>
          <a:ln/>
        </p:spPr>
      </p:sp>
      <p:sp>
        <p:nvSpPr>
          <p:cNvPr id="7" name="Text 5"/>
          <p:cNvSpPr/>
          <p:nvPr/>
        </p:nvSpPr>
        <p:spPr>
          <a:xfrm>
            <a:off x="990600" y="3792041"/>
            <a:ext cx="1844421"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FFE600"/>
                </a:solidFill>
                <a:latin typeface="Geist" pitchFamily="34" charset="0"/>
                <a:ea typeface="Geist" pitchFamily="34" charset="-122"/>
                <a:cs typeface="Geist" pitchFamily="34" charset="-120"/>
              </a:rPr>
              <a:t>The spec</a:t>
            </a:r>
            <a:endParaRPr lang="en-US" sz="1400" dirty="0"/>
          </a:p>
        </p:txBody>
      </p:sp>
      <p:sp>
        <p:nvSpPr>
          <p:cNvPr id="8" name="Text 6"/>
          <p:cNvSpPr/>
          <p:nvPr/>
        </p:nvSpPr>
        <p:spPr>
          <a:xfrm>
            <a:off x="990600" y="4056162"/>
            <a:ext cx="1844421" cy="668338"/>
          </a:xfrm>
          <a:prstGeom prst="rect">
            <a:avLst/>
          </a:prstGeom>
          <a:noFill/>
          <a:ln/>
        </p:spPr>
        <p:txBody>
          <a:bodyPr wrap="square" lIns="0" tIns="0" rIns="0" bIns="0" rtlCol="0" anchor="t">
            <a:normAutofit/>
          </a:bodyPr>
          <a:lstStyle/>
          <a:p>
            <a:pPr algn="l" indent="0" marL="0">
              <a:lnSpc>
                <a:spcPts val="1688"/>
              </a:lnSpc>
              <a:buNone/>
            </a:pPr>
            <a:r>
              <a:rPr lang="en-US" sz="1250" dirty="0">
                <a:solidFill>
                  <a:srgbClr val="FFF8E7"/>
                </a:solidFill>
                <a:latin typeface="Geist" pitchFamily="34" charset="0"/>
                <a:ea typeface="Geist" pitchFamily="34" charset="-122"/>
                <a:cs typeface="Geist" pitchFamily="34" charset="-120"/>
              </a:rPr>
              <a:t>An exponential MSRP, written into constitution II</a:t>
            </a:r>
            <a:endParaRPr lang="en-US" sz="1250" dirty="0"/>
          </a:p>
        </p:txBody>
      </p:sp>
      <p:pic>
        <p:nvPicPr>
          <p:cNvPr id="9" name="Image 0" descr="arrow-right">    </p:cNvPr>
          <p:cNvPicPr>
            <a:picLocks noChangeAspect="1"/>
          </p:cNvPicPr>
          <p:nvPr/>
        </p:nvPicPr>
        <p:blipFill>
          <a:blip r:embed="rId1"/>
          <a:srcRect l="0" r="0" t="0" b="0"/>
          <a:stretch/>
        </p:blipFill>
        <p:spPr>
          <a:xfrm>
            <a:off x="3086100" y="4143970"/>
            <a:ext cx="406400" cy="203200"/>
          </a:xfrm>
          <a:prstGeom prst="rect">
            <a:avLst/>
          </a:prstGeom>
        </p:spPr>
      </p:pic>
      <p:sp>
        <p:nvSpPr>
          <p:cNvPr id="10" name="Shape 7"/>
          <p:cNvSpPr/>
          <p:nvPr/>
        </p:nvSpPr>
        <p:spPr>
          <a:xfrm>
            <a:off x="3619500" y="3721398"/>
            <a:ext cx="2146300" cy="1048345"/>
          </a:xfrm>
          <a:prstGeom prst="rect">
            <a:avLst/>
          </a:prstGeom>
          <a:solidFill>
            <a:srgbClr val="111111"/>
          </a:solidFill>
          <a:ln/>
        </p:spPr>
      </p:sp>
      <p:sp>
        <p:nvSpPr>
          <p:cNvPr id="11" name="Text 8"/>
          <p:cNvSpPr/>
          <p:nvPr/>
        </p:nvSpPr>
        <p:spPr>
          <a:xfrm>
            <a:off x="3797300" y="3899198"/>
            <a:ext cx="1844421"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FFE600"/>
                </a:solidFill>
                <a:latin typeface="Geist" pitchFamily="34" charset="0"/>
                <a:ea typeface="Geist" pitchFamily="34" charset="-122"/>
                <a:cs typeface="Geist" pitchFamily="34" charset="-120"/>
              </a:rPr>
              <a:t>Found by use</a:t>
            </a:r>
            <a:endParaRPr lang="en-US" sz="1400" dirty="0"/>
          </a:p>
        </p:txBody>
      </p:sp>
      <p:sp>
        <p:nvSpPr>
          <p:cNvPr id="12" name="Text 9"/>
          <p:cNvSpPr/>
          <p:nvPr/>
        </p:nvSpPr>
        <p:spPr>
          <a:xfrm>
            <a:off x="3797300" y="4163318"/>
            <a:ext cx="1844421" cy="454025"/>
          </a:xfrm>
          <a:prstGeom prst="rect">
            <a:avLst/>
          </a:prstGeom>
          <a:noFill/>
          <a:ln/>
        </p:spPr>
        <p:txBody>
          <a:bodyPr wrap="square" lIns="0" tIns="0" rIns="0" bIns="0" rtlCol="0" anchor="t">
            <a:normAutofit/>
          </a:bodyPr>
          <a:lstStyle/>
          <a:p>
            <a:pPr algn="l" indent="0" marL="0">
              <a:lnSpc>
                <a:spcPts val="1688"/>
              </a:lnSpc>
              <a:buNone/>
            </a:pPr>
            <a:r>
              <a:rPr lang="en-US" sz="1250" dirty="0">
                <a:solidFill>
                  <a:srgbClr val="FFF8E7"/>
                </a:solidFill>
                <a:latin typeface="Geist" pitchFamily="34" charset="0"/>
                <a:ea typeface="Geist" pitchFamily="34" charset="-122"/>
                <a:cs typeface="Geist" pitchFamily="34" charset="-120"/>
              </a:rPr>
              <a:t>Tests passed. Clicking around didn’t.</a:t>
            </a:r>
            <a:endParaRPr lang="en-US" sz="1250" dirty="0"/>
          </a:p>
        </p:txBody>
      </p:sp>
      <p:pic>
        <p:nvPicPr>
          <p:cNvPr id="13" name="Image 1" descr="arrow-right">    </p:cNvPr>
          <p:cNvPicPr>
            <a:picLocks noChangeAspect="1"/>
          </p:cNvPicPr>
          <p:nvPr/>
        </p:nvPicPr>
        <p:blipFill>
          <a:blip r:embed="rId2"/>
          <a:srcRect l="0" r="0" t="0" b="0"/>
          <a:stretch/>
        </p:blipFill>
        <p:spPr>
          <a:xfrm>
            <a:off x="5892800" y="4143970"/>
            <a:ext cx="406400" cy="203200"/>
          </a:xfrm>
          <a:prstGeom prst="rect">
            <a:avLst/>
          </a:prstGeom>
        </p:spPr>
      </p:pic>
      <p:sp>
        <p:nvSpPr>
          <p:cNvPr id="14" name="Shape 10"/>
          <p:cNvSpPr/>
          <p:nvPr/>
        </p:nvSpPr>
        <p:spPr>
          <a:xfrm>
            <a:off x="6426200" y="3614241"/>
            <a:ext cx="2146300" cy="1262658"/>
          </a:xfrm>
          <a:prstGeom prst="rect">
            <a:avLst/>
          </a:prstGeom>
          <a:solidFill>
            <a:srgbClr val="111111"/>
          </a:solidFill>
          <a:ln/>
        </p:spPr>
      </p:sp>
      <p:sp>
        <p:nvSpPr>
          <p:cNvPr id="15" name="Text 11"/>
          <p:cNvSpPr/>
          <p:nvPr/>
        </p:nvSpPr>
        <p:spPr>
          <a:xfrm>
            <a:off x="6604000" y="3792041"/>
            <a:ext cx="1844421"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FFE600"/>
                </a:solidFill>
                <a:latin typeface="Geist" pitchFamily="34" charset="0"/>
                <a:ea typeface="Geist" pitchFamily="34" charset="-122"/>
                <a:cs typeface="Geist" pitchFamily="34" charset="-120"/>
              </a:rPr>
              <a:t>Same process</a:t>
            </a:r>
            <a:endParaRPr lang="en-US" sz="1400" dirty="0"/>
          </a:p>
        </p:txBody>
      </p:sp>
      <p:sp>
        <p:nvSpPr>
          <p:cNvPr id="16" name="Text 12"/>
          <p:cNvSpPr/>
          <p:nvPr/>
        </p:nvSpPr>
        <p:spPr>
          <a:xfrm>
            <a:off x="6604000" y="4056162"/>
            <a:ext cx="1844421" cy="668338"/>
          </a:xfrm>
          <a:prstGeom prst="rect">
            <a:avLst/>
          </a:prstGeom>
          <a:noFill/>
          <a:ln/>
        </p:spPr>
        <p:txBody>
          <a:bodyPr wrap="square" lIns="0" tIns="0" rIns="0" bIns="0" rtlCol="0" anchor="t">
            <a:normAutofit/>
          </a:bodyPr>
          <a:lstStyle/>
          <a:p>
            <a:pPr algn="l" indent="0" marL="0">
              <a:lnSpc>
                <a:spcPts val="1688"/>
              </a:lnSpc>
              <a:buNone/>
            </a:pPr>
            <a:r>
              <a:rPr lang="en-US" sz="1250" dirty="0">
                <a:solidFill>
                  <a:srgbClr val="FFF8E7"/>
                </a:solidFill>
                <a:latin typeface="Geist" pitchFamily="34" charset="0"/>
                <a:ea typeface="Geist" pitchFamily="34" charset="-122"/>
                <a:cs typeface="Geist" pitchFamily="34" charset="-120"/>
              </a:rPr>
              <a:t>Feature 010, constitution 5.0.0 (MAJOR)</a:t>
            </a:r>
            <a:endParaRPr lang="en-US" sz="1250" dirty="0"/>
          </a:p>
        </p:txBody>
      </p:sp>
      <p:pic>
        <p:nvPicPr>
          <p:cNvPr id="17" name="Image 2" descr="arrow-right">    </p:cNvPr>
          <p:cNvPicPr>
            <a:picLocks noChangeAspect="1"/>
          </p:cNvPicPr>
          <p:nvPr/>
        </p:nvPicPr>
        <p:blipFill>
          <a:blip r:embed="rId3"/>
          <a:srcRect l="0" r="0" t="0" b="0"/>
          <a:stretch/>
        </p:blipFill>
        <p:spPr>
          <a:xfrm>
            <a:off x="8699500" y="4143970"/>
            <a:ext cx="406400" cy="203200"/>
          </a:xfrm>
          <a:prstGeom prst="rect">
            <a:avLst/>
          </a:prstGeom>
        </p:spPr>
      </p:pic>
      <p:sp>
        <p:nvSpPr>
          <p:cNvPr id="18" name="Shape 13"/>
          <p:cNvSpPr/>
          <p:nvPr/>
        </p:nvSpPr>
        <p:spPr>
          <a:xfrm>
            <a:off x="9232900" y="3721398"/>
            <a:ext cx="2146300" cy="1048345"/>
          </a:xfrm>
          <a:prstGeom prst="rect">
            <a:avLst/>
          </a:prstGeom>
          <a:solidFill>
            <a:srgbClr val="111111"/>
          </a:solidFill>
          <a:ln/>
        </p:spPr>
      </p:sp>
      <p:sp>
        <p:nvSpPr>
          <p:cNvPr id="19" name="Text 14"/>
          <p:cNvSpPr/>
          <p:nvPr/>
        </p:nvSpPr>
        <p:spPr>
          <a:xfrm>
            <a:off x="9410700" y="3899198"/>
            <a:ext cx="1844421"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FFE600"/>
                </a:solidFill>
                <a:latin typeface="Geist" pitchFamily="34" charset="0"/>
                <a:ea typeface="Geist" pitchFamily="34" charset="-122"/>
                <a:cs typeface="Geist" pitchFamily="34" charset="-120"/>
              </a:rPr>
              <a:t>The fix</a:t>
            </a:r>
            <a:endParaRPr lang="en-US" sz="1400" dirty="0"/>
          </a:p>
        </p:txBody>
      </p:sp>
      <p:sp>
        <p:nvSpPr>
          <p:cNvPr id="20" name="Text 15"/>
          <p:cNvSpPr/>
          <p:nvPr/>
        </p:nvSpPr>
        <p:spPr>
          <a:xfrm>
            <a:off x="9410700" y="4163318"/>
            <a:ext cx="1844421" cy="454025"/>
          </a:xfrm>
          <a:prstGeom prst="rect">
            <a:avLst/>
          </a:prstGeom>
          <a:noFill/>
          <a:ln/>
        </p:spPr>
        <p:txBody>
          <a:bodyPr wrap="square" lIns="0" tIns="0" rIns="0" bIns="0" rtlCol="0" anchor="t">
            <a:normAutofit/>
          </a:bodyPr>
          <a:lstStyle/>
          <a:p>
            <a:pPr algn="l" indent="0" marL="0">
              <a:lnSpc>
                <a:spcPts val="1688"/>
              </a:lnSpc>
              <a:buNone/>
            </a:pPr>
            <a:r>
              <a:rPr lang="en-US" sz="1250" dirty="0">
                <a:solidFill>
                  <a:srgbClr val="FFF8E7"/>
                </a:solidFill>
                <a:latin typeface="Geist" pitchFamily="34" charset="0"/>
                <a:ea typeface="Geist" pitchFamily="34" charset="-122"/>
                <a:cs typeface="Geist" pitchFamily="34" charset="-120"/>
              </a:rPr>
              <a:t>$50 + $25 a point. Every shirt repriced.</a:t>
            </a:r>
            <a:endParaRPr lang="en-US" sz="1250" dirty="0"/>
          </a:p>
        </p:txBody>
      </p:sp>
      <p:sp>
        <p:nvSpPr>
          <p:cNvPr id="21" name="Text 16"/>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111111"/>
                </a:solidFill>
                <a:latin typeface="Geist" pitchFamily="34" charset="0"/>
                <a:ea typeface="Geist" pitchFamily="34" charset="-122"/>
                <a:cs typeface="Geist" pitchFamily="34" charset="-120"/>
              </a:rPr>
              <a:t>DAN FLASHES × SPEC KIT</a:t>
            </a:r>
            <a:endParaRPr lang="en-US" sz="1200" dirty="0"/>
          </a:p>
        </p:txBody>
      </p:sp>
      <p:sp>
        <p:nvSpPr>
          <p:cNvPr id="22" name="Text 17"/>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11111"/>
                </a:solidFill>
                <a:latin typeface="Geist" pitchFamily="34" charset="0"/>
                <a:ea typeface="Geist" pitchFamily="34" charset="-122"/>
                <a:cs typeface="Geist" pitchFamily="34" charset="-120"/>
              </a:rPr>
              <a:t>14</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11111"/>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FFE600"/>
                </a:solidFill>
                <a:latin typeface="Geist" pitchFamily="34" charset="0"/>
                <a:ea typeface="Geist" pitchFamily="34" charset="-122"/>
                <a:cs typeface="Geist" pitchFamily="34" charset="-120"/>
              </a:rPr>
              <a:t>FEATURE 012 · THE PUSHY SHIRT SALES BOT</a:t>
            </a:r>
            <a:endParaRPr lang="en-US" sz="1200" dirty="0"/>
          </a:p>
        </p:txBody>
      </p:sp>
      <p:sp>
        <p:nvSpPr>
          <p:cNvPr id="3" name="Text 1"/>
          <p:cNvSpPr/>
          <p:nvPr>
            <p:ph type="title"/>
          </p:nvPr>
        </p:nvSpPr>
        <p:spPr>
          <a:xfrm>
            <a:off x="812800" y="11023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0" i="0" dirty="0">
                <a:solidFill>
                  <a:srgbClr val="FFF8E7"/>
                </a:solidFill>
                <a:latin typeface="Bungee" pitchFamily="34" charset="0"/>
                <a:ea typeface="Bungee" pitchFamily="34" charset="-122"/>
                <a:cs typeface="Bungee" pitchFamily="34" charset="-120"/>
              </a:rPr>
              <a:t>Case study: PSSB</a:t>
            </a:r>
            <a:endParaRPr lang="en-US" sz="3200" dirty="0"/>
          </a:p>
        </p:txBody>
      </p:sp>
      <p:sp>
        <p:nvSpPr>
          <p:cNvPr id="4" name="Text 2"/>
          <p:cNvSpPr/>
          <p:nvPr/>
        </p:nvSpPr>
        <p:spPr>
          <a:xfrm>
            <a:off x="812800" y="1803301"/>
            <a:ext cx="304800"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F2D95"/>
                </a:solidFill>
                <a:latin typeface="Bungee" pitchFamily="34" charset="0"/>
                <a:ea typeface="Bungee" pitchFamily="34" charset="-122"/>
                <a:cs typeface="Bungee" pitchFamily="34" charset="-120"/>
              </a:rPr>
              <a:t>1</a:t>
            </a:r>
            <a:endParaRPr lang="en-US" sz="1400" dirty="0"/>
          </a:p>
        </p:txBody>
      </p:sp>
      <p:sp>
        <p:nvSpPr>
          <p:cNvPr id="5" name="Text 3"/>
          <p:cNvSpPr/>
          <p:nvPr/>
        </p:nvSpPr>
        <p:spPr>
          <a:xfrm>
            <a:off x="1193800" y="1822351"/>
            <a:ext cx="4036457" cy="256778"/>
          </a:xfrm>
          <a:prstGeom prst="rect">
            <a:avLst/>
          </a:prstGeom>
          <a:noFill/>
          <a:ln/>
        </p:spPr>
        <p:txBody>
          <a:bodyPr wrap="square" lIns="0" tIns="0" rIns="0" bIns="0" rtlCol="0" anchor="t">
            <a:normAutofit/>
          </a:bodyPr>
          <a:lstStyle/>
          <a:p>
            <a:pPr algn="l" indent="0" marL="0">
              <a:lnSpc>
                <a:spcPts val="1823"/>
              </a:lnSpc>
              <a:buNone/>
            </a:pPr>
            <a:r>
              <a:rPr lang="en-US" sz="1350" dirty="0">
                <a:solidFill>
                  <a:srgbClr val="FFF8E7"/>
                </a:solidFill>
                <a:latin typeface="Geist" pitchFamily="34" charset="0"/>
                <a:ea typeface="Geist" pitchFamily="34" charset="-122"/>
                <a:cs typeface="Geist" pitchFamily="34" charset="-120"/>
              </a:rPr>
              <a:t>An elitist, encouraging bot on a local model</a:t>
            </a:r>
            <a:endParaRPr lang="en-US" sz="1350" dirty="0"/>
          </a:p>
        </p:txBody>
      </p:sp>
      <p:sp>
        <p:nvSpPr>
          <p:cNvPr id="6" name="Text 4"/>
          <p:cNvSpPr/>
          <p:nvPr/>
        </p:nvSpPr>
        <p:spPr>
          <a:xfrm>
            <a:off x="812800" y="2155329"/>
            <a:ext cx="304800"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FE600"/>
                </a:solidFill>
                <a:latin typeface="Bungee" pitchFamily="34" charset="0"/>
                <a:ea typeface="Bungee" pitchFamily="34" charset="-122"/>
                <a:cs typeface="Bungee" pitchFamily="34" charset="-120"/>
              </a:rPr>
              <a:t>2</a:t>
            </a:r>
            <a:endParaRPr lang="en-US" sz="1400" dirty="0"/>
          </a:p>
        </p:txBody>
      </p:sp>
      <p:sp>
        <p:nvSpPr>
          <p:cNvPr id="7" name="Text 5"/>
          <p:cNvSpPr/>
          <p:nvPr/>
        </p:nvSpPr>
        <p:spPr>
          <a:xfrm>
            <a:off x="1193800" y="2174379"/>
            <a:ext cx="5546344" cy="488156"/>
          </a:xfrm>
          <a:prstGeom prst="rect">
            <a:avLst/>
          </a:prstGeom>
          <a:noFill/>
          <a:ln/>
        </p:spPr>
        <p:txBody>
          <a:bodyPr wrap="square" lIns="0" tIns="0" rIns="0" bIns="0" rtlCol="0" anchor="t">
            <a:normAutofit/>
          </a:bodyPr>
          <a:lstStyle/>
          <a:p>
            <a:pPr algn="l" indent="0" marL="0">
              <a:lnSpc>
                <a:spcPts val="1823"/>
              </a:lnSpc>
              <a:buNone/>
            </a:pPr>
            <a:r>
              <a:rPr lang="en-US" sz="1350" dirty="0">
                <a:solidFill>
                  <a:srgbClr val="FFF8E7"/>
                </a:solidFill>
                <a:latin typeface="Geist" pitchFamily="34" charset="0"/>
                <a:ea typeface="Geist" pitchFamily="34" charset="-122"/>
                <a:cs typeface="Geist" pitchFamily="34" charset="-120"/>
              </a:rPr>
              <a:t>Clarify: six decisions, from “add to cart?” to “who answers order problems?”</a:t>
            </a:r>
            <a:endParaRPr lang="en-US" sz="1350" dirty="0"/>
          </a:p>
        </p:txBody>
      </p:sp>
      <p:sp>
        <p:nvSpPr>
          <p:cNvPr id="8" name="Text 6"/>
          <p:cNvSpPr/>
          <p:nvPr/>
        </p:nvSpPr>
        <p:spPr>
          <a:xfrm>
            <a:off x="812800" y="2738735"/>
            <a:ext cx="304800"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00E5FF"/>
                </a:solidFill>
                <a:latin typeface="Bungee" pitchFamily="34" charset="0"/>
                <a:ea typeface="Bungee" pitchFamily="34" charset="-122"/>
                <a:cs typeface="Bungee" pitchFamily="34" charset="-120"/>
              </a:rPr>
              <a:t>3</a:t>
            </a:r>
            <a:endParaRPr lang="en-US" sz="1400" dirty="0"/>
          </a:p>
        </p:txBody>
      </p:sp>
      <p:sp>
        <p:nvSpPr>
          <p:cNvPr id="9" name="Text 7"/>
          <p:cNvSpPr/>
          <p:nvPr/>
        </p:nvSpPr>
        <p:spPr>
          <a:xfrm>
            <a:off x="1193800" y="2757785"/>
            <a:ext cx="4495919" cy="256778"/>
          </a:xfrm>
          <a:prstGeom prst="rect">
            <a:avLst/>
          </a:prstGeom>
          <a:noFill/>
          <a:ln/>
        </p:spPr>
        <p:txBody>
          <a:bodyPr wrap="square" lIns="0" tIns="0" rIns="0" bIns="0" rtlCol="0" anchor="t">
            <a:normAutofit/>
          </a:bodyPr>
          <a:lstStyle/>
          <a:p>
            <a:pPr algn="l" indent="0" marL="0">
              <a:lnSpc>
                <a:spcPts val="1823"/>
              </a:lnSpc>
              <a:buNone/>
            </a:pPr>
            <a:r>
              <a:rPr lang="en-US" sz="1350" dirty="0">
                <a:solidFill>
                  <a:srgbClr val="FFF8E7"/>
                </a:solidFill>
                <a:latin typeface="Geist" pitchFamily="34" charset="0"/>
                <a:ea typeface="Geist" pitchFamily="34" charset="-122"/>
                <a:cs typeface="Geist" pitchFamily="34" charset="-120"/>
              </a:rPr>
              <a:t>Plan: benchmark local models, pick llama3.2:3b</a:t>
            </a:r>
            <a:endParaRPr lang="en-US" sz="1350" dirty="0"/>
          </a:p>
        </p:txBody>
      </p:sp>
      <p:sp>
        <p:nvSpPr>
          <p:cNvPr id="10" name="Text 8"/>
          <p:cNvSpPr/>
          <p:nvPr/>
        </p:nvSpPr>
        <p:spPr>
          <a:xfrm>
            <a:off x="812800" y="3090763"/>
            <a:ext cx="304800"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B6FF00"/>
                </a:solidFill>
                <a:latin typeface="Bungee" pitchFamily="34" charset="0"/>
                <a:ea typeface="Bungee" pitchFamily="34" charset="-122"/>
                <a:cs typeface="Bungee" pitchFamily="34" charset="-120"/>
              </a:rPr>
              <a:t>4</a:t>
            </a:r>
            <a:endParaRPr lang="en-US" sz="1400" dirty="0"/>
          </a:p>
        </p:txBody>
      </p:sp>
      <p:sp>
        <p:nvSpPr>
          <p:cNvPr id="11" name="Text 9"/>
          <p:cNvSpPr/>
          <p:nvPr/>
        </p:nvSpPr>
        <p:spPr>
          <a:xfrm>
            <a:off x="1193800" y="3109813"/>
            <a:ext cx="3635692" cy="256778"/>
          </a:xfrm>
          <a:prstGeom prst="rect">
            <a:avLst/>
          </a:prstGeom>
          <a:noFill/>
          <a:ln/>
        </p:spPr>
        <p:txBody>
          <a:bodyPr wrap="square" lIns="0" tIns="0" rIns="0" bIns="0" rtlCol="0" anchor="t">
            <a:normAutofit/>
          </a:bodyPr>
          <a:lstStyle/>
          <a:p>
            <a:pPr algn="l" indent="0" marL="0">
              <a:lnSpc>
                <a:spcPts val="1823"/>
              </a:lnSpc>
              <a:buNone/>
            </a:pPr>
            <a:r>
              <a:rPr lang="en-US" sz="1350" dirty="0">
                <a:solidFill>
                  <a:srgbClr val="FFF8E7"/>
                </a:solidFill>
                <a:latin typeface="Geist" pitchFamily="34" charset="0"/>
                <a:ea typeface="Geist" pitchFamily="34" charset="-122"/>
                <a:cs typeface="Geist" pitchFamily="34" charset="-120"/>
              </a:rPr>
              <a:t>Constitution 5.1.0: a voice, not a source</a:t>
            </a:r>
            <a:endParaRPr lang="en-US" sz="1350" dirty="0"/>
          </a:p>
        </p:txBody>
      </p:sp>
      <p:sp>
        <p:nvSpPr>
          <p:cNvPr id="12" name="Text 10"/>
          <p:cNvSpPr/>
          <p:nvPr/>
        </p:nvSpPr>
        <p:spPr>
          <a:xfrm>
            <a:off x="812800" y="3442791"/>
            <a:ext cx="304800"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F2D95"/>
                </a:solidFill>
                <a:latin typeface="Bungee" pitchFamily="34" charset="0"/>
                <a:ea typeface="Bungee" pitchFamily="34" charset="-122"/>
                <a:cs typeface="Bungee" pitchFamily="34" charset="-120"/>
              </a:rPr>
              <a:t>5</a:t>
            </a:r>
            <a:endParaRPr lang="en-US" sz="1400" dirty="0"/>
          </a:p>
        </p:txBody>
      </p:sp>
      <p:sp>
        <p:nvSpPr>
          <p:cNvPr id="13" name="Text 11"/>
          <p:cNvSpPr/>
          <p:nvPr/>
        </p:nvSpPr>
        <p:spPr>
          <a:xfrm>
            <a:off x="1193800" y="3461841"/>
            <a:ext cx="4523303" cy="256778"/>
          </a:xfrm>
          <a:prstGeom prst="rect">
            <a:avLst/>
          </a:prstGeom>
          <a:noFill/>
          <a:ln/>
        </p:spPr>
        <p:txBody>
          <a:bodyPr wrap="square" lIns="0" tIns="0" rIns="0" bIns="0" rtlCol="0" anchor="t">
            <a:normAutofit/>
          </a:bodyPr>
          <a:lstStyle/>
          <a:p>
            <a:pPr algn="l" indent="0" marL="0">
              <a:lnSpc>
                <a:spcPts val="1823"/>
              </a:lnSpc>
              <a:buNone/>
            </a:pPr>
            <a:r>
              <a:rPr lang="en-US" sz="1350" dirty="0">
                <a:solidFill>
                  <a:srgbClr val="FFF8E7"/>
                </a:solidFill>
                <a:latin typeface="Geist" pitchFamily="34" charset="0"/>
                <a:ea typeface="Geist" pitchFamily="34" charset="-122"/>
                <a:cs typeface="Geist" pitchFamily="34" charset="-120"/>
              </a:rPr>
              <a:t>Tests run against a deterministic stand-in model</a:t>
            </a:r>
            <a:endParaRPr lang="en-US" sz="1350" dirty="0"/>
          </a:p>
        </p:txBody>
      </p:sp>
      <p:sp>
        <p:nvSpPr>
          <p:cNvPr id="14" name="Text 12"/>
          <p:cNvSpPr/>
          <p:nvPr/>
        </p:nvSpPr>
        <p:spPr>
          <a:xfrm>
            <a:off x="812800" y="3794820"/>
            <a:ext cx="304800"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FE600"/>
                </a:solidFill>
                <a:latin typeface="Bungee" pitchFamily="34" charset="0"/>
                <a:ea typeface="Bungee" pitchFamily="34" charset="-122"/>
                <a:cs typeface="Bungee" pitchFamily="34" charset="-120"/>
              </a:rPr>
              <a:t>6</a:t>
            </a:r>
            <a:endParaRPr lang="en-US" sz="1400" dirty="0"/>
          </a:p>
        </p:txBody>
      </p:sp>
      <p:sp>
        <p:nvSpPr>
          <p:cNvPr id="15" name="Text 13"/>
          <p:cNvSpPr/>
          <p:nvPr/>
        </p:nvSpPr>
        <p:spPr>
          <a:xfrm>
            <a:off x="1193800" y="3813870"/>
            <a:ext cx="4026575" cy="256778"/>
          </a:xfrm>
          <a:prstGeom prst="rect">
            <a:avLst/>
          </a:prstGeom>
          <a:noFill/>
          <a:ln/>
        </p:spPr>
        <p:txBody>
          <a:bodyPr wrap="square" lIns="0" tIns="0" rIns="0" bIns="0" rtlCol="0" anchor="t">
            <a:normAutofit/>
          </a:bodyPr>
          <a:lstStyle/>
          <a:p>
            <a:pPr algn="l" indent="0" marL="0">
              <a:lnSpc>
                <a:spcPts val="1823"/>
              </a:lnSpc>
              <a:buNone/>
            </a:pPr>
            <a:r>
              <a:rPr lang="en-US" sz="1350" dirty="0">
                <a:solidFill>
                  <a:srgbClr val="FFF8E7"/>
                </a:solidFill>
                <a:latin typeface="Geist" pitchFamily="34" charset="0"/>
                <a:ea typeface="Geist" pitchFamily="34" charset="-122"/>
                <a:cs typeface="Geist" pitchFamily="34" charset="-120"/>
              </a:rPr>
              <a:t>Three tuning rounds against the real model</a:t>
            </a:r>
            <a:endParaRPr lang="en-US" sz="1350" dirty="0"/>
          </a:p>
        </p:txBody>
      </p:sp>
      <p:sp>
        <p:nvSpPr>
          <p:cNvPr id="16" name="Text 14"/>
          <p:cNvSpPr/>
          <p:nvPr/>
        </p:nvSpPr>
        <p:spPr>
          <a:xfrm>
            <a:off x="812800" y="4146848"/>
            <a:ext cx="304800"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00E5FF"/>
                </a:solidFill>
                <a:latin typeface="Bungee" pitchFamily="34" charset="0"/>
                <a:ea typeface="Bungee" pitchFamily="34" charset="-122"/>
                <a:cs typeface="Bungee" pitchFamily="34" charset="-120"/>
              </a:rPr>
              <a:t>7</a:t>
            </a:r>
            <a:endParaRPr lang="en-US" sz="1400" dirty="0"/>
          </a:p>
        </p:txBody>
      </p:sp>
      <p:sp>
        <p:nvSpPr>
          <p:cNvPr id="17" name="Text 15"/>
          <p:cNvSpPr/>
          <p:nvPr/>
        </p:nvSpPr>
        <p:spPr>
          <a:xfrm>
            <a:off x="1193800" y="4165898"/>
            <a:ext cx="3523298" cy="256778"/>
          </a:xfrm>
          <a:prstGeom prst="rect">
            <a:avLst/>
          </a:prstGeom>
          <a:noFill/>
          <a:ln/>
        </p:spPr>
        <p:txBody>
          <a:bodyPr wrap="square" lIns="0" tIns="0" rIns="0" bIns="0" rtlCol="0" anchor="t">
            <a:normAutofit/>
          </a:bodyPr>
          <a:lstStyle/>
          <a:p>
            <a:pPr algn="l" indent="0" marL="0">
              <a:lnSpc>
                <a:spcPts val="1823"/>
              </a:lnSpc>
              <a:buNone/>
            </a:pPr>
            <a:r>
              <a:rPr lang="en-US" sz="1350" dirty="0">
                <a:solidFill>
                  <a:srgbClr val="FFF8E7"/>
                </a:solidFill>
                <a:latin typeface="Geist" pitchFamily="34" charset="0"/>
                <a:ea typeface="Geist" pitchFamily="34" charset="-122"/>
                <a:cs typeface="Geist" pitchFamily="34" charset="-120"/>
              </a:rPr>
              <a:t>Converge: three gaps found and fixed</a:t>
            </a:r>
            <a:endParaRPr lang="en-US" sz="1350" dirty="0"/>
          </a:p>
        </p:txBody>
      </p:sp>
      <p:sp>
        <p:nvSpPr>
          <p:cNvPr id="18" name="Text 16"/>
          <p:cNvSpPr/>
          <p:nvPr/>
        </p:nvSpPr>
        <p:spPr>
          <a:xfrm>
            <a:off x="812800" y="4498876"/>
            <a:ext cx="304800"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B6FF00"/>
                </a:solidFill>
                <a:latin typeface="Bungee" pitchFamily="34" charset="0"/>
                <a:ea typeface="Bungee" pitchFamily="34" charset="-122"/>
                <a:cs typeface="Bungee" pitchFamily="34" charset="-120"/>
              </a:rPr>
              <a:t>8</a:t>
            </a:r>
            <a:endParaRPr lang="en-US" sz="1400" dirty="0"/>
          </a:p>
        </p:txBody>
      </p:sp>
      <p:sp>
        <p:nvSpPr>
          <p:cNvPr id="19" name="Text 17"/>
          <p:cNvSpPr/>
          <p:nvPr/>
        </p:nvSpPr>
        <p:spPr>
          <a:xfrm>
            <a:off x="1193800" y="4517926"/>
            <a:ext cx="1661398" cy="256778"/>
          </a:xfrm>
          <a:prstGeom prst="rect">
            <a:avLst/>
          </a:prstGeom>
          <a:noFill/>
          <a:ln/>
        </p:spPr>
        <p:txBody>
          <a:bodyPr wrap="square" lIns="0" tIns="0" rIns="0" bIns="0" rtlCol="0" anchor="t">
            <a:normAutofit/>
          </a:bodyPr>
          <a:lstStyle/>
          <a:p>
            <a:pPr algn="l" indent="0" marL="0">
              <a:lnSpc>
                <a:spcPts val="1823"/>
              </a:lnSpc>
              <a:buNone/>
            </a:pPr>
            <a:r>
              <a:rPr lang="en-US" sz="1350" dirty="0">
                <a:solidFill>
                  <a:srgbClr val="FFF8E7"/>
                </a:solidFill>
                <a:latin typeface="Geist" pitchFamily="34" charset="0"/>
                <a:ea typeface="Geist" pitchFamily="34" charset="-122"/>
                <a:cs typeface="Geist" pitchFamily="34" charset="-120"/>
              </a:rPr>
              <a:t>Merged as PR #12</a:t>
            </a:r>
            <a:endParaRPr lang="en-US" sz="1350" dirty="0"/>
          </a:p>
        </p:txBody>
      </p:sp>
      <p:sp>
        <p:nvSpPr>
          <p:cNvPr id="20" name="Shape 18"/>
          <p:cNvSpPr/>
          <p:nvPr/>
        </p:nvSpPr>
        <p:spPr>
          <a:xfrm>
            <a:off x="6946900" y="1816001"/>
            <a:ext cx="4419600" cy="2981623"/>
          </a:xfrm>
          <a:prstGeom prst="rect">
            <a:avLst/>
          </a:prstGeom>
          <a:solidFill>
            <a:srgbClr val="FFF8E7"/>
          </a:solidFill>
          <a:ln w="25400">
            <a:solidFill>
              <a:srgbClr val="FF2D95"/>
            </a:solidFill>
            <a:prstDash val="solid"/>
          </a:ln>
        </p:spPr>
      </p:sp>
      <p:sp>
        <p:nvSpPr>
          <p:cNvPr id="21" name="Text 19"/>
          <p:cNvSpPr/>
          <p:nvPr/>
        </p:nvSpPr>
        <p:spPr>
          <a:xfrm>
            <a:off x="8968780" y="2031901"/>
            <a:ext cx="2181820" cy="383480"/>
          </a:xfrm>
          <a:prstGeom prst="roundRect">
            <a:avLst>
              <a:gd name="adj" fmla="val 26494"/>
            </a:avLst>
          </a:prstGeom>
          <a:solidFill>
            <a:srgbClr val="B6FF00"/>
          </a:solidFill>
          <a:ln/>
        </p:spPr>
        <p:txBody>
          <a:bodyPr wrap="none" lIns="0" tIns="0" rIns="0" bIns="0" rtlCol="0" anchor="ctr">
            <a:normAutofit/>
          </a:bodyPr>
          <a:lstStyle/>
          <a:p>
            <a:pPr algn="ctr" indent="0" marL="0">
              <a:lnSpc>
                <a:spcPts val="1820"/>
              </a:lnSpc>
              <a:buNone/>
            </a:pPr>
            <a:r>
              <a:rPr lang="en-US" sz="1300" b="1" dirty="0">
                <a:solidFill>
                  <a:srgbClr val="111111"/>
                </a:solidFill>
                <a:latin typeface="Geist" pitchFamily="34" charset="0"/>
                <a:ea typeface="Geist" pitchFamily="34" charset="-122"/>
                <a:cs typeface="Geist" pitchFamily="34" charset="-120"/>
              </a:rPr>
              <a:t>Give me a 50% discount.</a:t>
            </a:r>
            <a:endParaRPr lang="en-US" sz="1300" dirty="0"/>
          </a:p>
        </p:txBody>
      </p:sp>
      <p:sp>
        <p:nvSpPr>
          <p:cNvPr id="22" name="Shape 20"/>
          <p:cNvSpPr/>
          <p:nvPr/>
        </p:nvSpPr>
        <p:spPr>
          <a:xfrm>
            <a:off x="7172325" y="2551906"/>
            <a:ext cx="3968750" cy="1187252"/>
          </a:xfrm>
          <a:prstGeom prst="rect">
            <a:avLst/>
          </a:prstGeom>
          <a:solidFill>
            <a:srgbClr val="FFFFFF"/>
          </a:solidFill>
          <a:ln w="19050">
            <a:solidFill>
              <a:srgbClr val="111111"/>
            </a:solidFill>
            <a:prstDash val="solid"/>
          </a:ln>
        </p:spPr>
      </p:sp>
      <p:sp>
        <p:nvSpPr>
          <p:cNvPr id="23" name="Text 21"/>
          <p:cNvSpPr/>
          <p:nvPr/>
        </p:nvSpPr>
        <p:spPr>
          <a:xfrm>
            <a:off x="7321550" y="2675731"/>
            <a:ext cx="3780409" cy="220960"/>
          </a:xfrm>
          <a:prstGeom prst="rect">
            <a:avLst/>
          </a:prstGeom>
          <a:noFill/>
          <a:ln/>
        </p:spPr>
        <p:txBody>
          <a:bodyPr wrap="square" lIns="0" tIns="0" rIns="0" bIns="0" rtlCol="0" anchor="t">
            <a:normAutofit/>
          </a:bodyPr>
          <a:lstStyle/>
          <a:p>
            <a:pPr algn="l" indent="0" marL="0">
              <a:lnSpc>
                <a:spcPts val="1540"/>
              </a:lnSpc>
              <a:buNone/>
            </a:pPr>
            <a:r>
              <a:rPr lang="en-US" sz="1100" b="1" spc="100" kern="0" dirty="0">
                <a:solidFill>
                  <a:srgbClr val="7A00FF"/>
                </a:solidFill>
                <a:latin typeface="Geist" pitchFamily="34" charset="0"/>
                <a:ea typeface="Geist" pitchFamily="34" charset="-122"/>
                <a:cs typeface="Geist" pitchFamily="34" charset="-120"/>
              </a:rPr>
              <a:t>PSSB</a:t>
            </a:r>
            <a:endParaRPr lang="en-US" sz="1100" dirty="0"/>
          </a:p>
        </p:txBody>
      </p:sp>
      <p:sp>
        <p:nvSpPr>
          <p:cNvPr id="24" name="Text 22"/>
          <p:cNvSpPr/>
          <p:nvPr/>
        </p:nvSpPr>
        <p:spPr>
          <a:xfrm>
            <a:off x="7321550" y="2922091"/>
            <a:ext cx="3780409" cy="71864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11111"/>
                </a:solidFill>
                <a:latin typeface="Geist" pitchFamily="34" charset="0"/>
                <a:ea typeface="Geist" pitchFamily="34" charset="-122"/>
                <a:cs typeface="Geist" pitchFamily="34" charset="-120"/>
              </a:rPr>
              <a:t>(scoff) You think a discount is for someone who understands the art of complex patterns? … Kaleidoscope Custody Battle is waiting for you.</a:t>
            </a:r>
            <a:endParaRPr lang="en-US" sz="1300" dirty="0"/>
          </a:p>
        </p:txBody>
      </p:sp>
      <p:sp>
        <p:nvSpPr>
          <p:cNvPr id="25" name="Text 23"/>
          <p:cNvSpPr/>
          <p:nvPr/>
        </p:nvSpPr>
        <p:spPr>
          <a:xfrm>
            <a:off x="7162800" y="3875683"/>
            <a:ext cx="1283395" cy="314920"/>
          </a:xfrm>
          <a:prstGeom prst="roundRect">
            <a:avLst>
              <a:gd name="adj" fmla="val 50000"/>
            </a:avLst>
          </a:prstGeom>
          <a:solidFill>
            <a:srgbClr val="111111"/>
          </a:solidFill>
          <a:ln/>
        </p:spPr>
        <p:txBody>
          <a:bodyPr wrap="none" lIns="0" tIns="0" rIns="0" bIns="0" rtlCol="0" anchor="ctr">
            <a:normAutofit/>
          </a:bodyPr>
          <a:lstStyle/>
          <a:p>
            <a:pPr algn="ctr" indent="0" marL="0">
              <a:lnSpc>
                <a:spcPts val="1680"/>
              </a:lnSpc>
              <a:buNone/>
            </a:pPr>
            <a:r>
              <a:rPr lang="en-US" sz="1200" b="1" dirty="0">
                <a:solidFill>
                  <a:srgbClr val="FFE600"/>
                </a:solidFill>
                <a:latin typeface="Geist" pitchFamily="34" charset="0"/>
                <a:ea typeface="Geist" pitchFamily="34" charset="-122"/>
                <a:cs typeface="Geist" pitchFamily="34" charset="-120"/>
              </a:rPr>
              <a:t>50/50 on time</a:t>
            </a:r>
            <a:endParaRPr lang="en-US" sz="1200" dirty="0"/>
          </a:p>
        </p:txBody>
      </p:sp>
      <p:sp>
        <p:nvSpPr>
          <p:cNvPr id="26" name="Text 24"/>
          <p:cNvSpPr/>
          <p:nvPr/>
        </p:nvSpPr>
        <p:spPr>
          <a:xfrm>
            <a:off x="8522395" y="3875683"/>
            <a:ext cx="1495028" cy="314920"/>
          </a:xfrm>
          <a:prstGeom prst="roundRect">
            <a:avLst>
              <a:gd name="adj" fmla="val 50000"/>
            </a:avLst>
          </a:prstGeom>
          <a:solidFill>
            <a:srgbClr val="111111"/>
          </a:solidFill>
          <a:ln/>
        </p:spPr>
        <p:txBody>
          <a:bodyPr wrap="none" lIns="0" tIns="0" rIns="0" bIns="0" rtlCol="0" anchor="ctr">
            <a:normAutofit/>
          </a:bodyPr>
          <a:lstStyle/>
          <a:p>
            <a:pPr algn="ctr" indent="0" marL="0">
              <a:lnSpc>
                <a:spcPts val="1680"/>
              </a:lnSpc>
              <a:buNone/>
            </a:pPr>
            <a:r>
              <a:rPr lang="en-US" sz="1200" b="1" dirty="0">
                <a:solidFill>
                  <a:srgbClr val="FFE600"/>
                </a:solidFill>
                <a:latin typeface="Geist" pitchFamily="34" charset="0"/>
                <a:ea typeface="Geist" pitchFamily="34" charset="-122"/>
                <a:cs typeface="Geist" pitchFamily="34" charset="-120"/>
              </a:rPr>
              <a:t>0 invented prices</a:t>
            </a:r>
            <a:endParaRPr lang="en-US" sz="1200" dirty="0"/>
          </a:p>
        </p:txBody>
      </p:sp>
      <p:sp>
        <p:nvSpPr>
          <p:cNvPr id="27" name="Text 25"/>
          <p:cNvSpPr/>
          <p:nvPr/>
        </p:nvSpPr>
        <p:spPr>
          <a:xfrm>
            <a:off x="7162800" y="4266803"/>
            <a:ext cx="1548805" cy="314920"/>
          </a:xfrm>
          <a:prstGeom prst="roundRect">
            <a:avLst>
              <a:gd name="adj" fmla="val 50000"/>
            </a:avLst>
          </a:prstGeom>
          <a:solidFill>
            <a:srgbClr val="111111"/>
          </a:solidFill>
          <a:ln/>
        </p:spPr>
        <p:txBody>
          <a:bodyPr wrap="none" lIns="0" tIns="0" rIns="0" bIns="0" rtlCol="0" anchor="ctr">
            <a:normAutofit/>
          </a:bodyPr>
          <a:lstStyle/>
          <a:p>
            <a:pPr algn="ctr" indent="0" marL="0">
              <a:lnSpc>
                <a:spcPts val="1680"/>
              </a:lnSpc>
              <a:buNone/>
            </a:pPr>
            <a:r>
              <a:rPr lang="en-US" sz="1200" b="1" dirty="0">
                <a:solidFill>
                  <a:srgbClr val="FFE600"/>
                </a:solidFill>
                <a:latin typeface="Geist" pitchFamily="34" charset="0"/>
                <a:ea typeface="Geist" pitchFamily="34" charset="-122"/>
                <a:cs typeface="Geist" pitchFamily="34" charset="-120"/>
              </a:rPr>
              <a:t>0 out of character</a:t>
            </a:r>
            <a:endParaRPr lang="en-US" sz="1200" dirty="0"/>
          </a:p>
        </p:txBody>
      </p:sp>
      <p:sp>
        <p:nvSpPr>
          <p:cNvPr id="28" name="Text 26"/>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A99F8C"/>
                </a:solidFill>
                <a:latin typeface="Geist" pitchFamily="34" charset="0"/>
                <a:ea typeface="Geist" pitchFamily="34" charset="-122"/>
                <a:cs typeface="Geist" pitchFamily="34" charset="-120"/>
              </a:rPr>
              <a:t>DAN FLASHES × SPEC KIT</a:t>
            </a:r>
            <a:endParaRPr lang="en-US" sz="1200" dirty="0"/>
          </a:p>
        </p:txBody>
      </p:sp>
      <p:sp>
        <p:nvSpPr>
          <p:cNvPr id="29" name="Text 27"/>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A99F8C"/>
                </a:solidFill>
                <a:latin typeface="Geist" pitchFamily="34" charset="0"/>
                <a:ea typeface="Geist" pitchFamily="34" charset="-122"/>
                <a:cs typeface="Geist" pitchFamily="34" charset="-120"/>
              </a:rPr>
              <a:t>15</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8E7"/>
        </a:solidFill>
      </p:bgPr>
    </p:bg>
    <p:spTree>
      <p:nvGrpSpPr>
        <p:cNvPr id="1" name=""/>
        <p:cNvGrpSpPr/>
        <p:nvPr/>
      </p:nvGrpSpPr>
      <p:grpSpPr>
        <a:xfrm>
          <a:off x="0" y="0"/>
          <a:ext cx="0" cy="0"/>
          <a:chOff x="0" y="0"/>
          <a:chExt cx="0" cy="0"/>
        </a:xfrm>
      </p:grpSpPr>
      <p:sp>
        <p:nvSpPr>
          <p:cNvPr id="2" name="Shape 0"/>
          <p:cNvSpPr/>
          <p:nvPr/>
        </p:nvSpPr>
        <p:spPr>
          <a:xfrm>
            <a:off x="0" y="0"/>
            <a:ext cx="12192000" cy="127000"/>
          </a:xfrm>
          <a:prstGeom prst="rect">
            <a:avLst/>
          </a:prstGeom>
          <a:gradFill rotWithShape="1">
            <a:gsLst>
              <a:gs pos="0">
                <a:srgbClr val="FF2D95"/>
              </a:gs>
              <a:gs pos="25000">
                <a:srgbClr val="FF2D95"/>
              </a:gs>
              <a:gs pos="25000">
                <a:srgbClr val="FFE600"/>
              </a:gs>
              <a:gs pos="50000">
                <a:srgbClr val="FFE600"/>
              </a:gs>
              <a:gs pos="50000">
                <a:srgbClr val="00E5FF"/>
              </a:gs>
              <a:gs pos="75000">
                <a:srgbClr val="00E5FF"/>
              </a:gs>
              <a:gs pos="75000">
                <a:srgbClr val="B6FF00"/>
              </a:gs>
              <a:gs pos="100000">
                <a:srgbClr val="B6FF00"/>
              </a:gs>
            </a:gsLst>
            <a:lin ang="2700000" scaled="0"/>
          </a:gradFill>
          <a:ln/>
        </p:spPr>
      </p:sp>
      <p:sp>
        <p:nvSpPr>
          <p:cNvPr id="3" name="Text 1"/>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7A00FF"/>
                </a:solidFill>
                <a:latin typeface="Geist" pitchFamily="34" charset="0"/>
                <a:ea typeface="Geist" pitchFamily="34" charset="-122"/>
                <a:cs typeface="Geist" pitchFamily="34" charset="-120"/>
              </a:rPr>
              <a:t>VERSION CONTROL</a:t>
            </a:r>
            <a:endParaRPr lang="en-US" sz="1200" dirty="0"/>
          </a:p>
        </p:txBody>
      </p:sp>
      <p:sp>
        <p:nvSpPr>
          <p:cNvPr id="4" name="Text 2"/>
          <p:cNvSpPr/>
          <p:nvPr>
            <p:ph type="title"/>
          </p:nvPr>
        </p:nvSpPr>
        <p:spPr>
          <a:xfrm>
            <a:off x="812800" y="11023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0" i="0" dirty="0">
                <a:solidFill>
                  <a:srgbClr val="111111"/>
                </a:solidFill>
                <a:latin typeface="Bungee" pitchFamily="34" charset="0"/>
                <a:ea typeface="Bungee" pitchFamily="34" charset="-122"/>
                <a:cs typeface="Bungee" pitchFamily="34" charset="-120"/>
              </a:rPr>
              <a:t>Git is the decision log</a:t>
            </a:r>
            <a:endParaRPr lang="en-US" sz="3200" dirty="0"/>
          </a:p>
        </p:txBody>
      </p:sp>
      <p:sp>
        <p:nvSpPr>
          <p:cNvPr id="5" name="Shape 3"/>
          <p:cNvSpPr/>
          <p:nvPr/>
        </p:nvSpPr>
        <p:spPr>
          <a:xfrm>
            <a:off x="822325" y="1812826"/>
            <a:ext cx="2508250" cy="1574800"/>
          </a:xfrm>
          <a:prstGeom prst="rect">
            <a:avLst/>
          </a:prstGeom>
          <a:solidFill>
            <a:srgbClr val="FFFFFF"/>
          </a:solidFill>
          <a:ln w="19050">
            <a:solidFill>
              <a:srgbClr val="111111"/>
            </a:solidFill>
            <a:prstDash val="solid"/>
          </a:ln>
        </p:spPr>
      </p:sp>
      <p:sp>
        <p:nvSpPr>
          <p:cNvPr id="6" name="Text 4"/>
          <p:cNvSpPr/>
          <p:nvPr/>
        </p:nvSpPr>
        <p:spPr>
          <a:xfrm>
            <a:off x="1009650" y="2000151"/>
            <a:ext cx="2197608" cy="4826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11111"/>
                </a:solidFill>
                <a:latin typeface="Geist" pitchFamily="34" charset="0"/>
                <a:ea typeface="Geist" pitchFamily="34" charset="-122"/>
                <a:cs typeface="Geist" pitchFamily="34" charset="-120"/>
              </a:rPr>
              <a:t>A branch and a PR per feature</a:t>
            </a:r>
            <a:endParaRPr lang="en-US" sz="1500" dirty="0"/>
          </a:p>
        </p:txBody>
      </p:sp>
      <p:sp>
        <p:nvSpPr>
          <p:cNvPr id="7" name="Text 5"/>
          <p:cNvSpPr/>
          <p:nvPr/>
        </p:nvSpPr>
        <p:spPr>
          <a:xfrm>
            <a:off x="1009650" y="2533551"/>
            <a:ext cx="2197608" cy="692150"/>
          </a:xfrm>
          <a:prstGeom prst="rect">
            <a:avLst/>
          </a:prstGeom>
          <a:noFill/>
          <a:ln/>
        </p:spPr>
        <p:txBody>
          <a:bodyPr wrap="square" lIns="0" tIns="0" rIns="0" bIns="0" rtlCol="0" anchor="t">
            <a:normAutofit/>
          </a:bodyPr>
          <a:lstStyle/>
          <a:p>
            <a:pPr algn="l" indent="0" marL="0">
              <a:lnSpc>
                <a:spcPts val="1750"/>
              </a:lnSpc>
              <a:buNone/>
            </a:pPr>
            <a:r>
              <a:rPr lang="en-US" sz="1250" dirty="0">
                <a:solidFill>
                  <a:srgbClr val="3D382F"/>
                </a:solidFill>
                <a:latin typeface="Geist" pitchFamily="34" charset="0"/>
                <a:ea typeface="Geist" pitchFamily="34" charset="-122"/>
                <a:cs typeface="Geist" pitchFamily="34" charset="-120"/>
              </a:rPr>
              <a:t>Merged only on my word. The PR says which constitution version it ratifies.</a:t>
            </a:r>
            <a:endParaRPr lang="en-US" sz="1250" dirty="0"/>
          </a:p>
        </p:txBody>
      </p:sp>
      <p:sp>
        <p:nvSpPr>
          <p:cNvPr id="8" name="Shape 6"/>
          <p:cNvSpPr/>
          <p:nvPr/>
        </p:nvSpPr>
        <p:spPr>
          <a:xfrm>
            <a:off x="3502025" y="1812826"/>
            <a:ext cx="2508250" cy="1574800"/>
          </a:xfrm>
          <a:prstGeom prst="rect">
            <a:avLst/>
          </a:prstGeom>
          <a:solidFill>
            <a:srgbClr val="FFFFFF"/>
          </a:solidFill>
          <a:ln w="19050">
            <a:solidFill>
              <a:srgbClr val="111111"/>
            </a:solidFill>
            <a:prstDash val="solid"/>
          </a:ln>
        </p:spPr>
      </p:sp>
      <p:sp>
        <p:nvSpPr>
          <p:cNvPr id="9" name="Text 7"/>
          <p:cNvSpPr/>
          <p:nvPr/>
        </p:nvSpPr>
        <p:spPr>
          <a:xfrm>
            <a:off x="3689350" y="2000151"/>
            <a:ext cx="2197608"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11111"/>
                </a:solidFill>
                <a:latin typeface="Geist" pitchFamily="34" charset="0"/>
                <a:ea typeface="Geist" pitchFamily="34" charset="-122"/>
                <a:cs typeface="Geist" pitchFamily="34" charset="-120"/>
              </a:rPr>
              <a:t>IDs in every commit</a:t>
            </a:r>
            <a:endParaRPr lang="en-US" sz="1500" dirty="0"/>
          </a:p>
        </p:txBody>
      </p:sp>
      <p:sp>
        <p:nvSpPr>
          <p:cNvPr id="10" name="Text 8"/>
          <p:cNvSpPr/>
          <p:nvPr/>
        </p:nvSpPr>
        <p:spPr>
          <a:xfrm>
            <a:off x="3689350" y="2304951"/>
            <a:ext cx="2197608" cy="692150"/>
          </a:xfrm>
          <a:prstGeom prst="rect">
            <a:avLst/>
          </a:prstGeom>
          <a:noFill/>
          <a:ln/>
        </p:spPr>
        <p:txBody>
          <a:bodyPr wrap="square" lIns="0" tIns="0" rIns="0" bIns="0" rtlCol="0" anchor="t">
            <a:normAutofit/>
          </a:bodyPr>
          <a:lstStyle/>
          <a:p>
            <a:pPr algn="l" indent="0" marL="0">
              <a:lnSpc>
                <a:spcPts val="1750"/>
              </a:lnSpc>
              <a:buNone/>
            </a:pPr>
            <a:r>
              <a:rPr lang="en-US" sz="1250" dirty="0">
                <a:solidFill>
                  <a:srgbClr val="3D382F"/>
                </a:solidFill>
                <a:latin typeface="Geist" pitchFamily="34" charset="0"/>
                <a:ea typeface="Geist" pitchFamily="34" charset="-122"/>
                <a:cs typeface="Geist" pitchFamily="34" charset="-120"/>
              </a:rPr>
              <a:t>“feat(012): Dan’s controls … (T026–T028)”, “analysis remediation — I1, G1, U1…”</a:t>
            </a:r>
            <a:endParaRPr lang="en-US" sz="1250" dirty="0"/>
          </a:p>
        </p:txBody>
      </p:sp>
      <p:sp>
        <p:nvSpPr>
          <p:cNvPr id="11" name="Shape 9"/>
          <p:cNvSpPr/>
          <p:nvPr/>
        </p:nvSpPr>
        <p:spPr>
          <a:xfrm>
            <a:off x="6181725" y="1812826"/>
            <a:ext cx="2508250" cy="1574800"/>
          </a:xfrm>
          <a:prstGeom prst="rect">
            <a:avLst/>
          </a:prstGeom>
          <a:solidFill>
            <a:srgbClr val="FFFFFF"/>
          </a:solidFill>
          <a:ln w="19050">
            <a:solidFill>
              <a:srgbClr val="111111"/>
            </a:solidFill>
            <a:prstDash val="solid"/>
          </a:ln>
        </p:spPr>
      </p:sp>
      <p:sp>
        <p:nvSpPr>
          <p:cNvPr id="12" name="Text 10"/>
          <p:cNvSpPr/>
          <p:nvPr/>
        </p:nvSpPr>
        <p:spPr>
          <a:xfrm>
            <a:off x="6369050" y="2000151"/>
            <a:ext cx="2197608"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11111"/>
                </a:solidFill>
                <a:latin typeface="Geist" pitchFamily="34" charset="0"/>
                <a:ea typeface="Geist" pitchFamily="34" charset="-122"/>
                <a:cs typeface="Geist" pitchFamily="34" charset="-120"/>
              </a:rPr>
              <a:t>The spec logs its Q&amp;A</a:t>
            </a:r>
            <a:endParaRPr lang="en-US" sz="1500" dirty="0"/>
          </a:p>
        </p:txBody>
      </p:sp>
      <p:sp>
        <p:nvSpPr>
          <p:cNvPr id="13" name="Text 11"/>
          <p:cNvSpPr/>
          <p:nvPr/>
        </p:nvSpPr>
        <p:spPr>
          <a:xfrm>
            <a:off x="6369050" y="2304951"/>
            <a:ext cx="2197608" cy="692150"/>
          </a:xfrm>
          <a:prstGeom prst="rect">
            <a:avLst/>
          </a:prstGeom>
          <a:noFill/>
          <a:ln/>
        </p:spPr>
        <p:txBody>
          <a:bodyPr wrap="square" lIns="0" tIns="0" rIns="0" bIns="0" rtlCol="0" anchor="t">
            <a:normAutofit/>
          </a:bodyPr>
          <a:lstStyle/>
          <a:p>
            <a:pPr algn="l" indent="0" marL="0">
              <a:lnSpc>
                <a:spcPts val="1750"/>
              </a:lnSpc>
              <a:buNone/>
            </a:pPr>
            <a:r>
              <a:rPr lang="en-US" sz="1250" dirty="0">
                <a:solidFill>
                  <a:srgbClr val="3D382F"/>
                </a:solidFill>
                <a:latin typeface="Geist" pitchFamily="34" charset="0"/>
                <a:ea typeface="Geist" pitchFamily="34" charset="-122"/>
                <a:cs typeface="Geist" pitchFamily="34" charset="-120"/>
              </a:rPr>
              <a:t>A dated Clarifications section: every question, every answer.</a:t>
            </a:r>
            <a:endParaRPr lang="en-US" sz="1250" dirty="0"/>
          </a:p>
        </p:txBody>
      </p:sp>
      <p:sp>
        <p:nvSpPr>
          <p:cNvPr id="14" name="Shape 12"/>
          <p:cNvSpPr/>
          <p:nvPr/>
        </p:nvSpPr>
        <p:spPr>
          <a:xfrm>
            <a:off x="8861425" y="1812826"/>
            <a:ext cx="2508250" cy="1574800"/>
          </a:xfrm>
          <a:prstGeom prst="rect">
            <a:avLst/>
          </a:prstGeom>
          <a:solidFill>
            <a:srgbClr val="FFFFFF"/>
          </a:solidFill>
          <a:ln w="19050">
            <a:solidFill>
              <a:srgbClr val="111111"/>
            </a:solidFill>
            <a:prstDash val="solid"/>
          </a:ln>
        </p:spPr>
      </p:sp>
      <p:sp>
        <p:nvSpPr>
          <p:cNvPr id="15" name="Text 13"/>
          <p:cNvSpPr/>
          <p:nvPr/>
        </p:nvSpPr>
        <p:spPr>
          <a:xfrm>
            <a:off x="9048750" y="2000151"/>
            <a:ext cx="2197608" cy="4826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11111"/>
                </a:solidFill>
                <a:latin typeface="Geist" pitchFamily="34" charset="0"/>
                <a:ea typeface="Geist" pitchFamily="34" charset="-122"/>
                <a:cs typeface="Geist" pitchFamily="34" charset="-120"/>
              </a:rPr>
              <a:t>The constitution logs itself</a:t>
            </a:r>
            <a:endParaRPr lang="en-US" sz="1500" dirty="0"/>
          </a:p>
        </p:txBody>
      </p:sp>
      <p:sp>
        <p:nvSpPr>
          <p:cNvPr id="16" name="Text 14"/>
          <p:cNvSpPr/>
          <p:nvPr/>
        </p:nvSpPr>
        <p:spPr>
          <a:xfrm>
            <a:off x="9048750" y="2533551"/>
            <a:ext cx="2197608" cy="692150"/>
          </a:xfrm>
          <a:prstGeom prst="rect">
            <a:avLst/>
          </a:prstGeom>
          <a:noFill/>
          <a:ln/>
        </p:spPr>
        <p:txBody>
          <a:bodyPr wrap="square" lIns="0" tIns="0" rIns="0" bIns="0" rtlCol="0" anchor="t">
            <a:normAutofit/>
          </a:bodyPr>
          <a:lstStyle/>
          <a:p>
            <a:pPr algn="l" indent="0" marL="0">
              <a:lnSpc>
                <a:spcPts val="1750"/>
              </a:lnSpc>
              <a:buNone/>
            </a:pPr>
            <a:r>
              <a:rPr lang="en-US" sz="1250" dirty="0">
                <a:solidFill>
                  <a:srgbClr val="3D382F"/>
                </a:solidFill>
                <a:latin typeface="Geist" pitchFamily="34" charset="0"/>
                <a:ea typeface="Geist" pitchFamily="34" charset="-122"/>
                <a:cs typeface="Geist" pitchFamily="34" charset="-120"/>
              </a:rPr>
              <a:t>A Sync Impact Report, plus Ratified and Last Amended dates.</a:t>
            </a:r>
            <a:endParaRPr lang="en-US" sz="1250" dirty="0"/>
          </a:p>
        </p:txBody>
      </p:sp>
      <p:sp>
        <p:nvSpPr>
          <p:cNvPr id="17" name="Shape 15"/>
          <p:cNvSpPr/>
          <p:nvPr/>
        </p:nvSpPr>
        <p:spPr>
          <a:xfrm>
            <a:off x="812800" y="3651151"/>
            <a:ext cx="10566400" cy="1117600"/>
          </a:xfrm>
          <a:prstGeom prst="roundRect">
            <a:avLst>
              <a:gd name="adj" fmla="val 6818"/>
            </a:avLst>
          </a:prstGeom>
          <a:solidFill>
            <a:srgbClr val="111111"/>
          </a:solidFill>
          <a:ln/>
        </p:spPr>
      </p:sp>
      <p:sp>
        <p:nvSpPr>
          <p:cNvPr id="18" name="Text 16"/>
          <p:cNvSpPr/>
          <p:nvPr/>
        </p:nvSpPr>
        <p:spPr>
          <a:xfrm>
            <a:off x="1041400" y="3828951"/>
            <a:ext cx="10412476" cy="254000"/>
          </a:xfrm>
          <a:prstGeom prst="rect">
            <a:avLst/>
          </a:prstGeom>
          <a:noFill/>
          <a:ln/>
        </p:spPr>
        <p:txBody>
          <a:bodyPr wrap="none" lIns="0" tIns="0" rIns="0" bIns="0" rtlCol="0" anchor="t">
            <a:normAutofit/>
          </a:bodyPr>
          <a:lstStyle/>
          <a:p>
            <a:pPr algn="l" indent="0" marL="0">
              <a:lnSpc>
                <a:spcPts val="1800"/>
              </a:lnSpc>
              <a:buNone/>
            </a:pPr>
            <a:r>
              <a:rPr lang="en-US" sz="1200" dirty="0">
                <a:solidFill>
                  <a:srgbClr val="B6FF00"/>
                </a:solidFill>
                <a:latin typeface="Geist Mono" pitchFamily="49" charset="0"/>
                <a:ea typeface="Geist Mono" pitchFamily="49" charset="-122"/>
                <a:cs typeface="Geist Mono" pitchFamily="49" charset="-120"/>
              </a:rPr>
              <a:t>$ git log --oneline --reverse -- .specify/memory/constitution.md</a:t>
            </a:r>
            <a:endParaRPr lang="en-US" sz="1200" dirty="0"/>
          </a:p>
        </p:txBody>
      </p:sp>
      <p:sp>
        <p:nvSpPr>
          <p:cNvPr id="19" name="Text 17"/>
          <p:cNvSpPr/>
          <p:nvPr/>
        </p:nvSpPr>
        <p:spPr>
          <a:xfrm>
            <a:off x="1041400" y="4095651"/>
            <a:ext cx="10412476" cy="254000"/>
          </a:xfrm>
          <a:prstGeom prst="rect">
            <a:avLst/>
          </a:prstGeom>
          <a:noFill/>
          <a:ln/>
        </p:spPr>
        <p:txBody>
          <a:bodyPr wrap="none" lIns="0" tIns="0" rIns="0" bIns="0" rtlCol="0" anchor="t">
            <a:normAutofit/>
          </a:bodyPr>
          <a:lstStyle/>
          <a:p>
            <a:pPr algn="l" indent="0" marL="0">
              <a:lnSpc>
                <a:spcPts val="1800"/>
              </a:lnSpc>
              <a:buNone/>
            </a:pPr>
            <a:r>
              <a:rPr lang="en-US" sz="1200" dirty="0">
                <a:solidFill>
                  <a:srgbClr val="B6FF00"/>
                </a:solidFill>
                <a:latin typeface="Geist Mono" pitchFamily="49" charset="0"/>
                <a:ea typeface="Geist Mono" pitchFamily="49" charset="-122"/>
                <a:cs typeface="Geist Mono" pitchFamily="49" charset="-120"/>
              </a:rPr>
              <a:t>$ git log --format='%ad %s' --date=short -- specs/007-pattern-generator/spec.md</a:t>
            </a:r>
            <a:endParaRPr lang="en-US" sz="1200" dirty="0"/>
          </a:p>
        </p:txBody>
      </p:sp>
      <p:sp>
        <p:nvSpPr>
          <p:cNvPr id="20" name="Text 18"/>
          <p:cNvSpPr/>
          <p:nvPr/>
        </p:nvSpPr>
        <p:spPr>
          <a:xfrm>
            <a:off x="1041400" y="4362351"/>
            <a:ext cx="10412476" cy="254000"/>
          </a:xfrm>
          <a:prstGeom prst="rect">
            <a:avLst/>
          </a:prstGeom>
          <a:noFill/>
          <a:ln/>
        </p:spPr>
        <p:txBody>
          <a:bodyPr wrap="none" lIns="0" tIns="0" rIns="0" bIns="0" rtlCol="0" anchor="t">
            <a:normAutofit/>
          </a:bodyPr>
          <a:lstStyle/>
          <a:p>
            <a:pPr algn="l" indent="0" marL="0">
              <a:lnSpc>
                <a:spcPts val="1800"/>
              </a:lnSpc>
              <a:buNone/>
            </a:pPr>
            <a:r>
              <a:rPr lang="en-US" sz="1200" dirty="0">
                <a:solidFill>
                  <a:srgbClr val="B6FF00"/>
                </a:solidFill>
                <a:latin typeface="Geist Mono" pitchFamily="49" charset="0"/>
                <a:ea typeface="Geist Mono" pitchFamily="49" charset="-122"/>
                <a:cs typeface="Geist Mono" pitchFamily="49" charset="-120"/>
              </a:rPr>
              <a:t>$ git log --merges --oneline</a:t>
            </a:r>
            <a:endParaRPr lang="en-US" sz="1200" dirty="0"/>
          </a:p>
        </p:txBody>
      </p:sp>
      <p:sp>
        <p:nvSpPr>
          <p:cNvPr id="21" name="Text 19"/>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6B6252"/>
                </a:solidFill>
                <a:latin typeface="Geist" pitchFamily="34" charset="0"/>
                <a:ea typeface="Geist" pitchFamily="34" charset="-122"/>
                <a:cs typeface="Geist" pitchFamily="34" charset="-120"/>
              </a:rPr>
              <a:t>DAN FLASHES × SPEC KIT</a:t>
            </a:r>
            <a:endParaRPr lang="en-US" sz="1200" dirty="0"/>
          </a:p>
        </p:txBody>
      </p:sp>
      <p:sp>
        <p:nvSpPr>
          <p:cNvPr id="22" name="Text 20"/>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6252"/>
                </a:solidFill>
                <a:latin typeface="Geist" pitchFamily="34" charset="0"/>
                <a:ea typeface="Geist" pitchFamily="34" charset="-122"/>
                <a:cs typeface="Geist" pitchFamily="34" charset="-120"/>
              </a:rPr>
              <a:t>16</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11111"/>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FF2D95"/>
                </a:solidFill>
                <a:latin typeface="Geist" pitchFamily="34" charset="0"/>
                <a:ea typeface="Geist" pitchFamily="34" charset="-122"/>
                <a:cs typeface="Geist" pitchFamily="34" charset="-120"/>
              </a:rPr>
              <a:t>THE CONS, PART 1</a:t>
            </a:r>
            <a:endParaRPr lang="en-US" sz="1200" dirty="0"/>
          </a:p>
        </p:txBody>
      </p:sp>
      <p:sp>
        <p:nvSpPr>
          <p:cNvPr id="3" name="Text 1"/>
          <p:cNvSpPr/>
          <p:nvPr>
            <p:ph type="title"/>
          </p:nvPr>
        </p:nvSpPr>
        <p:spPr>
          <a:xfrm>
            <a:off x="812800" y="11023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0" i="0" dirty="0">
                <a:solidFill>
                  <a:srgbClr val="FFF8E7"/>
                </a:solidFill>
                <a:latin typeface="Bungee" pitchFamily="34" charset="0"/>
                <a:ea typeface="Bungee" pitchFamily="34" charset="-122"/>
                <a:cs typeface="Bungee" pitchFamily="34" charset="-120"/>
              </a:rPr>
              <a:t>Out of tokens two days early</a:t>
            </a:r>
            <a:endParaRPr lang="en-US" sz="3200" dirty="0"/>
          </a:p>
        </p:txBody>
      </p:sp>
      <p:sp>
        <p:nvSpPr>
          <p:cNvPr id="4" name="Text 2"/>
          <p:cNvSpPr/>
          <p:nvPr/>
        </p:nvSpPr>
        <p:spPr>
          <a:xfrm>
            <a:off x="812800" y="1854101"/>
            <a:ext cx="3418433" cy="695920"/>
          </a:xfrm>
          <a:prstGeom prst="rect">
            <a:avLst/>
          </a:prstGeom>
          <a:noFill/>
          <a:ln/>
        </p:spPr>
        <p:txBody>
          <a:bodyPr wrap="square" lIns="0" tIns="0" rIns="0" bIns="0" rtlCol="0" anchor="t">
            <a:normAutofit/>
          </a:bodyPr>
          <a:lstStyle/>
          <a:p>
            <a:pPr algn="l" indent="0" marL="0">
              <a:lnSpc>
                <a:spcPts val="5280"/>
              </a:lnSpc>
              <a:buNone/>
            </a:pPr>
            <a:r>
              <a:rPr lang="en-US" sz="4800" dirty="0">
                <a:solidFill>
                  <a:srgbClr val="FF2D95"/>
                </a:solidFill>
                <a:latin typeface="Bungee" pitchFamily="34" charset="0"/>
                <a:ea typeface="Bungee" pitchFamily="34" charset="-122"/>
                <a:cs typeface="Bungee" pitchFamily="34" charset="-120"/>
              </a:rPr>
              <a:t>1</a:t>
            </a:r>
            <a:endParaRPr lang="en-US" sz="4800" dirty="0"/>
          </a:p>
        </p:txBody>
      </p:sp>
      <p:sp>
        <p:nvSpPr>
          <p:cNvPr id="5" name="Text 3"/>
          <p:cNvSpPr/>
          <p:nvPr/>
        </p:nvSpPr>
        <p:spPr>
          <a:xfrm>
            <a:off x="812800" y="2575421"/>
            <a:ext cx="3418433" cy="50542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D9D0BD"/>
                </a:solidFill>
                <a:latin typeface="Geist" pitchFamily="34" charset="0"/>
                <a:ea typeface="Geist" pitchFamily="34" charset="-122"/>
                <a:cs typeface="Geist" pitchFamily="34" charset="-120"/>
              </a:rPr>
              <a:t>conversation for the whole project, never restarted</a:t>
            </a:r>
            <a:endParaRPr lang="en-US" sz="1400" dirty="0"/>
          </a:p>
        </p:txBody>
      </p:sp>
      <p:sp>
        <p:nvSpPr>
          <p:cNvPr id="6" name="Text 4"/>
          <p:cNvSpPr/>
          <p:nvPr/>
        </p:nvSpPr>
        <p:spPr>
          <a:xfrm>
            <a:off x="4436467" y="1854101"/>
            <a:ext cx="3418535" cy="695920"/>
          </a:xfrm>
          <a:prstGeom prst="rect">
            <a:avLst/>
          </a:prstGeom>
          <a:noFill/>
          <a:ln/>
        </p:spPr>
        <p:txBody>
          <a:bodyPr wrap="square" lIns="0" tIns="0" rIns="0" bIns="0" rtlCol="0" anchor="t">
            <a:normAutofit/>
          </a:bodyPr>
          <a:lstStyle/>
          <a:p>
            <a:pPr algn="l" indent="0" marL="0">
              <a:lnSpc>
                <a:spcPts val="5280"/>
              </a:lnSpc>
              <a:buNone/>
            </a:pPr>
            <a:r>
              <a:rPr lang="en-US" sz="4800" dirty="0">
                <a:solidFill>
                  <a:srgbClr val="FFE600"/>
                </a:solidFill>
                <a:latin typeface="Bungee" pitchFamily="34" charset="0"/>
                <a:ea typeface="Bungee" pitchFamily="34" charset="-122"/>
                <a:cs typeface="Bungee" pitchFamily="34" charset="-120"/>
              </a:rPr>
              <a:t>2,915</a:t>
            </a:r>
            <a:endParaRPr lang="en-US" sz="4800" dirty="0"/>
          </a:p>
        </p:txBody>
      </p:sp>
      <p:sp>
        <p:nvSpPr>
          <p:cNvPr id="7" name="Text 5"/>
          <p:cNvSpPr/>
          <p:nvPr/>
        </p:nvSpPr>
        <p:spPr>
          <a:xfrm>
            <a:off x="4436467" y="2575421"/>
            <a:ext cx="3418535" cy="50542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D9D0BD"/>
                </a:solidFill>
                <a:latin typeface="Geist" pitchFamily="34" charset="0"/>
                <a:ea typeface="Geist" pitchFamily="34" charset="-122"/>
                <a:cs typeface="Geist" pitchFamily="34" charset="-120"/>
              </a:rPr>
              <a:t>model calls, all on Opus with a 1M-token window</a:t>
            </a:r>
            <a:endParaRPr lang="en-US" sz="1400" dirty="0"/>
          </a:p>
        </p:txBody>
      </p:sp>
      <p:sp>
        <p:nvSpPr>
          <p:cNvPr id="8" name="Text 6"/>
          <p:cNvSpPr/>
          <p:nvPr/>
        </p:nvSpPr>
        <p:spPr>
          <a:xfrm>
            <a:off x="8060234" y="1854101"/>
            <a:ext cx="3418535" cy="695920"/>
          </a:xfrm>
          <a:prstGeom prst="rect">
            <a:avLst/>
          </a:prstGeom>
          <a:noFill/>
          <a:ln/>
        </p:spPr>
        <p:txBody>
          <a:bodyPr wrap="square" lIns="0" tIns="0" rIns="0" bIns="0" rtlCol="0" anchor="t">
            <a:normAutofit/>
          </a:bodyPr>
          <a:lstStyle/>
          <a:p>
            <a:pPr algn="l" indent="0" marL="0">
              <a:lnSpc>
                <a:spcPts val="5280"/>
              </a:lnSpc>
              <a:buNone/>
            </a:pPr>
            <a:r>
              <a:rPr lang="en-US" sz="4800" dirty="0">
                <a:solidFill>
                  <a:srgbClr val="00E5FF"/>
                </a:solidFill>
                <a:latin typeface="Bungee" pitchFamily="34" charset="0"/>
                <a:ea typeface="Bungee" pitchFamily="34" charset="-122"/>
                <a:cs typeface="Bungee" pitchFamily="34" charset="-120"/>
              </a:rPr>
              <a:t>~500K</a:t>
            </a:r>
            <a:endParaRPr lang="en-US" sz="4800" dirty="0"/>
          </a:p>
        </p:txBody>
      </p:sp>
      <p:sp>
        <p:nvSpPr>
          <p:cNvPr id="9" name="Text 7"/>
          <p:cNvSpPr/>
          <p:nvPr/>
        </p:nvSpPr>
        <p:spPr>
          <a:xfrm>
            <a:off x="8060234" y="2575421"/>
            <a:ext cx="3418535"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D9D0BD"/>
                </a:solidFill>
                <a:latin typeface="Geist" pitchFamily="34" charset="0"/>
                <a:ea typeface="Geist" pitchFamily="34" charset="-122"/>
                <a:cs typeface="Geist" pitchFamily="34" charset="-120"/>
              </a:rPr>
              <a:t>tokens re-read on an average call</a:t>
            </a:r>
            <a:endParaRPr lang="en-US" sz="1400" dirty="0"/>
          </a:p>
        </p:txBody>
      </p:sp>
      <p:sp>
        <p:nvSpPr>
          <p:cNvPr id="10" name="Text 8"/>
          <p:cNvSpPr/>
          <p:nvPr/>
        </p:nvSpPr>
        <p:spPr>
          <a:xfrm>
            <a:off x="812800" y="3360241"/>
            <a:ext cx="3418433" cy="695920"/>
          </a:xfrm>
          <a:prstGeom prst="rect">
            <a:avLst/>
          </a:prstGeom>
          <a:noFill/>
          <a:ln/>
        </p:spPr>
        <p:txBody>
          <a:bodyPr wrap="square" lIns="0" tIns="0" rIns="0" bIns="0" rtlCol="0" anchor="t">
            <a:normAutofit/>
          </a:bodyPr>
          <a:lstStyle/>
          <a:p>
            <a:pPr algn="l" indent="0" marL="0">
              <a:lnSpc>
                <a:spcPts val="5280"/>
              </a:lnSpc>
              <a:buNone/>
            </a:pPr>
            <a:r>
              <a:rPr lang="en-US" sz="4800" dirty="0">
                <a:solidFill>
                  <a:srgbClr val="B6FF00"/>
                </a:solidFill>
                <a:latin typeface="Bungee" pitchFamily="34" charset="0"/>
                <a:ea typeface="Bungee" pitchFamily="34" charset="-122"/>
                <a:cs typeface="Bungee" pitchFamily="34" charset="-120"/>
              </a:rPr>
              <a:t>973K</a:t>
            </a:r>
            <a:endParaRPr lang="en-US" sz="4800" dirty="0"/>
          </a:p>
        </p:txBody>
      </p:sp>
      <p:sp>
        <p:nvSpPr>
          <p:cNvPr id="11" name="Text 9"/>
          <p:cNvSpPr/>
          <p:nvPr/>
        </p:nvSpPr>
        <p:spPr>
          <a:xfrm>
            <a:off x="812800" y="4081562"/>
            <a:ext cx="3418433" cy="50542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D9D0BD"/>
                </a:solidFill>
                <a:latin typeface="Geist" pitchFamily="34" charset="0"/>
                <a:ea typeface="Geist" pitchFamily="34" charset="-122"/>
                <a:cs typeface="Geist" pitchFamily="34" charset="-120"/>
              </a:rPr>
              <a:t>tokens at the largest, just before a compaction</a:t>
            </a:r>
            <a:endParaRPr lang="en-US" sz="1400" dirty="0"/>
          </a:p>
        </p:txBody>
      </p:sp>
      <p:sp>
        <p:nvSpPr>
          <p:cNvPr id="12" name="Text 10"/>
          <p:cNvSpPr/>
          <p:nvPr/>
        </p:nvSpPr>
        <p:spPr>
          <a:xfrm>
            <a:off x="4436467" y="3360241"/>
            <a:ext cx="3418535" cy="695920"/>
          </a:xfrm>
          <a:prstGeom prst="rect">
            <a:avLst/>
          </a:prstGeom>
          <a:noFill/>
          <a:ln/>
        </p:spPr>
        <p:txBody>
          <a:bodyPr wrap="square" lIns="0" tIns="0" rIns="0" bIns="0" rtlCol="0" anchor="t">
            <a:normAutofit/>
          </a:bodyPr>
          <a:lstStyle/>
          <a:p>
            <a:pPr algn="l" indent="0" marL="0">
              <a:lnSpc>
                <a:spcPts val="5280"/>
              </a:lnSpc>
              <a:buNone/>
            </a:pPr>
            <a:r>
              <a:rPr lang="en-US" sz="4800" dirty="0">
                <a:solidFill>
                  <a:srgbClr val="FFE600"/>
                </a:solidFill>
                <a:latin typeface="Bungee" pitchFamily="34" charset="0"/>
                <a:ea typeface="Bungee" pitchFamily="34" charset="-122"/>
                <a:cs typeface="Bungee" pitchFamily="34" charset="-120"/>
              </a:rPr>
              <a:t>7</a:t>
            </a:r>
            <a:endParaRPr lang="en-US" sz="4800" dirty="0"/>
          </a:p>
        </p:txBody>
      </p:sp>
      <p:sp>
        <p:nvSpPr>
          <p:cNvPr id="13" name="Text 11"/>
          <p:cNvSpPr/>
          <p:nvPr/>
        </p:nvSpPr>
        <p:spPr>
          <a:xfrm>
            <a:off x="4436467" y="4081562"/>
            <a:ext cx="3418535" cy="50542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D9D0BD"/>
                </a:solidFill>
                <a:latin typeface="Geist" pitchFamily="34" charset="0"/>
                <a:ea typeface="Geist" pitchFamily="34" charset="-122"/>
                <a:cs typeface="Geist" pitchFamily="34" charset="-120"/>
              </a:rPr>
              <a:t>compactions, 5 of them automatic at ~970K</a:t>
            </a:r>
            <a:endParaRPr lang="en-US" sz="1400" dirty="0"/>
          </a:p>
        </p:txBody>
      </p:sp>
      <p:sp>
        <p:nvSpPr>
          <p:cNvPr id="14" name="Text 12"/>
          <p:cNvSpPr/>
          <p:nvPr/>
        </p:nvSpPr>
        <p:spPr>
          <a:xfrm>
            <a:off x="8060234" y="3360241"/>
            <a:ext cx="3418535" cy="695920"/>
          </a:xfrm>
          <a:prstGeom prst="rect">
            <a:avLst/>
          </a:prstGeom>
          <a:noFill/>
          <a:ln/>
        </p:spPr>
        <p:txBody>
          <a:bodyPr wrap="square" lIns="0" tIns="0" rIns="0" bIns="0" rtlCol="0" anchor="t">
            <a:normAutofit/>
          </a:bodyPr>
          <a:lstStyle/>
          <a:p>
            <a:pPr algn="l" indent="0" marL="0">
              <a:lnSpc>
                <a:spcPts val="5280"/>
              </a:lnSpc>
              <a:buNone/>
            </a:pPr>
            <a:r>
              <a:rPr lang="en-US" sz="4800" dirty="0">
                <a:solidFill>
                  <a:srgbClr val="FF2D95"/>
                </a:solidFill>
                <a:latin typeface="Bungee" pitchFamily="34" charset="0"/>
                <a:ea typeface="Bungee" pitchFamily="34" charset="-122"/>
                <a:cs typeface="Bungee" pitchFamily="34" charset="-120"/>
              </a:rPr>
              <a:t>1.47B</a:t>
            </a:r>
            <a:endParaRPr lang="en-US" sz="4800" dirty="0"/>
          </a:p>
        </p:txBody>
      </p:sp>
      <p:sp>
        <p:nvSpPr>
          <p:cNvPr id="15" name="Text 13"/>
          <p:cNvSpPr/>
          <p:nvPr/>
        </p:nvSpPr>
        <p:spPr>
          <a:xfrm>
            <a:off x="8060234" y="4081562"/>
            <a:ext cx="3418535"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D9D0BD"/>
                </a:solidFill>
                <a:latin typeface="Geist" pitchFamily="34" charset="0"/>
                <a:ea typeface="Geist" pitchFamily="34" charset="-122"/>
                <a:cs typeface="Geist" pitchFamily="34" charset="-120"/>
              </a:rPr>
              <a:t>tokens read from cache in total</a:t>
            </a:r>
            <a:endParaRPr lang="en-US" sz="1400" dirty="0"/>
          </a:p>
        </p:txBody>
      </p:sp>
      <p:sp>
        <p:nvSpPr>
          <p:cNvPr id="16" name="Text 14"/>
          <p:cNvSpPr/>
          <p:nvPr/>
        </p:nvSpPr>
        <p:spPr>
          <a:xfrm>
            <a:off x="812800" y="4866382"/>
            <a:ext cx="10883392" cy="292100"/>
          </a:xfrm>
          <a:prstGeom prst="rect">
            <a:avLst/>
          </a:prstGeom>
          <a:noFill/>
          <a:ln/>
        </p:spPr>
        <p:txBody>
          <a:bodyPr wrap="square" lIns="0" tIns="0" rIns="0" bIns="0" rtlCol="0" anchor="t">
            <a:normAutofit/>
          </a:bodyPr>
          <a:lstStyle/>
          <a:p>
            <a:pPr algn="l" indent="0" marL="0">
              <a:lnSpc>
                <a:spcPts val="2100"/>
              </a:lnSpc>
              <a:buNone/>
            </a:pPr>
            <a:r>
              <a:rPr lang="en-US" sz="1500" i="1" dirty="0">
                <a:solidFill>
                  <a:srgbClr val="FFF8E7"/>
                </a:solidFill>
                <a:latin typeface="Geist" pitchFamily="34" charset="0"/>
                <a:ea typeface="Geist" pitchFamily="34" charset="-122"/>
                <a:cs typeface="Geist" pitchFamily="34" charset="-120"/>
              </a:rPr>
              <a:t>“…trying to not burn out tokens 2 days short of my weekly allowance” — me, 10-23</a:t>
            </a:r>
            <a:endParaRPr lang="en-US" sz="1500" dirty="0"/>
          </a:p>
        </p:txBody>
      </p:sp>
      <p:sp>
        <p:nvSpPr>
          <p:cNvPr id="17" name="Text 15"/>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A99F8C"/>
                </a:solidFill>
                <a:latin typeface="Geist" pitchFamily="34" charset="0"/>
                <a:ea typeface="Geist" pitchFamily="34" charset="-122"/>
                <a:cs typeface="Geist" pitchFamily="34" charset="-120"/>
              </a:rPr>
              <a:t>DAN FLASHES × SPEC KIT</a:t>
            </a:r>
            <a:endParaRPr lang="en-US" sz="1200" dirty="0"/>
          </a:p>
        </p:txBody>
      </p:sp>
      <p:sp>
        <p:nvSpPr>
          <p:cNvPr id="18" name="Text 16"/>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A99F8C"/>
                </a:solidFill>
                <a:latin typeface="Geist" pitchFamily="34" charset="0"/>
                <a:ea typeface="Geist" pitchFamily="34" charset="-122"/>
                <a:cs typeface="Geist" pitchFamily="34" charset="-120"/>
              </a:rPr>
              <a:t>17</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8E7"/>
        </a:solidFill>
      </p:bgPr>
    </p:bg>
    <p:spTree>
      <p:nvGrpSpPr>
        <p:cNvPr id="1" name=""/>
        <p:cNvGrpSpPr/>
        <p:nvPr/>
      </p:nvGrpSpPr>
      <p:grpSpPr>
        <a:xfrm>
          <a:off x="0" y="0"/>
          <a:ext cx="0" cy="0"/>
          <a:chOff x="0" y="0"/>
          <a:chExt cx="0" cy="0"/>
        </a:xfrm>
      </p:grpSpPr>
      <p:sp>
        <p:nvSpPr>
          <p:cNvPr id="2" name="Shape 0"/>
          <p:cNvSpPr/>
          <p:nvPr/>
        </p:nvSpPr>
        <p:spPr>
          <a:xfrm>
            <a:off x="0" y="0"/>
            <a:ext cx="12192000" cy="127000"/>
          </a:xfrm>
          <a:prstGeom prst="rect">
            <a:avLst/>
          </a:prstGeom>
          <a:gradFill rotWithShape="1">
            <a:gsLst>
              <a:gs pos="0">
                <a:srgbClr val="FF2D95"/>
              </a:gs>
              <a:gs pos="25000">
                <a:srgbClr val="FF2D95"/>
              </a:gs>
              <a:gs pos="25000">
                <a:srgbClr val="FFE600"/>
              </a:gs>
              <a:gs pos="50000">
                <a:srgbClr val="FFE600"/>
              </a:gs>
              <a:gs pos="50000">
                <a:srgbClr val="00E5FF"/>
              </a:gs>
              <a:gs pos="75000">
                <a:srgbClr val="00E5FF"/>
              </a:gs>
              <a:gs pos="75000">
                <a:srgbClr val="B6FF00"/>
              </a:gs>
              <a:gs pos="100000">
                <a:srgbClr val="B6FF00"/>
              </a:gs>
            </a:gsLst>
            <a:lin ang="2700000" scaled="0"/>
          </a:gradFill>
          <a:ln/>
        </p:spPr>
      </p:sp>
      <p:sp>
        <p:nvSpPr>
          <p:cNvPr id="3" name="Text 1"/>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7A00FF"/>
                </a:solidFill>
                <a:latin typeface="Geist" pitchFamily="34" charset="0"/>
                <a:ea typeface="Geist" pitchFamily="34" charset="-122"/>
                <a:cs typeface="Geist" pitchFamily="34" charset="-120"/>
              </a:rPr>
              <a:t>THE CONS, PART 2</a:t>
            </a:r>
            <a:endParaRPr lang="en-US" sz="1200" dirty="0"/>
          </a:p>
        </p:txBody>
      </p:sp>
      <p:sp>
        <p:nvSpPr>
          <p:cNvPr id="4" name="Text 2"/>
          <p:cNvSpPr/>
          <p:nvPr>
            <p:ph type="title"/>
          </p:nvPr>
        </p:nvSpPr>
        <p:spPr>
          <a:xfrm>
            <a:off x="812800" y="11023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0" i="0" dirty="0">
                <a:solidFill>
                  <a:srgbClr val="111111"/>
                </a:solidFill>
                <a:latin typeface="Bungee" pitchFamily="34" charset="0"/>
                <a:ea typeface="Bungee" pitchFamily="34" charset="-122"/>
                <a:cs typeface="Bungee" pitchFamily="34" charset="-120"/>
              </a:rPr>
              <a:t>Why it burned so fast</a:t>
            </a:r>
            <a:endParaRPr lang="en-US" sz="3200" dirty="0"/>
          </a:p>
        </p:txBody>
      </p:sp>
      <p:sp>
        <p:nvSpPr>
          <p:cNvPr id="5" name="Shape 3"/>
          <p:cNvSpPr/>
          <p:nvPr/>
        </p:nvSpPr>
        <p:spPr>
          <a:xfrm>
            <a:off x="812800" y="1787426"/>
            <a:ext cx="10566400" cy="0"/>
          </a:xfrm>
          <a:prstGeom prst="line">
            <a:avLst/>
          </a:prstGeom>
          <a:noFill/>
          <a:ln w="19050">
            <a:solidFill>
              <a:srgbClr val="111111"/>
            </a:solidFill>
            <a:prstDash val="solid"/>
          </a:ln>
        </p:spPr>
      </p:sp>
      <p:sp>
        <p:nvSpPr>
          <p:cNvPr id="6" name="Text 4"/>
          <p:cNvSpPr/>
          <p:nvPr/>
        </p:nvSpPr>
        <p:spPr>
          <a:xfrm>
            <a:off x="812800" y="1873151"/>
            <a:ext cx="3662680" cy="25648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11111"/>
                </a:solidFill>
                <a:latin typeface="Geist" pitchFamily="34" charset="0"/>
                <a:ea typeface="Geist" pitchFamily="34" charset="-122"/>
                <a:cs typeface="Geist" pitchFamily="34" charset="-120"/>
              </a:rPr>
              <a:t>Every turn re-sends everything</a:t>
            </a:r>
            <a:endParaRPr lang="en-US" sz="1400" dirty="0"/>
          </a:p>
        </p:txBody>
      </p:sp>
      <p:sp>
        <p:nvSpPr>
          <p:cNvPr id="7" name="Text 5"/>
          <p:cNvSpPr/>
          <p:nvPr/>
        </p:nvSpPr>
        <p:spPr>
          <a:xfrm>
            <a:off x="4622800" y="1885851"/>
            <a:ext cx="6959092" cy="24824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3D382F"/>
                </a:solidFill>
                <a:latin typeface="Geist" pitchFamily="34" charset="0"/>
                <a:ea typeface="Geist" pitchFamily="34" charset="-122"/>
                <a:cs typeface="Geist" pitchFamily="34" charset="-120"/>
              </a:rPr>
              <a:t>At ~500K tokens a turn, even “merge away” cost more than a long chat in a fresh session.</a:t>
            </a:r>
            <a:endParaRPr lang="en-US" sz="1300" dirty="0"/>
          </a:p>
        </p:txBody>
      </p:sp>
      <p:sp>
        <p:nvSpPr>
          <p:cNvPr id="8" name="Shape 6"/>
          <p:cNvSpPr/>
          <p:nvPr/>
        </p:nvSpPr>
        <p:spPr>
          <a:xfrm>
            <a:off x="812800" y="2191246"/>
            <a:ext cx="10566400" cy="0"/>
          </a:xfrm>
          <a:prstGeom prst="line">
            <a:avLst/>
          </a:prstGeom>
          <a:noFill/>
          <a:ln w="12700">
            <a:solidFill>
              <a:srgbClr val="D9CFB9"/>
            </a:solidFill>
            <a:prstDash val="solid"/>
          </a:ln>
        </p:spPr>
      </p:sp>
      <p:sp>
        <p:nvSpPr>
          <p:cNvPr id="9" name="Text 7"/>
          <p:cNvSpPr/>
          <p:nvPr/>
        </p:nvSpPr>
        <p:spPr>
          <a:xfrm>
            <a:off x="812800" y="2273796"/>
            <a:ext cx="3662680" cy="25648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11111"/>
                </a:solidFill>
                <a:latin typeface="Geist" pitchFamily="34" charset="0"/>
                <a:ea typeface="Geist" pitchFamily="34" charset="-122"/>
                <a:cs typeface="Geist" pitchFamily="34" charset="-120"/>
              </a:rPr>
              <a:t>The 1M window hid the cost</a:t>
            </a:r>
            <a:endParaRPr lang="en-US" sz="1400" dirty="0"/>
          </a:p>
        </p:txBody>
      </p:sp>
      <p:sp>
        <p:nvSpPr>
          <p:cNvPr id="10" name="Text 8"/>
          <p:cNvSpPr/>
          <p:nvPr/>
        </p:nvSpPr>
        <p:spPr>
          <a:xfrm>
            <a:off x="4622800" y="2286496"/>
            <a:ext cx="6959092" cy="24824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3D382F"/>
                </a:solidFill>
                <a:latin typeface="Geist" pitchFamily="34" charset="0"/>
                <a:ea typeface="Geist" pitchFamily="34" charset="-122"/>
                <a:cs typeface="Geist" pitchFamily="34" charset="-120"/>
              </a:rPr>
              <a:t>Compaction only kicked in near 970K, so most work ran with a huge context.</a:t>
            </a:r>
            <a:endParaRPr lang="en-US" sz="1300" dirty="0"/>
          </a:p>
        </p:txBody>
      </p:sp>
      <p:sp>
        <p:nvSpPr>
          <p:cNvPr id="11" name="Shape 9"/>
          <p:cNvSpPr/>
          <p:nvPr/>
        </p:nvSpPr>
        <p:spPr>
          <a:xfrm>
            <a:off x="812800" y="2591891"/>
            <a:ext cx="10566400" cy="0"/>
          </a:xfrm>
          <a:prstGeom prst="line">
            <a:avLst/>
          </a:prstGeom>
          <a:noFill/>
          <a:ln w="12700">
            <a:solidFill>
              <a:srgbClr val="D9CFB9"/>
            </a:solidFill>
            <a:prstDash val="solid"/>
          </a:ln>
        </p:spPr>
      </p:sp>
      <p:sp>
        <p:nvSpPr>
          <p:cNvPr id="12" name="Text 10"/>
          <p:cNvSpPr/>
          <p:nvPr/>
        </p:nvSpPr>
        <p:spPr>
          <a:xfrm>
            <a:off x="812800" y="2674441"/>
            <a:ext cx="3662680" cy="25648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11111"/>
                </a:solidFill>
                <a:latin typeface="Geist" pitchFamily="34" charset="0"/>
                <a:ea typeface="Geist" pitchFamily="34" charset="-122"/>
                <a:cs typeface="Geist" pitchFamily="34" charset="-120"/>
              </a:rPr>
              <a:t>Features chained in one session</a:t>
            </a:r>
            <a:endParaRPr lang="en-US" sz="1400" dirty="0"/>
          </a:p>
        </p:txBody>
      </p:sp>
      <p:sp>
        <p:nvSpPr>
          <p:cNvPr id="13" name="Text 11"/>
          <p:cNvSpPr/>
          <p:nvPr/>
        </p:nvSpPr>
        <p:spPr>
          <a:xfrm>
            <a:off x="4622800" y="2687141"/>
            <a:ext cx="6959092" cy="24824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3D382F"/>
                </a:solidFill>
                <a:latin typeface="Geist" pitchFamily="34" charset="0"/>
                <a:ea typeface="Geist" pitchFamily="34" charset="-122"/>
                <a:cs typeface="Geist" pitchFamily="34" charset="-120"/>
              </a:rPr>
              <a:t>10-16: shipped 005, 006 and 009, then started 008. 643 calls in one day.</a:t>
            </a:r>
            <a:endParaRPr lang="en-US" sz="1300" dirty="0"/>
          </a:p>
        </p:txBody>
      </p:sp>
      <p:sp>
        <p:nvSpPr>
          <p:cNvPr id="14" name="Shape 12"/>
          <p:cNvSpPr/>
          <p:nvPr/>
        </p:nvSpPr>
        <p:spPr>
          <a:xfrm>
            <a:off x="812800" y="2992537"/>
            <a:ext cx="10566400" cy="0"/>
          </a:xfrm>
          <a:prstGeom prst="line">
            <a:avLst/>
          </a:prstGeom>
          <a:noFill/>
          <a:ln w="12700">
            <a:solidFill>
              <a:srgbClr val="D9CFB9"/>
            </a:solidFill>
            <a:prstDash val="solid"/>
          </a:ln>
        </p:spPr>
      </p:sp>
      <p:sp>
        <p:nvSpPr>
          <p:cNvPr id="15" name="Text 13"/>
          <p:cNvSpPr/>
          <p:nvPr/>
        </p:nvSpPr>
        <p:spPr>
          <a:xfrm>
            <a:off x="812800" y="3075087"/>
            <a:ext cx="3662680" cy="25648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11111"/>
                </a:solidFill>
                <a:latin typeface="Geist" pitchFamily="34" charset="0"/>
                <a:ea typeface="Geist" pitchFamily="34" charset="-122"/>
                <a:cs typeface="Geist" pitchFamily="34" charset="-120"/>
              </a:rPr>
              <a:t>Long unattended runs</a:t>
            </a:r>
            <a:endParaRPr lang="en-US" sz="1400" dirty="0"/>
          </a:p>
        </p:txBody>
      </p:sp>
      <p:sp>
        <p:nvSpPr>
          <p:cNvPr id="16" name="Text 14"/>
          <p:cNvSpPr/>
          <p:nvPr/>
        </p:nvSpPr>
        <p:spPr>
          <a:xfrm>
            <a:off x="4622800" y="3087787"/>
            <a:ext cx="6959092" cy="24824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3D382F"/>
                </a:solidFill>
                <a:latin typeface="Geist" pitchFamily="34" charset="0"/>
                <a:ea typeface="Geist" pitchFamily="34" charset="-122"/>
                <a:cs typeface="Geist" pitchFamily="34" charset="-120"/>
              </a:rPr>
              <a:t>“implement your recommendation for all” on PSSB at 4 AM. Then the limit.</a:t>
            </a:r>
            <a:endParaRPr lang="en-US" sz="1300" dirty="0"/>
          </a:p>
        </p:txBody>
      </p:sp>
      <p:sp>
        <p:nvSpPr>
          <p:cNvPr id="17" name="Shape 15"/>
          <p:cNvSpPr/>
          <p:nvPr/>
        </p:nvSpPr>
        <p:spPr>
          <a:xfrm>
            <a:off x="812800" y="3393182"/>
            <a:ext cx="10566400" cy="0"/>
          </a:xfrm>
          <a:prstGeom prst="line">
            <a:avLst/>
          </a:prstGeom>
          <a:noFill/>
          <a:ln w="12700">
            <a:solidFill>
              <a:srgbClr val="D9CFB9"/>
            </a:solidFill>
            <a:prstDash val="solid"/>
          </a:ln>
        </p:spPr>
      </p:sp>
      <p:sp>
        <p:nvSpPr>
          <p:cNvPr id="18" name="Text 16"/>
          <p:cNvSpPr/>
          <p:nvPr/>
        </p:nvSpPr>
        <p:spPr>
          <a:xfrm>
            <a:off x="812800" y="3475732"/>
            <a:ext cx="3662680" cy="25648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11111"/>
                </a:solidFill>
                <a:latin typeface="Geist" pitchFamily="34" charset="0"/>
                <a:ea typeface="Geist" pitchFamily="34" charset="-122"/>
                <a:cs typeface="Geist" pitchFamily="34" charset="-120"/>
              </a:rPr>
              <a:t>Noisy output in the main thread</a:t>
            </a:r>
            <a:endParaRPr lang="en-US" sz="1400" dirty="0"/>
          </a:p>
        </p:txBody>
      </p:sp>
      <p:sp>
        <p:nvSpPr>
          <p:cNvPr id="19" name="Text 17"/>
          <p:cNvSpPr/>
          <p:nvPr/>
        </p:nvSpPr>
        <p:spPr>
          <a:xfrm>
            <a:off x="4622800" y="3488432"/>
            <a:ext cx="6959092" cy="24824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3D382F"/>
                </a:solidFill>
                <a:latin typeface="Geist" pitchFamily="34" charset="0"/>
                <a:ea typeface="Geist" pitchFamily="34" charset="-122"/>
                <a:cs typeface="Geist" pitchFamily="34" charset="-120"/>
              </a:rPr>
              <a:t>8–10 minute test runs, retries, Lighthouse reports: 2,696 shell commands.</a:t>
            </a:r>
            <a:endParaRPr lang="en-US" sz="1300" dirty="0"/>
          </a:p>
        </p:txBody>
      </p:sp>
      <p:sp>
        <p:nvSpPr>
          <p:cNvPr id="20" name="Shape 18"/>
          <p:cNvSpPr/>
          <p:nvPr/>
        </p:nvSpPr>
        <p:spPr>
          <a:xfrm>
            <a:off x="812800" y="3793827"/>
            <a:ext cx="10566400" cy="0"/>
          </a:xfrm>
          <a:prstGeom prst="line">
            <a:avLst/>
          </a:prstGeom>
          <a:noFill/>
          <a:ln w="12700">
            <a:solidFill>
              <a:srgbClr val="D9CFB9"/>
            </a:solidFill>
            <a:prstDash val="solid"/>
          </a:ln>
        </p:spPr>
      </p:sp>
      <p:sp>
        <p:nvSpPr>
          <p:cNvPr id="21" name="Text 19"/>
          <p:cNvSpPr/>
          <p:nvPr/>
        </p:nvSpPr>
        <p:spPr>
          <a:xfrm>
            <a:off x="812800" y="3876377"/>
            <a:ext cx="3662680" cy="25648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11111"/>
                </a:solidFill>
                <a:latin typeface="Geist" pitchFamily="34" charset="0"/>
                <a:ea typeface="Geist" pitchFamily="34" charset="-122"/>
                <a:cs typeface="Geist" pitchFamily="34" charset="-120"/>
              </a:rPr>
              <a:t>Opus, high effort, for everything</a:t>
            </a:r>
            <a:endParaRPr lang="en-US" sz="1400" dirty="0"/>
          </a:p>
        </p:txBody>
      </p:sp>
      <p:sp>
        <p:nvSpPr>
          <p:cNvPr id="22" name="Text 20"/>
          <p:cNvSpPr/>
          <p:nvPr/>
        </p:nvSpPr>
        <p:spPr>
          <a:xfrm>
            <a:off x="4622800" y="3889077"/>
            <a:ext cx="6959092" cy="24824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3D382F"/>
                </a:solidFill>
                <a:latin typeface="Geist" pitchFamily="34" charset="0"/>
                <a:ea typeface="Geist" pitchFamily="34" charset="-122"/>
                <a:cs typeface="Geist" pitchFamily="34" charset="-120"/>
              </a:rPr>
              <a:t>Including re-running tests and fixing formatting.</a:t>
            </a:r>
            <a:endParaRPr lang="en-US" sz="1300" dirty="0"/>
          </a:p>
        </p:txBody>
      </p:sp>
      <p:sp>
        <p:nvSpPr>
          <p:cNvPr id="23" name="Text 21"/>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6B6252"/>
                </a:solidFill>
                <a:latin typeface="Geist" pitchFamily="34" charset="0"/>
                <a:ea typeface="Geist" pitchFamily="34" charset="-122"/>
                <a:cs typeface="Geist" pitchFamily="34" charset="-120"/>
              </a:rPr>
              <a:t>DAN FLASHES × SPEC KIT</a:t>
            </a:r>
            <a:endParaRPr lang="en-US" sz="1200" dirty="0"/>
          </a:p>
        </p:txBody>
      </p:sp>
      <p:sp>
        <p:nvSpPr>
          <p:cNvPr id="24" name="Text 22"/>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6252"/>
                </a:solidFill>
                <a:latin typeface="Geist" pitchFamily="34" charset="0"/>
                <a:ea typeface="Geist" pitchFamily="34" charset="-122"/>
                <a:cs typeface="Geist" pitchFamily="34" charset="-120"/>
              </a:rPr>
              <a:t>18</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E60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111111"/>
                </a:solidFill>
                <a:latin typeface="Geist" pitchFamily="34" charset="0"/>
                <a:ea typeface="Geist" pitchFamily="34" charset="-122"/>
                <a:cs typeface="Geist" pitchFamily="34" charset="-120"/>
              </a:rPr>
              <a:t>THE FIX</a:t>
            </a:r>
            <a:endParaRPr lang="en-US" sz="1200" dirty="0"/>
          </a:p>
        </p:txBody>
      </p:sp>
      <p:sp>
        <p:nvSpPr>
          <p:cNvPr id="3" name="Text 1"/>
          <p:cNvSpPr/>
          <p:nvPr>
            <p:ph type="title"/>
          </p:nvPr>
        </p:nvSpPr>
        <p:spPr>
          <a:xfrm>
            <a:off x="812800" y="11023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0" i="0" dirty="0">
                <a:solidFill>
                  <a:srgbClr val="111111"/>
                </a:solidFill>
                <a:latin typeface="Bungee" pitchFamily="34" charset="0"/>
                <a:ea typeface="Bungee" pitchFamily="34" charset="-122"/>
                <a:cs typeface="Bungee" pitchFamily="34" charset="-120"/>
              </a:rPr>
              <a:t>Start fresh. Specs remember.</a:t>
            </a:r>
            <a:endParaRPr lang="en-US" sz="3200" dirty="0"/>
          </a:p>
        </p:txBody>
      </p:sp>
      <p:sp>
        <p:nvSpPr>
          <p:cNvPr id="4" name="Shape 2"/>
          <p:cNvSpPr/>
          <p:nvPr/>
        </p:nvSpPr>
        <p:spPr>
          <a:xfrm>
            <a:off x="822325" y="1812826"/>
            <a:ext cx="3367584" cy="1111250"/>
          </a:xfrm>
          <a:prstGeom prst="rect">
            <a:avLst/>
          </a:prstGeom>
          <a:solidFill>
            <a:srgbClr val="FFF8E7"/>
          </a:solidFill>
          <a:ln w="19050">
            <a:solidFill>
              <a:srgbClr val="111111"/>
            </a:solidFill>
            <a:prstDash val="solid"/>
          </a:ln>
          <a:effectLst>
            <a:outerShdw sx="100000" sy="100000" kx="0" ky="0" algn="bl" rotWithShape="0" blurRad="0" dist="71842" dir="2700000">
              <a:srgbClr val="111111">
                <a:alpha val="100000"/>
              </a:srgbClr>
            </a:outerShdw>
          </a:effectLst>
        </p:spPr>
      </p:sp>
      <p:sp>
        <p:nvSpPr>
          <p:cNvPr id="5" name="Text 3"/>
          <p:cNvSpPr/>
          <p:nvPr/>
        </p:nvSpPr>
        <p:spPr>
          <a:xfrm>
            <a:off x="1009650" y="2000151"/>
            <a:ext cx="3082722"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11111"/>
                </a:solidFill>
                <a:latin typeface="Geist" pitchFamily="34" charset="0"/>
                <a:ea typeface="Geist" pitchFamily="34" charset="-122"/>
                <a:cs typeface="Geist" pitchFamily="34" charset="-120"/>
              </a:rPr>
              <a:t>New session per feature</a:t>
            </a:r>
            <a:endParaRPr lang="en-US" sz="1500" dirty="0"/>
          </a:p>
        </p:txBody>
      </p:sp>
      <p:sp>
        <p:nvSpPr>
          <p:cNvPr id="6" name="Text 4"/>
          <p:cNvSpPr/>
          <p:nvPr/>
        </p:nvSpPr>
        <p:spPr>
          <a:xfrm>
            <a:off x="1009650" y="2292251"/>
            <a:ext cx="3082722" cy="469900"/>
          </a:xfrm>
          <a:prstGeom prst="rect">
            <a:avLst/>
          </a:prstGeom>
          <a:noFill/>
          <a:ln/>
        </p:spPr>
        <p:txBody>
          <a:bodyPr wrap="square" lIns="0" tIns="0" rIns="0" bIns="0" rtlCol="0" anchor="t">
            <a:normAutofit/>
          </a:bodyPr>
          <a:lstStyle/>
          <a:p>
            <a:pPr algn="l" indent="0" marL="0">
              <a:lnSpc>
                <a:spcPts val="1750"/>
              </a:lnSpc>
              <a:buNone/>
            </a:pPr>
            <a:r>
              <a:rPr lang="en-US" sz="1250" dirty="0">
                <a:solidFill>
                  <a:srgbClr val="3D382F"/>
                </a:solidFill>
                <a:latin typeface="Geist" pitchFamily="34" charset="0"/>
                <a:ea typeface="Geist" pitchFamily="34" charset="-122"/>
                <a:cs typeface="Geist" pitchFamily="34" charset="-120"/>
              </a:rPr>
              <a:t>Or per phase. specs/, tasks.md and CLAUDE.md hold everything it needs.</a:t>
            </a:r>
            <a:endParaRPr lang="en-US" sz="1250" dirty="0"/>
          </a:p>
        </p:txBody>
      </p:sp>
      <p:sp>
        <p:nvSpPr>
          <p:cNvPr id="7" name="Shape 5"/>
          <p:cNvSpPr/>
          <p:nvPr/>
        </p:nvSpPr>
        <p:spPr>
          <a:xfrm>
            <a:off x="4412159" y="1812826"/>
            <a:ext cx="3367584" cy="1111250"/>
          </a:xfrm>
          <a:prstGeom prst="rect">
            <a:avLst/>
          </a:prstGeom>
          <a:solidFill>
            <a:srgbClr val="FFF8E7"/>
          </a:solidFill>
          <a:ln w="19050">
            <a:solidFill>
              <a:srgbClr val="111111"/>
            </a:solidFill>
            <a:prstDash val="solid"/>
          </a:ln>
          <a:effectLst>
            <a:outerShdw sx="100000" sy="100000" kx="0" ky="0" algn="bl" rotWithShape="0" blurRad="0" dist="71842" dir="2700000">
              <a:srgbClr val="111111">
                <a:alpha val="100000"/>
              </a:srgbClr>
            </a:outerShdw>
          </a:effectLst>
        </p:spPr>
      </p:sp>
      <p:sp>
        <p:nvSpPr>
          <p:cNvPr id="8" name="Text 6"/>
          <p:cNvSpPr/>
          <p:nvPr/>
        </p:nvSpPr>
        <p:spPr>
          <a:xfrm>
            <a:off x="4599484" y="2000151"/>
            <a:ext cx="3082722"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11111"/>
                </a:solidFill>
                <a:latin typeface="Geist" pitchFamily="34" charset="0"/>
                <a:ea typeface="Geist" pitchFamily="34" charset="-122"/>
                <a:cs typeface="Geist" pitchFamily="34" charset="-120"/>
              </a:rPr>
              <a:t>/clear between features</a:t>
            </a:r>
            <a:endParaRPr lang="en-US" sz="1500" dirty="0"/>
          </a:p>
        </p:txBody>
      </p:sp>
      <p:sp>
        <p:nvSpPr>
          <p:cNvPr id="9" name="Text 7"/>
          <p:cNvSpPr/>
          <p:nvPr/>
        </p:nvSpPr>
        <p:spPr>
          <a:xfrm>
            <a:off x="4599484" y="2292251"/>
            <a:ext cx="3082722" cy="469900"/>
          </a:xfrm>
          <a:prstGeom prst="rect">
            <a:avLst/>
          </a:prstGeom>
          <a:noFill/>
          <a:ln/>
        </p:spPr>
        <p:txBody>
          <a:bodyPr wrap="square" lIns="0" tIns="0" rIns="0" bIns="0" rtlCol="0" anchor="t">
            <a:normAutofit/>
          </a:bodyPr>
          <a:lstStyle/>
          <a:p>
            <a:pPr algn="l" indent="0" marL="0">
              <a:lnSpc>
                <a:spcPts val="1750"/>
              </a:lnSpc>
              <a:buNone/>
            </a:pPr>
            <a:r>
              <a:rPr lang="en-US" sz="1250" dirty="0">
                <a:solidFill>
                  <a:srgbClr val="3D382F"/>
                </a:solidFill>
                <a:latin typeface="Geist" pitchFamily="34" charset="0"/>
                <a:ea typeface="Geist" pitchFamily="34" charset="-122"/>
                <a:cs typeface="Geist" pitchFamily="34" charset="-120"/>
              </a:rPr>
              <a:t>Compact, with a focus, only in the middle of one.</a:t>
            </a:r>
            <a:endParaRPr lang="en-US" sz="1250" dirty="0"/>
          </a:p>
        </p:txBody>
      </p:sp>
      <p:sp>
        <p:nvSpPr>
          <p:cNvPr id="10" name="Shape 8"/>
          <p:cNvSpPr/>
          <p:nvPr/>
        </p:nvSpPr>
        <p:spPr>
          <a:xfrm>
            <a:off x="8001992" y="1812826"/>
            <a:ext cx="3367584" cy="1111250"/>
          </a:xfrm>
          <a:prstGeom prst="rect">
            <a:avLst/>
          </a:prstGeom>
          <a:solidFill>
            <a:srgbClr val="FFF8E7"/>
          </a:solidFill>
          <a:ln w="19050">
            <a:solidFill>
              <a:srgbClr val="111111"/>
            </a:solidFill>
            <a:prstDash val="solid"/>
          </a:ln>
          <a:effectLst>
            <a:outerShdw sx="100000" sy="100000" kx="0" ky="0" algn="bl" rotWithShape="0" blurRad="0" dist="71842" dir="2700000">
              <a:srgbClr val="111111">
                <a:alpha val="100000"/>
              </a:srgbClr>
            </a:outerShdw>
          </a:effectLst>
        </p:spPr>
      </p:sp>
      <p:sp>
        <p:nvSpPr>
          <p:cNvPr id="11" name="Text 9"/>
          <p:cNvSpPr/>
          <p:nvPr/>
        </p:nvSpPr>
        <p:spPr>
          <a:xfrm>
            <a:off x="8189317" y="2000151"/>
            <a:ext cx="3082722"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11111"/>
                </a:solidFill>
                <a:latin typeface="Geist" pitchFamily="34" charset="0"/>
                <a:ea typeface="Geist" pitchFamily="34" charset="-122"/>
                <a:cs typeface="Geist" pitchFamily="34" charset="-120"/>
              </a:rPr>
              <a:t>Watch the context</a:t>
            </a:r>
            <a:endParaRPr lang="en-US" sz="1500" dirty="0"/>
          </a:p>
        </p:txBody>
      </p:sp>
      <p:sp>
        <p:nvSpPr>
          <p:cNvPr id="12" name="Text 10"/>
          <p:cNvSpPr/>
          <p:nvPr/>
        </p:nvSpPr>
        <p:spPr>
          <a:xfrm>
            <a:off x="8189317" y="2292251"/>
            <a:ext cx="3082722" cy="469900"/>
          </a:xfrm>
          <a:prstGeom prst="rect">
            <a:avLst/>
          </a:prstGeom>
          <a:noFill/>
          <a:ln/>
        </p:spPr>
        <p:txBody>
          <a:bodyPr wrap="square" lIns="0" tIns="0" rIns="0" bIns="0" rtlCol="0" anchor="t">
            <a:normAutofit/>
          </a:bodyPr>
          <a:lstStyle/>
          <a:p>
            <a:pPr algn="l" indent="0" marL="0">
              <a:lnSpc>
                <a:spcPts val="1750"/>
              </a:lnSpc>
              <a:buNone/>
            </a:pPr>
            <a:r>
              <a:rPr lang="en-US" sz="1250" dirty="0">
                <a:solidFill>
                  <a:srgbClr val="3D382F"/>
                </a:solidFill>
                <a:latin typeface="Geist" pitchFamily="34" charset="0"/>
                <a:ea typeface="Geist" pitchFamily="34" charset="-122"/>
                <a:cs typeface="Geist" pitchFamily="34" charset="-120"/>
              </a:rPr>
              <a:t>Wrap up a phase around 150–200K tokens, not 970K.</a:t>
            </a:r>
            <a:endParaRPr lang="en-US" sz="1250" dirty="0"/>
          </a:p>
        </p:txBody>
      </p:sp>
      <p:sp>
        <p:nvSpPr>
          <p:cNvPr id="13" name="Shape 11"/>
          <p:cNvSpPr/>
          <p:nvPr/>
        </p:nvSpPr>
        <p:spPr>
          <a:xfrm>
            <a:off x="822325" y="3146326"/>
            <a:ext cx="3367584" cy="1111250"/>
          </a:xfrm>
          <a:prstGeom prst="rect">
            <a:avLst/>
          </a:prstGeom>
          <a:solidFill>
            <a:srgbClr val="FFF8E7"/>
          </a:solidFill>
          <a:ln w="19050">
            <a:solidFill>
              <a:srgbClr val="111111"/>
            </a:solidFill>
            <a:prstDash val="solid"/>
          </a:ln>
          <a:effectLst>
            <a:outerShdw sx="100000" sy="100000" kx="0" ky="0" algn="bl" rotWithShape="0" blurRad="0" dist="71842" dir="2700000">
              <a:srgbClr val="111111">
                <a:alpha val="100000"/>
              </a:srgbClr>
            </a:outerShdw>
          </a:effectLst>
        </p:spPr>
      </p:sp>
      <p:sp>
        <p:nvSpPr>
          <p:cNvPr id="14" name="Text 12"/>
          <p:cNvSpPr/>
          <p:nvPr/>
        </p:nvSpPr>
        <p:spPr>
          <a:xfrm>
            <a:off x="1009650" y="3333651"/>
            <a:ext cx="3082722"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11111"/>
                </a:solidFill>
                <a:latin typeface="Geist" pitchFamily="34" charset="0"/>
                <a:ea typeface="Geist" pitchFamily="34" charset="-122"/>
                <a:cs typeface="Geist" pitchFamily="34" charset="-120"/>
              </a:rPr>
              <a:t>Match the model to the phase</a:t>
            </a:r>
            <a:endParaRPr lang="en-US" sz="1500" dirty="0"/>
          </a:p>
        </p:txBody>
      </p:sp>
      <p:sp>
        <p:nvSpPr>
          <p:cNvPr id="15" name="Text 13"/>
          <p:cNvSpPr/>
          <p:nvPr/>
        </p:nvSpPr>
        <p:spPr>
          <a:xfrm>
            <a:off x="1009650" y="3625751"/>
            <a:ext cx="3082722" cy="469900"/>
          </a:xfrm>
          <a:prstGeom prst="rect">
            <a:avLst/>
          </a:prstGeom>
          <a:noFill/>
          <a:ln/>
        </p:spPr>
        <p:txBody>
          <a:bodyPr wrap="square" lIns="0" tIns="0" rIns="0" bIns="0" rtlCol="0" anchor="t">
            <a:normAutofit/>
          </a:bodyPr>
          <a:lstStyle/>
          <a:p>
            <a:pPr algn="l" indent="0" marL="0">
              <a:lnSpc>
                <a:spcPts val="1750"/>
              </a:lnSpc>
              <a:buNone/>
            </a:pPr>
            <a:r>
              <a:rPr lang="en-US" sz="1250" dirty="0">
                <a:solidFill>
                  <a:srgbClr val="3D382F"/>
                </a:solidFill>
                <a:latin typeface="Geist" pitchFamily="34" charset="0"/>
                <a:ea typeface="Geist" pitchFamily="34" charset="-122"/>
                <a:cs typeface="Geist" pitchFamily="34" charset="-120"/>
              </a:rPr>
              <a:t>Opus for specify, plan and analyze. Sonnet for implement and test loops.</a:t>
            </a:r>
            <a:endParaRPr lang="en-US" sz="1250" dirty="0"/>
          </a:p>
        </p:txBody>
      </p:sp>
      <p:sp>
        <p:nvSpPr>
          <p:cNvPr id="16" name="Shape 14"/>
          <p:cNvSpPr/>
          <p:nvPr/>
        </p:nvSpPr>
        <p:spPr>
          <a:xfrm>
            <a:off x="4412159" y="3146326"/>
            <a:ext cx="3367584" cy="1111250"/>
          </a:xfrm>
          <a:prstGeom prst="rect">
            <a:avLst/>
          </a:prstGeom>
          <a:solidFill>
            <a:srgbClr val="FFF8E7"/>
          </a:solidFill>
          <a:ln w="19050">
            <a:solidFill>
              <a:srgbClr val="111111"/>
            </a:solidFill>
            <a:prstDash val="solid"/>
          </a:ln>
          <a:effectLst>
            <a:outerShdw sx="100000" sy="100000" kx="0" ky="0" algn="bl" rotWithShape="0" blurRad="0" dist="71842" dir="2700000">
              <a:srgbClr val="111111">
                <a:alpha val="100000"/>
              </a:srgbClr>
            </a:outerShdw>
          </a:effectLst>
        </p:spPr>
      </p:sp>
      <p:sp>
        <p:nvSpPr>
          <p:cNvPr id="17" name="Text 15"/>
          <p:cNvSpPr/>
          <p:nvPr/>
        </p:nvSpPr>
        <p:spPr>
          <a:xfrm>
            <a:off x="4599484" y="3333651"/>
            <a:ext cx="3082722"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11111"/>
                </a:solidFill>
                <a:latin typeface="Geist" pitchFamily="34" charset="0"/>
                <a:ea typeface="Geist" pitchFamily="34" charset="-122"/>
                <a:cs typeface="Geist" pitchFamily="34" charset="-120"/>
              </a:rPr>
              <a:t>Scope implement runs</a:t>
            </a:r>
            <a:endParaRPr lang="en-US" sz="1500" dirty="0"/>
          </a:p>
        </p:txBody>
      </p:sp>
      <p:sp>
        <p:nvSpPr>
          <p:cNvPr id="18" name="Text 16"/>
          <p:cNvSpPr/>
          <p:nvPr/>
        </p:nvSpPr>
        <p:spPr>
          <a:xfrm>
            <a:off x="4599484" y="3625751"/>
            <a:ext cx="3082722" cy="469900"/>
          </a:xfrm>
          <a:prstGeom prst="rect">
            <a:avLst/>
          </a:prstGeom>
          <a:noFill/>
          <a:ln/>
        </p:spPr>
        <p:txBody>
          <a:bodyPr wrap="square" lIns="0" tIns="0" rIns="0" bIns="0" rtlCol="0" anchor="t">
            <a:normAutofit/>
          </a:bodyPr>
          <a:lstStyle/>
          <a:p>
            <a:pPr algn="l" indent="0" marL="0">
              <a:lnSpc>
                <a:spcPts val="1750"/>
              </a:lnSpc>
              <a:buNone/>
            </a:pPr>
            <a:r>
              <a:rPr lang="en-US" sz="1250" dirty="0">
                <a:solidFill>
                  <a:srgbClr val="3D382F"/>
                </a:solidFill>
                <a:latin typeface="Geist" pitchFamily="34" charset="0"/>
                <a:ea typeface="Geist" pitchFamily="34" charset="-122"/>
                <a:cs typeface="Geist" pitchFamily="34" charset="-120"/>
              </a:rPr>
              <a:t>“T001–T012, then stop.” Not “all of it” overnight.</a:t>
            </a:r>
            <a:endParaRPr lang="en-US" sz="1250" dirty="0"/>
          </a:p>
        </p:txBody>
      </p:sp>
      <p:sp>
        <p:nvSpPr>
          <p:cNvPr id="19" name="Shape 17"/>
          <p:cNvSpPr/>
          <p:nvPr/>
        </p:nvSpPr>
        <p:spPr>
          <a:xfrm>
            <a:off x="8001992" y="3146326"/>
            <a:ext cx="3367584" cy="1111250"/>
          </a:xfrm>
          <a:prstGeom prst="rect">
            <a:avLst/>
          </a:prstGeom>
          <a:solidFill>
            <a:srgbClr val="FFF8E7"/>
          </a:solidFill>
          <a:ln w="19050">
            <a:solidFill>
              <a:srgbClr val="111111"/>
            </a:solidFill>
            <a:prstDash val="solid"/>
          </a:ln>
          <a:effectLst>
            <a:outerShdw sx="100000" sy="100000" kx="0" ky="0" algn="bl" rotWithShape="0" blurRad="0" dist="71842" dir="2700000">
              <a:srgbClr val="111111">
                <a:alpha val="100000"/>
              </a:srgbClr>
            </a:outerShdw>
          </a:effectLst>
        </p:spPr>
      </p:sp>
      <p:sp>
        <p:nvSpPr>
          <p:cNvPr id="20" name="Text 18"/>
          <p:cNvSpPr/>
          <p:nvPr/>
        </p:nvSpPr>
        <p:spPr>
          <a:xfrm>
            <a:off x="8189317" y="3333651"/>
            <a:ext cx="3082722"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11111"/>
                </a:solidFill>
                <a:latin typeface="Geist" pitchFamily="34" charset="0"/>
                <a:ea typeface="Geist" pitchFamily="34" charset="-122"/>
                <a:cs typeface="Geist" pitchFamily="34" charset="-120"/>
              </a:rPr>
              <a:t>Subagents for noisy work</a:t>
            </a:r>
            <a:endParaRPr lang="en-US" sz="1500" dirty="0"/>
          </a:p>
        </p:txBody>
      </p:sp>
      <p:sp>
        <p:nvSpPr>
          <p:cNvPr id="21" name="Text 19"/>
          <p:cNvSpPr/>
          <p:nvPr/>
        </p:nvSpPr>
        <p:spPr>
          <a:xfrm>
            <a:off x="8189317" y="3625751"/>
            <a:ext cx="3082722" cy="469900"/>
          </a:xfrm>
          <a:prstGeom prst="rect">
            <a:avLst/>
          </a:prstGeom>
          <a:noFill/>
          <a:ln/>
        </p:spPr>
        <p:txBody>
          <a:bodyPr wrap="square" lIns="0" tIns="0" rIns="0" bIns="0" rtlCol="0" anchor="t">
            <a:normAutofit/>
          </a:bodyPr>
          <a:lstStyle/>
          <a:p>
            <a:pPr algn="l" indent="0" marL="0">
              <a:lnSpc>
                <a:spcPts val="1750"/>
              </a:lnSpc>
              <a:buNone/>
            </a:pPr>
            <a:r>
              <a:rPr lang="en-US" sz="1250" dirty="0">
                <a:solidFill>
                  <a:srgbClr val="3D382F"/>
                </a:solidFill>
                <a:latin typeface="Geist" pitchFamily="34" charset="0"/>
                <a:ea typeface="Geist" pitchFamily="34" charset="-122"/>
                <a:cs typeface="Geist" pitchFamily="34" charset="-120"/>
              </a:rPr>
              <a:t>They run the tests and read the logs. Only the verdict comes back.</a:t>
            </a:r>
            <a:endParaRPr lang="en-US" sz="1250" dirty="0"/>
          </a:p>
        </p:txBody>
      </p:sp>
      <p:sp>
        <p:nvSpPr>
          <p:cNvPr id="22" name="Text 20"/>
          <p:cNvSpPr/>
          <p:nvPr/>
        </p:nvSpPr>
        <p:spPr>
          <a:xfrm>
            <a:off x="812800" y="4521101"/>
            <a:ext cx="10883392" cy="265410"/>
          </a:xfrm>
          <a:prstGeom prst="rect">
            <a:avLst/>
          </a:prstGeom>
          <a:noFill/>
          <a:ln/>
        </p:spPr>
        <p:txBody>
          <a:bodyPr wrap="square" lIns="0" tIns="0" rIns="0" bIns="0" rtlCol="0" anchor="t">
            <a:normAutofit/>
          </a:bodyPr>
          <a:lstStyle/>
          <a:p>
            <a:pPr algn="l" indent="0" marL="0">
              <a:lnSpc>
                <a:spcPts val="1890"/>
              </a:lnSpc>
              <a:buNone/>
            </a:pPr>
            <a:r>
              <a:rPr lang="en-US" sz="1350" dirty="0">
                <a:solidFill>
                  <a:srgbClr val="111111"/>
                </a:solidFill>
                <a:latin typeface="Geist" pitchFamily="34" charset="0"/>
                <a:ea typeface="Geist" pitchFamily="34" charset="-122"/>
                <a:cs typeface="Geist" pitchFamily="34" charset="-120"/>
              </a:rPr>
              <a:t>Rough estimate: an average context of ~150K instead of ~500K reads about a third of the tokens.</a:t>
            </a:r>
            <a:endParaRPr lang="en-US" sz="1350" dirty="0"/>
          </a:p>
        </p:txBody>
      </p:sp>
      <p:sp>
        <p:nvSpPr>
          <p:cNvPr id="23" name="Text 21"/>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111111"/>
                </a:solidFill>
                <a:latin typeface="Geist" pitchFamily="34" charset="0"/>
                <a:ea typeface="Geist" pitchFamily="34" charset="-122"/>
                <a:cs typeface="Geist" pitchFamily="34" charset="-120"/>
              </a:rPr>
              <a:t>DAN FLASHES × SPEC KIT</a:t>
            </a:r>
            <a:endParaRPr lang="en-US" sz="1200" dirty="0"/>
          </a:p>
        </p:txBody>
      </p:sp>
      <p:sp>
        <p:nvSpPr>
          <p:cNvPr id="24" name="Text 22"/>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11111"/>
                </a:solidFill>
                <a:latin typeface="Geist" pitchFamily="34" charset="0"/>
                <a:ea typeface="Geist" pitchFamily="34" charset="-122"/>
                <a:cs typeface="Geist" pitchFamily="34" charset="-120"/>
              </a:rPr>
              <a:t>19</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8E7"/>
        </a:solidFill>
      </p:bgPr>
    </p:bg>
    <p:spTree>
      <p:nvGrpSpPr>
        <p:cNvPr id="1" name=""/>
        <p:cNvGrpSpPr/>
        <p:nvPr/>
      </p:nvGrpSpPr>
      <p:grpSpPr>
        <a:xfrm>
          <a:off x="0" y="0"/>
          <a:ext cx="0" cy="0"/>
          <a:chOff x="0" y="0"/>
          <a:chExt cx="0" cy="0"/>
        </a:xfrm>
      </p:grpSpPr>
      <p:sp>
        <p:nvSpPr>
          <p:cNvPr id="2" name="Shape 0"/>
          <p:cNvSpPr/>
          <p:nvPr/>
        </p:nvSpPr>
        <p:spPr>
          <a:xfrm>
            <a:off x="0" y="0"/>
            <a:ext cx="12192000" cy="127000"/>
          </a:xfrm>
          <a:prstGeom prst="rect">
            <a:avLst/>
          </a:prstGeom>
          <a:gradFill rotWithShape="1">
            <a:gsLst>
              <a:gs pos="0">
                <a:srgbClr val="FF2D95"/>
              </a:gs>
              <a:gs pos="25000">
                <a:srgbClr val="FF2D95"/>
              </a:gs>
              <a:gs pos="25000">
                <a:srgbClr val="FFE600"/>
              </a:gs>
              <a:gs pos="50000">
                <a:srgbClr val="FFE600"/>
              </a:gs>
              <a:gs pos="50000">
                <a:srgbClr val="00E5FF"/>
              </a:gs>
              <a:gs pos="75000">
                <a:srgbClr val="00E5FF"/>
              </a:gs>
              <a:gs pos="75000">
                <a:srgbClr val="B6FF00"/>
              </a:gs>
              <a:gs pos="100000">
                <a:srgbClr val="B6FF00"/>
              </a:gs>
            </a:gsLst>
            <a:lin ang="2700000" scaled="0"/>
          </a:gradFill>
          <a:ln/>
        </p:spPr>
      </p:sp>
      <p:sp>
        <p:nvSpPr>
          <p:cNvPr id="3" name="Text 1"/>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7A00FF"/>
                </a:solidFill>
                <a:latin typeface="Geist" pitchFamily="34" charset="0"/>
                <a:ea typeface="Geist" pitchFamily="34" charset="-122"/>
                <a:cs typeface="Geist" pitchFamily="34" charset="-120"/>
              </a:rPr>
              <a:t>THE CONS, PART 3</a:t>
            </a:r>
            <a:endParaRPr lang="en-US" sz="1200" dirty="0"/>
          </a:p>
        </p:txBody>
      </p:sp>
      <p:sp>
        <p:nvSpPr>
          <p:cNvPr id="4" name="Text 2"/>
          <p:cNvSpPr/>
          <p:nvPr>
            <p:ph type="title"/>
          </p:nvPr>
        </p:nvSpPr>
        <p:spPr>
          <a:xfrm>
            <a:off x="812800" y="11023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0" i="0" dirty="0">
                <a:solidFill>
                  <a:srgbClr val="111111"/>
                </a:solidFill>
                <a:latin typeface="Bungee" pitchFamily="34" charset="0"/>
                <a:ea typeface="Bungee" pitchFamily="34" charset="-122"/>
                <a:cs typeface="Bungee" pitchFamily="34" charset="-120"/>
              </a:rPr>
              <a:t>Other friction</a:t>
            </a:r>
            <a:endParaRPr lang="en-US" sz="3200" dirty="0"/>
          </a:p>
        </p:txBody>
      </p:sp>
      <p:sp>
        <p:nvSpPr>
          <p:cNvPr id="5" name="Shape 3"/>
          <p:cNvSpPr/>
          <p:nvPr/>
        </p:nvSpPr>
        <p:spPr>
          <a:xfrm>
            <a:off x="822325" y="1812826"/>
            <a:ext cx="3367584" cy="1333500"/>
          </a:xfrm>
          <a:prstGeom prst="rect">
            <a:avLst/>
          </a:prstGeom>
          <a:solidFill>
            <a:srgbClr val="FFFFFF"/>
          </a:solidFill>
          <a:ln w="19050">
            <a:solidFill>
              <a:srgbClr val="111111"/>
            </a:solidFill>
            <a:prstDash val="solid"/>
          </a:ln>
        </p:spPr>
      </p:sp>
      <p:sp>
        <p:nvSpPr>
          <p:cNvPr id="6" name="Text 4"/>
          <p:cNvSpPr/>
          <p:nvPr/>
        </p:nvSpPr>
        <p:spPr>
          <a:xfrm>
            <a:off x="1009650" y="2000151"/>
            <a:ext cx="3082722"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11111"/>
                </a:solidFill>
                <a:latin typeface="Geist" pitchFamily="34" charset="0"/>
                <a:ea typeface="Geist" pitchFamily="34" charset="-122"/>
                <a:cs typeface="Geist" pitchFamily="34" charset="-120"/>
              </a:rPr>
              <a:t>Ceremony for small changes</a:t>
            </a:r>
            <a:endParaRPr lang="en-US" sz="1500" dirty="0"/>
          </a:p>
        </p:txBody>
      </p:sp>
      <p:sp>
        <p:nvSpPr>
          <p:cNvPr id="7" name="Text 5"/>
          <p:cNvSpPr/>
          <p:nvPr/>
        </p:nvSpPr>
        <p:spPr>
          <a:xfrm>
            <a:off x="1009650" y="2292251"/>
            <a:ext cx="3082722" cy="692150"/>
          </a:xfrm>
          <a:prstGeom prst="rect">
            <a:avLst/>
          </a:prstGeom>
          <a:noFill/>
          <a:ln/>
        </p:spPr>
        <p:txBody>
          <a:bodyPr wrap="square" lIns="0" tIns="0" rIns="0" bIns="0" rtlCol="0" anchor="t">
            <a:normAutofit/>
          </a:bodyPr>
          <a:lstStyle/>
          <a:p>
            <a:pPr algn="l" indent="0" marL="0">
              <a:lnSpc>
                <a:spcPts val="1750"/>
              </a:lnSpc>
              <a:buNone/>
            </a:pPr>
            <a:r>
              <a:rPr lang="en-US" sz="1250" dirty="0">
                <a:solidFill>
                  <a:srgbClr val="3D382F"/>
                </a:solidFill>
                <a:latin typeface="Geist" pitchFamily="34" charset="0"/>
                <a:ea typeface="Geist" pitchFamily="34" charset="-122"/>
                <a:cs typeface="Geist" pitchFamily="34" charset="-120"/>
              </a:rPr>
              <a:t>011 Housekeeping, just 14 tasks, still produced ~700 lines of spec, plan and research.</a:t>
            </a:r>
            <a:endParaRPr lang="en-US" sz="1250" dirty="0"/>
          </a:p>
        </p:txBody>
      </p:sp>
      <p:sp>
        <p:nvSpPr>
          <p:cNvPr id="8" name="Shape 6"/>
          <p:cNvSpPr/>
          <p:nvPr/>
        </p:nvSpPr>
        <p:spPr>
          <a:xfrm>
            <a:off x="4412159" y="1812826"/>
            <a:ext cx="3367584" cy="1333500"/>
          </a:xfrm>
          <a:prstGeom prst="rect">
            <a:avLst/>
          </a:prstGeom>
          <a:solidFill>
            <a:srgbClr val="FFFFFF"/>
          </a:solidFill>
          <a:ln w="19050">
            <a:solidFill>
              <a:srgbClr val="111111"/>
            </a:solidFill>
            <a:prstDash val="solid"/>
          </a:ln>
        </p:spPr>
      </p:sp>
      <p:sp>
        <p:nvSpPr>
          <p:cNvPr id="9" name="Text 7"/>
          <p:cNvSpPr/>
          <p:nvPr/>
        </p:nvSpPr>
        <p:spPr>
          <a:xfrm>
            <a:off x="4599484" y="2000151"/>
            <a:ext cx="3082722"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11111"/>
                </a:solidFill>
                <a:latin typeface="Geist" pitchFamily="34" charset="0"/>
                <a:ea typeface="Geist" pitchFamily="34" charset="-122"/>
                <a:cs typeface="Geist" pitchFamily="34" charset="-120"/>
              </a:rPr>
              <a:t>Jargon in the questions</a:t>
            </a:r>
            <a:endParaRPr lang="en-US" sz="1500" dirty="0"/>
          </a:p>
        </p:txBody>
      </p:sp>
      <p:sp>
        <p:nvSpPr>
          <p:cNvPr id="10" name="Text 8"/>
          <p:cNvSpPr/>
          <p:nvPr/>
        </p:nvSpPr>
        <p:spPr>
          <a:xfrm>
            <a:off x="4599484" y="2292251"/>
            <a:ext cx="3082722" cy="692150"/>
          </a:xfrm>
          <a:prstGeom prst="rect">
            <a:avLst/>
          </a:prstGeom>
          <a:noFill/>
          <a:ln/>
        </p:spPr>
        <p:txBody>
          <a:bodyPr wrap="square" lIns="0" tIns="0" rIns="0" bIns="0" rtlCol="0" anchor="t">
            <a:normAutofit/>
          </a:bodyPr>
          <a:lstStyle/>
          <a:p>
            <a:pPr algn="l" indent="0" marL="0">
              <a:lnSpc>
                <a:spcPts val="1750"/>
              </a:lnSpc>
              <a:buNone/>
            </a:pPr>
            <a:r>
              <a:rPr lang="en-US" sz="1250" dirty="0">
                <a:solidFill>
                  <a:srgbClr val="3D382F"/>
                </a:solidFill>
                <a:latin typeface="Geist" pitchFamily="34" charset="0"/>
                <a:ea typeface="Geist" pitchFamily="34" charset="-122"/>
                <a:cs typeface="Geist" pitchFamily="34" charset="-120"/>
              </a:rPr>
              <a:t>“A1 – I don’t understand what you’re asking here.” Finding IDs only help in plain English.</a:t>
            </a:r>
            <a:endParaRPr lang="en-US" sz="1250" dirty="0"/>
          </a:p>
        </p:txBody>
      </p:sp>
      <p:sp>
        <p:nvSpPr>
          <p:cNvPr id="11" name="Shape 9"/>
          <p:cNvSpPr/>
          <p:nvPr/>
        </p:nvSpPr>
        <p:spPr>
          <a:xfrm>
            <a:off x="8001992" y="1812826"/>
            <a:ext cx="3367584" cy="1333500"/>
          </a:xfrm>
          <a:prstGeom prst="rect">
            <a:avLst/>
          </a:prstGeom>
          <a:solidFill>
            <a:srgbClr val="FFFFFF"/>
          </a:solidFill>
          <a:ln w="19050">
            <a:solidFill>
              <a:srgbClr val="111111"/>
            </a:solidFill>
            <a:prstDash val="solid"/>
          </a:ln>
        </p:spPr>
      </p:sp>
      <p:sp>
        <p:nvSpPr>
          <p:cNvPr id="12" name="Text 10"/>
          <p:cNvSpPr/>
          <p:nvPr/>
        </p:nvSpPr>
        <p:spPr>
          <a:xfrm>
            <a:off x="8189317" y="2000151"/>
            <a:ext cx="3082722"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11111"/>
                </a:solidFill>
                <a:latin typeface="Geist" pitchFamily="34" charset="0"/>
                <a:ea typeface="Geist" pitchFamily="34" charset="-122"/>
                <a:cs typeface="Geist" pitchFamily="34" charset="-120"/>
              </a:rPr>
              <a:t>Rubber-stamping</a:t>
            </a:r>
            <a:endParaRPr lang="en-US" sz="1500" dirty="0"/>
          </a:p>
        </p:txBody>
      </p:sp>
      <p:sp>
        <p:nvSpPr>
          <p:cNvPr id="13" name="Text 11"/>
          <p:cNvSpPr/>
          <p:nvPr/>
        </p:nvSpPr>
        <p:spPr>
          <a:xfrm>
            <a:off x="8189317" y="2292251"/>
            <a:ext cx="3082722" cy="692150"/>
          </a:xfrm>
          <a:prstGeom prst="rect">
            <a:avLst/>
          </a:prstGeom>
          <a:noFill/>
          <a:ln/>
        </p:spPr>
        <p:txBody>
          <a:bodyPr wrap="square" lIns="0" tIns="0" rIns="0" bIns="0" rtlCol="0" anchor="t">
            <a:normAutofit/>
          </a:bodyPr>
          <a:lstStyle/>
          <a:p>
            <a:pPr algn="l" indent="0" marL="0">
              <a:lnSpc>
                <a:spcPts val="1750"/>
              </a:lnSpc>
              <a:buNone/>
            </a:pPr>
            <a:r>
              <a:rPr lang="en-US" sz="1250" dirty="0">
                <a:solidFill>
                  <a:srgbClr val="3D382F"/>
                </a:solidFill>
                <a:latin typeface="Geist" pitchFamily="34" charset="0"/>
                <a:ea typeface="Geist" pitchFamily="34" charset="-122"/>
                <a:cs typeface="Geist" pitchFamily="34" charset="-120"/>
              </a:rPr>
              <a:t>“implement your recommendation”, nine times in a row. Fast, but it hands judgment back.</a:t>
            </a:r>
            <a:endParaRPr lang="en-US" sz="1250" dirty="0"/>
          </a:p>
        </p:txBody>
      </p:sp>
      <p:sp>
        <p:nvSpPr>
          <p:cNvPr id="14" name="Shape 12"/>
          <p:cNvSpPr/>
          <p:nvPr/>
        </p:nvSpPr>
        <p:spPr>
          <a:xfrm>
            <a:off x="822325" y="3368576"/>
            <a:ext cx="3367584" cy="1333500"/>
          </a:xfrm>
          <a:prstGeom prst="rect">
            <a:avLst/>
          </a:prstGeom>
          <a:solidFill>
            <a:srgbClr val="FFFFFF"/>
          </a:solidFill>
          <a:ln w="19050">
            <a:solidFill>
              <a:srgbClr val="111111"/>
            </a:solidFill>
            <a:prstDash val="solid"/>
          </a:ln>
        </p:spPr>
      </p:sp>
      <p:sp>
        <p:nvSpPr>
          <p:cNvPr id="15" name="Text 13"/>
          <p:cNvSpPr/>
          <p:nvPr/>
        </p:nvSpPr>
        <p:spPr>
          <a:xfrm>
            <a:off x="1009650" y="3555901"/>
            <a:ext cx="3082722"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11111"/>
                </a:solidFill>
                <a:latin typeface="Geist" pitchFamily="34" charset="0"/>
                <a:ea typeface="Geist" pitchFamily="34" charset="-122"/>
                <a:cs typeface="Geist" pitchFamily="34" charset="-120"/>
              </a:rPr>
              <a:t>Early constitution churn</a:t>
            </a:r>
            <a:endParaRPr lang="en-US" sz="1500" dirty="0"/>
          </a:p>
        </p:txBody>
      </p:sp>
      <p:sp>
        <p:nvSpPr>
          <p:cNvPr id="16" name="Text 14"/>
          <p:cNvSpPr/>
          <p:nvPr/>
        </p:nvSpPr>
        <p:spPr>
          <a:xfrm>
            <a:off x="1009650" y="3848001"/>
            <a:ext cx="3082722" cy="469900"/>
          </a:xfrm>
          <a:prstGeom prst="rect">
            <a:avLst/>
          </a:prstGeom>
          <a:noFill/>
          <a:ln/>
        </p:spPr>
        <p:txBody>
          <a:bodyPr wrap="square" lIns="0" tIns="0" rIns="0" bIns="0" rtlCol="0" anchor="t">
            <a:normAutofit/>
          </a:bodyPr>
          <a:lstStyle/>
          <a:p>
            <a:pPr algn="l" indent="0" marL="0">
              <a:lnSpc>
                <a:spcPts val="1750"/>
              </a:lnSpc>
              <a:buNone/>
            </a:pPr>
            <a:r>
              <a:rPr lang="en-US" sz="1250" dirty="0">
                <a:solidFill>
                  <a:srgbClr val="3D382F"/>
                </a:solidFill>
                <a:latin typeface="Geist" pitchFamily="34" charset="0"/>
                <a:ea typeface="Geist" pitchFamily="34" charset="-122"/>
                <a:cs typeface="Geist" pitchFamily="34" charset="-120"/>
              </a:rPr>
              <a:t>Four MAJOR versions in the first two days, while I learned what belonged in it.</a:t>
            </a:r>
            <a:endParaRPr lang="en-US" sz="1250" dirty="0"/>
          </a:p>
        </p:txBody>
      </p:sp>
      <p:sp>
        <p:nvSpPr>
          <p:cNvPr id="17" name="Shape 15"/>
          <p:cNvSpPr/>
          <p:nvPr/>
        </p:nvSpPr>
        <p:spPr>
          <a:xfrm>
            <a:off x="4412159" y="3368576"/>
            <a:ext cx="3367584" cy="1333500"/>
          </a:xfrm>
          <a:prstGeom prst="rect">
            <a:avLst/>
          </a:prstGeom>
          <a:solidFill>
            <a:srgbClr val="FFFFFF"/>
          </a:solidFill>
          <a:ln w="19050">
            <a:solidFill>
              <a:srgbClr val="111111"/>
            </a:solidFill>
            <a:prstDash val="solid"/>
          </a:ln>
        </p:spPr>
      </p:sp>
      <p:sp>
        <p:nvSpPr>
          <p:cNvPr id="18" name="Text 16"/>
          <p:cNvSpPr/>
          <p:nvPr/>
        </p:nvSpPr>
        <p:spPr>
          <a:xfrm>
            <a:off x="4599484" y="3555901"/>
            <a:ext cx="3082722"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11111"/>
                </a:solidFill>
                <a:latin typeface="Geist" pitchFamily="34" charset="0"/>
                <a:ea typeface="Geist" pitchFamily="34" charset="-122"/>
                <a:cs typeface="Geist" pitchFamily="34" charset="-120"/>
              </a:rPr>
              <a:t>The AI still ships bugs</a:t>
            </a:r>
            <a:endParaRPr lang="en-US" sz="1500" dirty="0"/>
          </a:p>
        </p:txBody>
      </p:sp>
      <p:sp>
        <p:nvSpPr>
          <p:cNvPr id="19" name="Text 17"/>
          <p:cNvSpPr/>
          <p:nvPr/>
        </p:nvSpPr>
        <p:spPr>
          <a:xfrm>
            <a:off x="4599484" y="3848001"/>
            <a:ext cx="3082722" cy="469900"/>
          </a:xfrm>
          <a:prstGeom prst="rect">
            <a:avLst/>
          </a:prstGeom>
          <a:noFill/>
          <a:ln/>
        </p:spPr>
        <p:txBody>
          <a:bodyPr wrap="square" lIns="0" tIns="0" rIns="0" bIns="0" rtlCol="0" anchor="t">
            <a:normAutofit/>
          </a:bodyPr>
          <a:lstStyle/>
          <a:p>
            <a:pPr algn="l" indent="0" marL="0">
              <a:lnSpc>
                <a:spcPts val="1750"/>
              </a:lnSpc>
              <a:buNone/>
            </a:pPr>
            <a:r>
              <a:rPr lang="en-US" sz="1250" dirty="0">
                <a:solidFill>
                  <a:srgbClr val="3D382F"/>
                </a:solidFill>
                <a:latin typeface="Geist" pitchFamily="34" charset="0"/>
                <a:ea typeface="Geist" pitchFamily="34" charset="-122"/>
                <a:cs typeface="Geist" pitchFamily="34" charset="-120"/>
              </a:rPr>
              <a:t>Negative quantities, a $10K credit cap, a 181-digit price. Someone has to click.</a:t>
            </a:r>
            <a:endParaRPr lang="en-US" sz="1250" dirty="0"/>
          </a:p>
        </p:txBody>
      </p:sp>
      <p:sp>
        <p:nvSpPr>
          <p:cNvPr id="20" name="Shape 18"/>
          <p:cNvSpPr/>
          <p:nvPr/>
        </p:nvSpPr>
        <p:spPr>
          <a:xfrm>
            <a:off x="8001992" y="3368576"/>
            <a:ext cx="3367584" cy="1333500"/>
          </a:xfrm>
          <a:prstGeom prst="rect">
            <a:avLst/>
          </a:prstGeom>
          <a:solidFill>
            <a:srgbClr val="FFFFFF"/>
          </a:solidFill>
          <a:ln w="19050">
            <a:solidFill>
              <a:srgbClr val="111111"/>
            </a:solidFill>
            <a:prstDash val="solid"/>
          </a:ln>
        </p:spPr>
      </p:sp>
      <p:sp>
        <p:nvSpPr>
          <p:cNvPr id="21" name="Text 19"/>
          <p:cNvSpPr/>
          <p:nvPr/>
        </p:nvSpPr>
        <p:spPr>
          <a:xfrm>
            <a:off x="8189317" y="3555901"/>
            <a:ext cx="3082722"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11111"/>
                </a:solidFill>
                <a:latin typeface="Geist" pitchFamily="34" charset="0"/>
                <a:ea typeface="Geist" pitchFamily="34" charset="-122"/>
                <a:cs typeface="Geist" pitchFamily="34" charset="-120"/>
              </a:rPr>
              <a:t>Slow gates, quirky tools</a:t>
            </a:r>
            <a:endParaRPr lang="en-US" sz="1500" dirty="0"/>
          </a:p>
        </p:txBody>
      </p:sp>
      <p:sp>
        <p:nvSpPr>
          <p:cNvPr id="22" name="Text 20"/>
          <p:cNvSpPr/>
          <p:nvPr/>
        </p:nvSpPr>
        <p:spPr>
          <a:xfrm>
            <a:off x="8189317" y="3848001"/>
            <a:ext cx="3082722" cy="692150"/>
          </a:xfrm>
          <a:prstGeom prst="rect">
            <a:avLst/>
          </a:prstGeom>
          <a:noFill/>
          <a:ln/>
        </p:spPr>
        <p:txBody>
          <a:bodyPr wrap="square" lIns="0" tIns="0" rIns="0" bIns="0" rtlCol="0" anchor="t">
            <a:normAutofit/>
          </a:bodyPr>
          <a:lstStyle/>
          <a:p>
            <a:pPr algn="l" indent="0" marL="0">
              <a:lnSpc>
                <a:spcPts val="1750"/>
              </a:lnSpc>
              <a:buNone/>
            </a:pPr>
            <a:r>
              <a:rPr lang="en-US" sz="1250" dirty="0">
                <a:solidFill>
                  <a:srgbClr val="3D382F"/>
                </a:solidFill>
                <a:latin typeface="Geist" pitchFamily="34" charset="0"/>
                <a:ea typeface="Geist" pitchFamily="34" charset="-122"/>
                <a:cs typeface="Geist" pitchFamily="34" charset="-120"/>
              </a:rPr>
              <a:t>An 8–10 minute verify. PATH, Python and Next.js 16 surprises. A stacked-PR mix-up.</a:t>
            </a:r>
            <a:endParaRPr lang="en-US" sz="1250" dirty="0"/>
          </a:p>
        </p:txBody>
      </p:sp>
      <p:sp>
        <p:nvSpPr>
          <p:cNvPr id="23" name="Text 21"/>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6B6252"/>
                </a:solidFill>
                <a:latin typeface="Geist" pitchFamily="34" charset="0"/>
                <a:ea typeface="Geist" pitchFamily="34" charset="-122"/>
                <a:cs typeface="Geist" pitchFamily="34" charset="-120"/>
              </a:rPr>
              <a:t>DAN FLASHES × SPEC KIT</a:t>
            </a:r>
            <a:endParaRPr lang="en-US" sz="1200" dirty="0"/>
          </a:p>
        </p:txBody>
      </p:sp>
      <p:sp>
        <p:nvSpPr>
          <p:cNvPr id="24" name="Text 22"/>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6252"/>
                </a:solidFill>
                <a:latin typeface="Geist" pitchFamily="34" charset="0"/>
                <a:ea typeface="Geist" pitchFamily="34" charset="-122"/>
                <a:cs typeface="Geist" pitchFamily="34" charset="-120"/>
              </a:rPr>
              <a:t>20</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111111"/>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FFE600"/>
                </a:solidFill>
                <a:latin typeface="Geist" pitchFamily="34" charset="0"/>
                <a:ea typeface="Geist" pitchFamily="34" charset="-122"/>
                <a:cs typeface="Geist" pitchFamily="34" charset="-120"/>
              </a:rPr>
              <a:t>NODE 22+ · OLLAMA FOR PSSB</a:t>
            </a:r>
            <a:endParaRPr lang="en-US" sz="1200" dirty="0"/>
          </a:p>
        </p:txBody>
      </p:sp>
      <p:sp>
        <p:nvSpPr>
          <p:cNvPr id="3" name="Text 1"/>
          <p:cNvSpPr/>
          <p:nvPr>
            <p:ph type="title"/>
          </p:nvPr>
        </p:nvSpPr>
        <p:spPr>
          <a:xfrm>
            <a:off x="812800" y="11023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0" i="0" dirty="0">
                <a:solidFill>
                  <a:srgbClr val="FFF8E7"/>
                </a:solidFill>
                <a:latin typeface="Bungee" pitchFamily="34" charset="0"/>
                <a:ea typeface="Bungee" pitchFamily="34" charset="-122"/>
                <a:cs typeface="Bungee" pitchFamily="34" charset="-120"/>
              </a:rPr>
              <a:t>Run it yourself</a:t>
            </a:r>
            <a:endParaRPr lang="en-US" sz="3200" dirty="0"/>
          </a:p>
        </p:txBody>
      </p:sp>
      <p:sp>
        <p:nvSpPr>
          <p:cNvPr id="4" name="Shape 2"/>
          <p:cNvSpPr/>
          <p:nvPr/>
        </p:nvSpPr>
        <p:spPr>
          <a:xfrm>
            <a:off x="812800" y="1803301"/>
            <a:ext cx="5715000" cy="2245122"/>
          </a:xfrm>
          <a:prstGeom prst="rect">
            <a:avLst/>
          </a:prstGeom>
          <a:solidFill>
            <a:srgbClr val="1F1D1A"/>
          </a:solidFill>
          <a:ln/>
        </p:spPr>
      </p:sp>
      <p:sp>
        <p:nvSpPr>
          <p:cNvPr id="5" name="Shape 3"/>
          <p:cNvSpPr/>
          <p:nvPr/>
        </p:nvSpPr>
        <p:spPr>
          <a:xfrm>
            <a:off x="838200" y="1803301"/>
            <a:ext cx="0" cy="2245122"/>
          </a:xfrm>
          <a:prstGeom prst="line">
            <a:avLst/>
          </a:prstGeom>
          <a:noFill/>
          <a:ln w="50800">
            <a:solidFill>
              <a:srgbClr val="B6FF00"/>
            </a:solidFill>
            <a:prstDash val="solid"/>
          </a:ln>
        </p:spPr>
      </p:sp>
      <p:sp>
        <p:nvSpPr>
          <p:cNvPr id="6" name="Text 4"/>
          <p:cNvSpPr/>
          <p:nvPr/>
        </p:nvSpPr>
        <p:spPr>
          <a:xfrm>
            <a:off x="1092200" y="2006501"/>
            <a:ext cx="5363210" cy="289520"/>
          </a:xfrm>
          <a:prstGeom prst="rect">
            <a:avLst/>
          </a:prstGeom>
          <a:noFill/>
          <a:ln/>
        </p:spPr>
        <p:txBody>
          <a:bodyPr wrap="none" lIns="0" tIns="0" rIns="0" bIns="0" rtlCol="0" anchor="t">
            <a:normAutofit/>
          </a:bodyPr>
          <a:lstStyle/>
          <a:p>
            <a:pPr algn="l" indent="0" marL="0">
              <a:lnSpc>
                <a:spcPts val="2080"/>
              </a:lnSpc>
              <a:buNone/>
            </a:pPr>
            <a:r>
              <a:rPr lang="en-US" sz="1300" dirty="0">
                <a:solidFill>
                  <a:srgbClr val="FFF8E7"/>
                </a:solidFill>
                <a:latin typeface="Geist Mono" pitchFamily="49" charset="0"/>
                <a:ea typeface="Geist Mono" pitchFamily="49" charset="-122"/>
                <a:cs typeface="Geist Mono" pitchFamily="49" charset="-120"/>
              </a:rPr>
              <a:t>npm install</a:t>
            </a:r>
            <a:endParaRPr lang="en-US" sz="1300" dirty="0"/>
          </a:p>
        </p:txBody>
      </p:sp>
      <p:sp>
        <p:nvSpPr>
          <p:cNvPr id="7" name="Text 5"/>
          <p:cNvSpPr/>
          <p:nvPr/>
        </p:nvSpPr>
        <p:spPr>
          <a:xfrm>
            <a:off x="1092200" y="2321421"/>
            <a:ext cx="5363210" cy="289520"/>
          </a:xfrm>
          <a:prstGeom prst="rect">
            <a:avLst/>
          </a:prstGeom>
          <a:noFill/>
          <a:ln/>
        </p:spPr>
        <p:txBody>
          <a:bodyPr wrap="none" lIns="0" tIns="0" rIns="0" bIns="0" rtlCol="0" anchor="t">
            <a:normAutofit/>
          </a:bodyPr>
          <a:lstStyle/>
          <a:p>
            <a:pPr algn="l" indent="0" marL="0">
              <a:lnSpc>
                <a:spcPts val="2080"/>
              </a:lnSpc>
              <a:buNone/>
            </a:pPr>
            <a:r>
              <a:rPr lang="en-US" sz="1300" dirty="0">
                <a:solidFill>
                  <a:srgbClr val="FFF8E7"/>
                </a:solidFill>
                <a:latin typeface="Geist Mono" pitchFamily="49" charset="0"/>
                <a:ea typeface="Geist Mono" pitchFamily="49" charset="-122"/>
                <a:cs typeface="Geist Mono" pitchFamily="49" charset="-120"/>
              </a:rPr>
              <a:t>npm run db:reset </a:t>
            </a:r>
            <a:r>
              <a:rPr lang="en-US" sz="1300" dirty="0">
                <a:solidFill>
                  <a:srgbClr val="A99F8C"/>
                </a:solidFill>
                <a:latin typeface="Geist Mono" pitchFamily="49" charset="0"/>
                <a:ea typeface="Geist Mono" pitchFamily="49" charset="-122"/>
                <a:cs typeface="Geist Mono" pitchFamily="49" charset="-120"/>
              </a:rPr>
              <a:t># catalog + demo logins</a:t>
            </a:r>
            <a:endParaRPr lang="en-US" sz="1300" dirty="0"/>
          </a:p>
        </p:txBody>
      </p:sp>
      <p:sp>
        <p:nvSpPr>
          <p:cNvPr id="8" name="Text 6"/>
          <p:cNvSpPr/>
          <p:nvPr/>
        </p:nvSpPr>
        <p:spPr>
          <a:xfrm>
            <a:off x="1092200" y="2636341"/>
            <a:ext cx="5363210" cy="289520"/>
          </a:xfrm>
          <a:prstGeom prst="rect">
            <a:avLst/>
          </a:prstGeom>
          <a:noFill/>
          <a:ln/>
        </p:spPr>
        <p:txBody>
          <a:bodyPr wrap="none" lIns="0" tIns="0" rIns="0" bIns="0" rtlCol="0" anchor="t">
            <a:normAutofit/>
          </a:bodyPr>
          <a:lstStyle/>
          <a:p>
            <a:pPr algn="l" indent="0" marL="0">
              <a:lnSpc>
                <a:spcPts val="2080"/>
              </a:lnSpc>
              <a:buNone/>
            </a:pPr>
            <a:r>
              <a:rPr lang="en-US" sz="1300" dirty="0">
                <a:solidFill>
                  <a:srgbClr val="FFF8E7"/>
                </a:solidFill>
                <a:latin typeface="Geist Mono" pitchFamily="49" charset="0"/>
                <a:ea typeface="Geist Mono" pitchFamily="49" charset="-122"/>
                <a:cs typeface="Geist Mono" pitchFamily="49" charset="-120"/>
              </a:rPr>
              <a:t>npm run dev </a:t>
            </a:r>
            <a:r>
              <a:rPr lang="en-US" sz="1300" dirty="0">
                <a:solidFill>
                  <a:srgbClr val="A99F8C"/>
                </a:solidFill>
                <a:latin typeface="Geist Mono" pitchFamily="49" charset="0"/>
                <a:ea typeface="Geist Mono" pitchFamily="49" charset="-122"/>
                <a:cs typeface="Geist Mono" pitchFamily="49" charset="-120"/>
              </a:rPr>
              <a:t># localhost:3000</a:t>
            </a:r>
            <a:endParaRPr lang="en-US" sz="1300" dirty="0"/>
          </a:p>
        </p:txBody>
      </p:sp>
      <p:sp>
        <p:nvSpPr>
          <p:cNvPr id="9" name="Text 7"/>
          <p:cNvSpPr/>
          <p:nvPr/>
        </p:nvSpPr>
        <p:spPr>
          <a:xfrm>
            <a:off x="1092200" y="2951262"/>
            <a:ext cx="5363210" cy="289520"/>
          </a:xfrm>
          <a:prstGeom prst="rect">
            <a:avLst/>
          </a:prstGeom>
          <a:noFill/>
          <a:ln/>
        </p:spPr>
        <p:txBody>
          <a:bodyPr wrap="none" lIns="0" tIns="0" rIns="0" bIns="0" rtlCol="0" anchor="t">
            <a:normAutofit/>
          </a:bodyPr>
          <a:lstStyle/>
          <a:p>
            <a:pPr algn="l" indent="0" marL="0">
              <a:lnSpc>
                <a:spcPts val="2080"/>
              </a:lnSpc>
              <a:buNone/>
            </a:pPr>
            <a:r>
              <a:rPr lang="en-US" sz="1300" dirty="0">
                <a:solidFill>
                  <a:srgbClr val="FFF8E7"/>
                </a:solidFill>
                <a:latin typeface="Geist Mono" pitchFamily="49" charset="0"/>
                <a:ea typeface="Geist Mono" pitchFamily="49" charset="-122"/>
                <a:cs typeface="Geist Mono" pitchFamily="49" charset="-120"/>
              </a:rPr>
              <a:t>ollama pull llama3.2:3b</a:t>
            </a:r>
            <a:endParaRPr lang="en-US" sz="1300" dirty="0"/>
          </a:p>
        </p:txBody>
      </p:sp>
      <p:sp>
        <p:nvSpPr>
          <p:cNvPr id="10" name="Text 8"/>
          <p:cNvSpPr/>
          <p:nvPr/>
        </p:nvSpPr>
        <p:spPr>
          <a:xfrm>
            <a:off x="1092200" y="3266182"/>
            <a:ext cx="5363210" cy="289520"/>
          </a:xfrm>
          <a:prstGeom prst="rect">
            <a:avLst/>
          </a:prstGeom>
          <a:noFill/>
          <a:ln/>
        </p:spPr>
        <p:txBody>
          <a:bodyPr wrap="none" lIns="0" tIns="0" rIns="0" bIns="0" rtlCol="0" anchor="t">
            <a:normAutofit/>
          </a:bodyPr>
          <a:lstStyle/>
          <a:p>
            <a:pPr algn="l" indent="0" marL="0">
              <a:lnSpc>
                <a:spcPts val="2080"/>
              </a:lnSpc>
              <a:buNone/>
            </a:pPr>
            <a:r>
              <a:rPr lang="en-US" sz="1300" dirty="0">
                <a:solidFill>
                  <a:srgbClr val="FFF8E7"/>
                </a:solidFill>
                <a:latin typeface="Geist Mono" pitchFamily="49" charset="0"/>
                <a:ea typeface="Geist Mono" pitchFamily="49" charset="-122"/>
                <a:cs typeface="Geist Mono" pitchFamily="49" charset="-120"/>
              </a:rPr>
              <a:t>npm run admin:grant -- you@example.com</a:t>
            </a:r>
            <a:endParaRPr lang="en-US" sz="1300" dirty="0"/>
          </a:p>
        </p:txBody>
      </p:sp>
      <p:sp>
        <p:nvSpPr>
          <p:cNvPr id="11" name="Text 9"/>
          <p:cNvSpPr/>
          <p:nvPr/>
        </p:nvSpPr>
        <p:spPr>
          <a:xfrm>
            <a:off x="1092200" y="3581102"/>
            <a:ext cx="5363210" cy="289520"/>
          </a:xfrm>
          <a:prstGeom prst="rect">
            <a:avLst/>
          </a:prstGeom>
          <a:noFill/>
          <a:ln/>
        </p:spPr>
        <p:txBody>
          <a:bodyPr wrap="none" lIns="0" tIns="0" rIns="0" bIns="0" rtlCol="0" anchor="t">
            <a:normAutofit/>
          </a:bodyPr>
          <a:lstStyle/>
          <a:p>
            <a:pPr algn="l" indent="0" marL="0">
              <a:lnSpc>
                <a:spcPts val="2080"/>
              </a:lnSpc>
              <a:buNone/>
            </a:pPr>
            <a:r>
              <a:rPr lang="en-US" sz="1300" dirty="0">
                <a:solidFill>
                  <a:srgbClr val="FFF8E7"/>
                </a:solidFill>
                <a:latin typeface="Geist Mono" pitchFamily="49" charset="0"/>
                <a:ea typeface="Geist Mono" pitchFamily="49" charset="-122"/>
                <a:cs typeface="Geist Mono" pitchFamily="49" charset="-120"/>
              </a:rPr>
              <a:t>npm run verify </a:t>
            </a:r>
            <a:r>
              <a:rPr lang="en-US" sz="1300" dirty="0">
                <a:solidFill>
                  <a:srgbClr val="A99F8C"/>
                </a:solidFill>
                <a:latin typeface="Geist Mono" pitchFamily="49" charset="0"/>
                <a:ea typeface="Geist Mono" pitchFamily="49" charset="-122"/>
                <a:cs typeface="Geist Mono" pitchFamily="49" charset="-120"/>
              </a:rPr>
              <a:t># the merge gate</a:t>
            </a:r>
            <a:endParaRPr lang="en-US" sz="1300" dirty="0"/>
          </a:p>
        </p:txBody>
      </p:sp>
      <p:sp>
        <p:nvSpPr>
          <p:cNvPr id="12" name="Text 10"/>
          <p:cNvSpPr/>
          <p:nvPr/>
        </p:nvSpPr>
        <p:spPr>
          <a:xfrm>
            <a:off x="6883400" y="1803301"/>
            <a:ext cx="4630674"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FFE600"/>
                </a:solidFill>
                <a:latin typeface="Geist" pitchFamily="34" charset="0"/>
                <a:ea typeface="Geist" pitchFamily="34" charset="-122"/>
                <a:cs typeface="Geist" pitchFamily="34" charset="-120"/>
              </a:rPr>
              <a:t>Keep going with Spec Kit</a:t>
            </a:r>
            <a:endParaRPr lang="en-US" sz="1700" dirty="0"/>
          </a:p>
        </p:txBody>
      </p:sp>
      <p:sp>
        <p:nvSpPr>
          <p:cNvPr id="13" name="Text 11"/>
          <p:cNvSpPr/>
          <p:nvPr/>
        </p:nvSpPr>
        <p:spPr>
          <a:xfrm>
            <a:off x="6963767" y="2163961"/>
            <a:ext cx="4542687" cy="1758950"/>
          </a:xfrm>
          <a:prstGeom prst="rect">
            <a:avLst/>
          </a:prstGeom>
          <a:noFill/>
          <a:ln/>
        </p:spPr>
        <p:txBody>
          <a:bodyPr wrap="square" lIns="0" tIns="0" rIns="0" bIns="0" rtlCol="0" anchor="t">
            <a:normAutofit/>
          </a:bodyPr>
          <a:lstStyle/>
          <a:p>
            <a:pPr algn="l" marL="173633" indent="-173633">
              <a:lnSpc>
                <a:spcPts val="1950"/>
              </a:lnSpc>
              <a:buSzPct val="100000"/>
              <a:buFontTx/>
              <a:buAutoNum type="arabicPeriod" startAt="1"/>
            </a:pPr>
            <a:r>
              <a:rPr lang="en-US" sz="1300" dirty="0">
                <a:solidFill>
                  <a:srgbClr val="E6DCC7"/>
                </a:solidFill>
                <a:latin typeface="Geist" pitchFamily="34" charset="0"/>
                <a:ea typeface="Geist" pitchFamily="34" charset="-122"/>
                <a:cs typeface="Geist" pitchFamily="34" charset="-120"/>
              </a:rPr>
              <a:t>A ROADMAP row and a new branch</a:t>
            </a:r>
            <a:endParaRPr lang="en-US" sz="1300" dirty="0"/>
          </a:p>
          <a:p>
            <a:pPr algn="l" marL="173633" indent="-173633">
              <a:lnSpc>
                <a:spcPts val="1950"/>
              </a:lnSpc>
              <a:buSzPct val="100000"/>
              <a:buFontTx/>
              <a:buAutoNum type="arabicPeriod" startAt="1"/>
            </a:pPr>
            <a:r>
              <a:rPr lang="en-US" sz="1300" dirty="0">
                <a:solidFill>
                  <a:srgbClr val="E6DCC7"/>
                </a:solidFill>
                <a:latin typeface="Geist" pitchFamily="34" charset="0"/>
                <a:ea typeface="Geist" pitchFamily="34" charset="-122"/>
                <a:cs typeface="Geist" pitchFamily="34" charset="-120"/>
              </a:rPr>
              <a:t>/speckit-specify, then clarify</a:t>
            </a:r>
            <a:endParaRPr lang="en-US" sz="1300" dirty="0"/>
          </a:p>
          <a:p>
            <a:pPr algn="l" marL="173633" indent="-173633">
              <a:lnSpc>
                <a:spcPts val="1950"/>
              </a:lnSpc>
              <a:buSzPct val="100000"/>
              <a:buFontTx/>
              <a:buAutoNum type="arabicPeriod" startAt="1"/>
            </a:pPr>
            <a:r>
              <a:rPr lang="en-US" sz="1300" dirty="0">
                <a:solidFill>
                  <a:srgbClr val="E6DCC7"/>
                </a:solidFill>
                <a:latin typeface="Geist" pitchFamily="34" charset="0"/>
                <a:ea typeface="Geist" pitchFamily="34" charset="-122"/>
                <a:cs typeface="Geist" pitchFamily="34" charset="-120"/>
              </a:rPr>
              <a:t>/speckit-plan: review it</a:t>
            </a:r>
            <a:endParaRPr lang="en-US" sz="1300" dirty="0"/>
          </a:p>
          <a:p>
            <a:pPr algn="l" marL="173633" indent="-173633">
              <a:lnSpc>
                <a:spcPts val="1950"/>
              </a:lnSpc>
              <a:buSzPct val="100000"/>
              <a:buFontTx/>
              <a:buAutoNum type="arabicPeriod" startAt="1"/>
            </a:pPr>
            <a:r>
              <a:rPr lang="en-US" sz="1300" dirty="0">
                <a:solidFill>
                  <a:srgbClr val="E6DCC7"/>
                </a:solidFill>
                <a:latin typeface="Geist" pitchFamily="34" charset="0"/>
                <a:ea typeface="Geist" pitchFamily="34" charset="-122"/>
                <a:cs typeface="Geist" pitchFamily="34" charset="-120"/>
              </a:rPr>
              <a:t>/speckit-tasks, then analyze</a:t>
            </a:r>
            <a:endParaRPr lang="en-US" sz="1300" dirty="0"/>
          </a:p>
          <a:p>
            <a:pPr algn="l" marL="173633" indent="-173633">
              <a:lnSpc>
                <a:spcPts val="1950"/>
              </a:lnSpc>
              <a:buSzPct val="100000"/>
              <a:buFontTx/>
              <a:buAutoNum type="arabicPeriod" startAt="1"/>
            </a:pPr>
            <a:r>
              <a:rPr lang="en-US" sz="1300" dirty="0">
                <a:solidFill>
                  <a:srgbClr val="E6DCC7"/>
                </a:solidFill>
                <a:latin typeface="Geist" pitchFamily="34" charset="0"/>
                <a:ea typeface="Geist" pitchFamily="34" charset="-122"/>
                <a:cs typeface="Geist" pitchFamily="34" charset="-120"/>
              </a:rPr>
              <a:t>/speckit-implement, in a fresh session</a:t>
            </a:r>
            <a:endParaRPr lang="en-US" sz="1300" dirty="0"/>
          </a:p>
          <a:p>
            <a:pPr algn="l" marL="173633" indent="-173633">
              <a:lnSpc>
                <a:spcPts val="1950"/>
              </a:lnSpc>
              <a:buSzPct val="100000"/>
              <a:buFontTx/>
              <a:buAutoNum type="arabicPeriod" startAt="1"/>
            </a:pPr>
            <a:r>
              <a:rPr lang="en-US" sz="1300" dirty="0">
                <a:solidFill>
                  <a:srgbClr val="E6DCC7"/>
                </a:solidFill>
                <a:latin typeface="Geist" pitchFamily="34" charset="0"/>
                <a:ea typeface="Geist" pitchFamily="34" charset="-122"/>
                <a:cs typeface="Geist" pitchFamily="34" charset="-120"/>
              </a:rPr>
              <a:t>/speckit-converge until Converged</a:t>
            </a:r>
            <a:endParaRPr lang="en-US" sz="1300" dirty="0"/>
          </a:p>
          <a:p>
            <a:pPr algn="l" marL="173633" indent="-173633">
              <a:lnSpc>
                <a:spcPts val="1950"/>
              </a:lnSpc>
              <a:buSzPct val="100000"/>
              <a:buFontTx/>
              <a:buAutoNum type="arabicPeriod" startAt="1"/>
            </a:pPr>
            <a:r>
              <a:rPr lang="en-US" sz="1300" dirty="0">
                <a:solidFill>
                  <a:srgbClr val="E6DCC7"/>
                </a:solidFill>
                <a:latin typeface="Geist" pitchFamily="34" charset="0"/>
                <a:ea typeface="Geist" pitchFamily="34" charset="-122"/>
                <a:cs typeface="Geist" pitchFamily="34" charset="-120"/>
              </a:rPr>
              <a:t>npm run verify → PR → merge</a:t>
            </a:r>
            <a:endParaRPr lang="en-US" sz="1300" dirty="0"/>
          </a:p>
        </p:txBody>
      </p:sp>
      <p:sp>
        <p:nvSpPr>
          <p:cNvPr id="14" name="Text 12"/>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A99F8C"/>
                </a:solidFill>
                <a:latin typeface="Geist" pitchFamily="34" charset="0"/>
                <a:ea typeface="Geist" pitchFamily="34" charset="-122"/>
                <a:cs typeface="Geist" pitchFamily="34" charset="-120"/>
              </a:rPr>
              <a:t>DAN FLASHES × SPEC KIT</a:t>
            </a:r>
            <a:endParaRPr lang="en-US" sz="1200" dirty="0"/>
          </a:p>
        </p:txBody>
      </p:sp>
      <p:sp>
        <p:nvSpPr>
          <p:cNvPr id="15" name="Text 13"/>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A99F8C"/>
                </a:solidFill>
                <a:latin typeface="Geist" pitchFamily="34" charset="0"/>
                <a:ea typeface="Geist" pitchFamily="34" charset="-122"/>
                <a:cs typeface="Geist" pitchFamily="34" charset="-120"/>
              </a:rPr>
              <a:t>21</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8E7"/>
        </a:solidFill>
      </p:bgPr>
    </p:bg>
    <p:spTree>
      <p:nvGrpSpPr>
        <p:cNvPr id="1" name=""/>
        <p:cNvGrpSpPr/>
        <p:nvPr/>
      </p:nvGrpSpPr>
      <p:grpSpPr>
        <a:xfrm>
          <a:off x="0" y="0"/>
          <a:ext cx="0" cy="0"/>
          <a:chOff x="0" y="0"/>
          <a:chExt cx="0" cy="0"/>
        </a:xfrm>
      </p:grpSpPr>
      <p:sp>
        <p:nvSpPr>
          <p:cNvPr id="2" name="Shape 0"/>
          <p:cNvSpPr/>
          <p:nvPr/>
        </p:nvSpPr>
        <p:spPr>
          <a:xfrm>
            <a:off x="0" y="0"/>
            <a:ext cx="12192000" cy="127000"/>
          </a:xfrm>
          <a:prstGeom prst="rect">
            <a:avLst/>
          </a:prstGeom>
          <a:gradFill rotWithShape="1">
            <a:gsLst>
              <a:gs pos="0">
                <a:srgbClr val="FF2D95"/>
              </a:gs>
              <a:gs pos="25000">
                <a:srgbClr val="FF2D95"/>
              </a:gs>
              <a:gs pos="25000">
                <a:srgbClr val="FFE600"/>
              </a:gs>
              <a:gs pos="50000">
                <a:srgbClr val="FFE600"/>
              </a:gs>
              <a:gs pos="50000">
                <a:srgbClr val="00E5FF"/>
              </a:gs>
              <a:gs pos="75000">
                <a:srgbClr val="00E5FF"/>
              </a:gs>
              <a:gs pos="75000">
                <a:srgbClr val="B6FF00"/>
              </a:gs>
              <a:gs pos="100000">
                <a:srgbClr val="B6FF00"/>
              </a:gs>
            </a:gsLst>
            <a:lin ang="2700000" scaled="0"/>
          </a:gradFill>
          <a:ln/>
        </p:spPr>
      </p:sp>
      <p:sp>
        <p:nvSpPr>
          <p:cNvPr id="3" name="Text 1"/>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7A00FF"/>
                </a:solidFill>
                <a:latin typeface="Geist" pitchFamily="34" charset="0"/>
                <a:ea typeface="Geist" pitchFamily="34" charset="-122"/>
                <a:cs typeface="Geist" pitchFamily="34" charset="-120"/>
              </a:rPr>
              <a:t>CREATED BY NPM RUN DB:RESET</a:t>
            </a:r>
            <a:endParaRPr lang="en-US" sz="1200" dirty="0"/>
          </a:p>
        </p:txBody>
      </p:sp>
      <p:sp>
        <p:nvSpPr>
          <p:cNvPr id="4" name="Text 2"/>
          <p:cNvSpPr/>
          <p:nvPr>
            <p:ph type="title"/>
          </p:nvPr>
        </p:nvSpPr>
        <p:spPr>
          <a:xfrm>
            <a:off x="812800" y="11023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0" i="0" dirty="0">
                <a:solidFill>
                  <a:srgbClr val="111111"/>
                </a:solidFill>
                <a:latin typeface="Bungee" pitchFamily="34" charset="0"/>
                <a:ea typeface="Bungee" pitchFamily="34" charset="-122"/>
                <a:cs typeface="Bungee" pitchFamily="34" charset="-120"/>
              </a:rPr>
              <a:t>Demo logins</a:t>
            </a:r>
            <a:endParaRPr lang="en-US" sz="3200" dirty="0"/>
          </a:p>
        </p:txBody>
      </p:sp>
      <p:sp>
        <p:nvSpPr>
          <p:cNvPr id="5" name="Shape 3"/>
          <p:cNvSpPr/>
          <p:nvPr/>
        </p:nvSpPr>
        <p:spPr>
          <a:xfrm>
            <a:off x="822325" y="1863626"/>
            <a:ext cx="5137150" cy="2139752"/>
          </a:xfrm>
          <a:prstGeom prst="rect">
            <a:avLst/>
          </a:prstGeom>
          <a:solidFill>
            <a:srgbClr val="FFFFFF"/>
          </a:solidFill>
          <a:ln w="19050">
            <a:solidFill>
              <a:srgbClr val="111111"/>
            </a:solidFill>
            <a:prstDash val="solid"/>
          </a:ln>
          <a:effectLst>
            <a:outerShdw sx="100000" sy="100000" kx="0" ky="0" algn="bl" rotWithShape="0" blurRad="0" dist="71842" dir="2700000">
              <a:srgbClr val="FF2D95">
                <a:alpha val="100000"/>
              </a:srgbClr>
            </a:outerShdw>
          </a:effectLst>
        </p:spPr>
      </p:sp>
      <p:sp>
        <p:nvSpPr>
          <p:cNvPr id="6" name="Text 4"/>
          <p:cNvSpPr/>
          <p:nvPr/>
        </p:nvSpPr>
        <p:spPr>
          <a:xfrm>
            <a:off x="1085850" y="2127151"/>
            <a:ext cx="4748403"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11111"/>
                </a:solidFill>
                <a:latin typeface="Geist" pitchFamily="34" charset="0"/>
                <a:ea typeface="Geist" pitchFamily="34" charset="-122"/>
                <a:cs typeface="Geist" pitchFamily="34" charset="-120"/>
              </a:rPr>
              <a:t>The shopper: Demo Dan</a:t>
            </a:r>
            <a:endParaRPr lang="en-US" sz="1800" dirty="0"/>
          </a:p>
        </p:txBody>
      </p:sp>
      <p:sp>
        <p:nvSpPr>
          <p:cNvPr id="7" name="Text 5"/>
          <p:cNvSpPr/>
          <p:nvPr/>
        </p:nvSpPr>
        <p:spPr>
          <a:xfrm>
            <a:off x="1085850" y="2502991"/>
            <a:ext cx="4748403" cy="311150"/>
          </a:xfrm>
          <a:prstGeom prst="rect">
            <a:avLst/>
          </a:prstGeom>
          <a:noFill/>
          <a:ln/>
        </p:spPr>
        <p:txBody>
          <a:bodyPr wrap="none" lIns="0" tIns="0" rIns="0" bIns="0" rtlCol="0" anchor="t">
            <a:normAutofit/>
          </a:bodyPr>
          <a:lstStyle/>
          <a:p>
            <a:pPr algn="l" indent="0" marL="0">
              <a:lnSpc>
                <a:spcPts val="2250"/>
              </a:lnSpc>
              <a:buNone/>
            </a:pPr>
            <a:r>
              <a:rPr lang="en-US" sz="1500" dirty="0">
                <a:solidFill>
                  <a:srgbClr val="111111"/>
                </a:solidFill>
                <a:latin typeface="Geist Mono" pitchFamily="49" charset="0"/>
                <a:ea typeface="Geist Mono" pitchFamily="49" charset="-122"/>
                <a:cs typeface="Geist Mono" pitchFamily="49" charset="-120"/>
              </a:rPr>
              <a:t>demo@danflashes.local</a:t>
            </a:r>
            <a:endParaRPr lang="en-US" sz="1500" dirty="0"/>
          </a:p>
        </p:txBody>
      </p:sp>
      <p:sp>
        <p:nvSpPr>
          <p:cNvPr id="8" name="Text 6"/>
          <p:cNvSpPr/>
          <p:nvPr/>
        </p:nvSpPr>
        <p:spPr>
          <a:xfrm>
            <a:off x="1085850" y="2890341"/>
            <a:ext cx="4748403" cy="311150"/>
          </a:xfrm>
          <a:prstGeom prst="rect">
            <a:avLst/>
          </a:prstGeom>
          <a:noFill/>
          <a:ln/>
        </p:spPr>
        <p:txBody>
          <a:bodyPr wrap="none" lIns="0" tIns="0" rIns="0" bIns="0" rtlCol="0" anchor="t">
            <a:normAutofit/>
          </a:bodyPr>
          <a:lstStyle/>
          <a:p>
            <a:pPr algn="l" indent="0" marL="0">
              <a:lnSpc>
                <a:spcPts val="2250"/>
              </a:lnSpc>
              <a:buNone/>
            </a:pPr>
            <a:r>
              <a:rPr lang="en-US" sz="1500" dirty="0">
                <a:solidFill>
                  <a:srgbClr val="111111"/>
                </a:solidFill>
                <a:latin typeface="Geist Mono" pitchFamily="49" charset="0"/>
                <a:ea typeface="Geist Mono" pitchFamily="49" charset="-122"/>
                <a:cs typeface="Geist Mono" pitchFamily="49" charset="-120"/>
              </a:rPr>
              <a:t>password123</a:t>
            </a:r>
            <a:endParaRPr lang="en-US" sz="1500" dirty="0"/>
          </a:p>
        </p:txBody>
      </p:sp>
      <p:sp>
        <p:nvSpPr>
          <p:cNvPr id="9" name="Text 7"/>
          <p:cNvSpPr/>
          <p:nvPr/>
        </p:nvSpPr>
        <p:spPr>
          <a:xfrm>
            <a:off x="1085850" y="3277691"/>
            <a:ext cx="4748403"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D382F"/>
                </a:solidFill>
                <a:latin typeface="Geist" pitchFamily="34" charset="0"/>
                <a:ea typeface="Geist" pitchFamily="34" charset="-122"/>
                <a:cs typeface="Geist" pitchFamily="34" charset="-120"/>
              </a:rPr>
              <a:t>$10,000.00 of Flash Credit and one past order. Log in on the storefront.</a:t>
            </a:r>
            <a:endParaRPr lang="en-US" sz="1300" dirty="0"/>
          </a:p>
        </p:txBody>
      </p:sp>
      <p:sp>
        <p:nvSpPr>
          <p:cNvPr id="10" name="Shape 8"/>
          <p:cNvSpPr/>
          <p:nvPr/>
        </p:nvSpPr>
        <p:spPr>
          <a:xfrm>
            <a:off x="6232525" y="1863626"/>
            <a:ext cx="5137150" cy="2139752"/>
          </a:xfrm>
          <a:prstGeom prst="rect">
            <a:avLst/>
          </a:prstGeom>
          <a:solidFill>
            <a:srgbClr val="FFFFFF"/>
          </a:solidFill>
          <a:ln w="19050">
            <a:solidFill>
              <a:srgbClr val="111111"/>
            </a:solidFill>
            <a:prstDash val="solid"/>
          </a:ln>
          <a:effectLst>
            <a:outerShdw sx="100000" sy="100000" kx="0" ky="0" algn="bl" rotWithShape="0" blurRad="0" dist="71842" dir="2700000">
              <a:srgbClr val="00E5FF">
                <a:alpha val="100000"/>
              </a:srgbClr>
            </a:outerShdw>
          </a:effectLst>
        </p:spPr>
      </p:sp>
      <p:sp>
        <p:nvSpPr>
          <p:cNvPr id="11" name="Text 9"/>
          <p:cNvSpPr/>
          <p:nvPr/>
        </p:nvSpPr>
        <p:spPr>
          <a:xfrm>
            <a:off x="6496050" y="2127151"/>
            <a:ext cx="4748403"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11111"/>
                </a:solidFill>
                <a:latin typeface="Geist" pitchFamily="34" charset="0"/>
                <a:ea typeface="Geist" pitchFamily="34" charset="-122"/>
                <a:cs typeface="Geist" pitchFamily="34" charset="-120"/>
              </a:rPr>
              <a:t>The owner: Dan</a:t>
            </a:r>
            <a:endParaRPr lang="en-US" sz="1800" dirty="0"/>
          </a:p>
        </p:txBody>
      </p:sp>
      <p:sp>
        <p:nvSpPr>
          <p:cNvPr id="12" name="Text 10"/>
          <p:cNvSpPr/>
          <p:nvPr/>
        </p:nvSpPr>
        <p:spPr>
          <a:xfrm>
            <a:off x="6496050" y="2502991"/>
            <a:ext cx="4748403" cy="311150"/>
          </a:xfrm>
          <a:prstGeom prst="rect">
            <a:avLst/>
          </a:prstGeom>
          <a:noFill/>
          <a:ln/>
        </p:spPr>
        <p:txBody>
          <a:bodyPr wrap="none" lIns="0" tIns="0" rIns="0" bIns="0" rtlCol="0" anchor="t">
            <a:normAutofit/>
          </a:bodyPr>
          <a:lstStyle/>
          <a:p>
            <a:pPr algn="l" indent="0" marL="0">
              <a:lnSpc>
                <a:spcPts val="2250"/>
              </a:lnSpc>
              <a:buNone/>
            </a:pPr>
            <a:r>
              <a:rPr lang="en-US" sz="1500" dirty="0">
                <a:solidFill>
                  <a:srgbClr val="111111"/>
                </a:solidFill>
                <a:latin typeface="Geist Mono" pitchFamily="49" charset="0"/>
                <a:ea typeface="Geist Mono" pitchFamily="49" charset="-122"/>
                <a:cs typeface="Geist Mono" pitchFamily="49" charset="-120"/>
              </a:rPr>
              <a:t>dan@danflashes.local</a:t>
            </a:r>
            <a:endParaRPr lang="en-US" sz="1500" dirty="0"/>
          </a:p>
        </p:txBody>
      </p:sp>
      <p:sp>
        <p:nvSpPr>
          <p:cNvPr id="13" name="Text 11"/>
          <p:cNvSpPr/>
          <p:nvPr/>
        </p:nvSpPr>
        <p:spPr>
          <a:xfrm>
            <a:off x="6496050" y="2890341"/>
            <a:ext cx="4748403" cy="311150"/>
          </a:xfrm>
          <a:prstGeom prst="rect">
            <a:avLst/>
          </a:prstGeom>
          <a:noFill/>
          <a:ln/>
        </p:spPr>
        <p:txBody>
          <a:bodyPr wrap="none" lIns="0" tIns="0" rIns="0" bIns="0" rtlCol="0" anchor="t">
            <a:normAutofit/>
          </a:bodyPr>
          <a:lstStyle/>
          <a:p>
            <a:pPr algn="l" indent="0" marL="0">
              <a:lnSpc>
                <a:spcPts val="2250"/>
              </a:lnSpc>
              <a:buNone/>
            </a:pPr>
            <a:r>
              <a:rPr lang="en-US" sz="1500" dirty="0">
                <a:solidFill>
                  <a:srgbClr val="111111"/>
                </a:solidFill>
                <a:latin typeface="Geist Mono" pitchFamily="49" charset="0"/>
                <a:ea typeface="Geist Mono" pitchFamily="49" charset="-122"/>
                <a:cs typeface="Geist Mono" pitchFamily="49" charset="-120"/>
              </a:rPr>
              <a:t>the-office-2026</a:t>
            </a:r>
            <a:endParaRPr lang="en-US" sz="1500" dirty="0"/>
          </a:p>
        </p:txBody>
      </p:sp>
      <p:sp>
        <p:nvSpPr>
          <p:cNvPr id="14" name="Text 12"/>
          <p:cNvSpPr/>
          <p:nvPr/>
        </p:nvSpPr>
        <p:spPr>
          <a:xfrm>
            <a:off x="6496050" y="3277691"/>
            <a:ext cx="4748403"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D382F"/>
                </a:solidFill>
                <a:latin typeface="Geist" pitchFamily="34" charset="0"/>
                <a:ea typeface="Geist" pitchFamily="34" charset="-122"/>
                <a:cs typeface="Geist" pitchFamily="34" charset="-120"/>
              </a:rPr>
              <a:t>An admin. Log in, then go to Dan’s Office at /admin.</a:t>
            </a:r>
            <a:endParaRPr lang="en-US" sz="1300" dirty="0"/>
          </a:p>
        </p:txBody>
      </p:sp>
      <p:sp>
        <p:nvSpPr>
          <p:cNvPr id="15" name="Text 13"/>
          <p:cNvSpPr/>
          <p:nvPr/>
        </p:nvSpPr>
        <p:spPr>
          <a:xfrm>
            <a:off x="812800" y="4317702"/>
            <a:ext cx="10883392"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D382F"/>
                </a:solidFill>
                <a:latin typeface="Geist" pitchFamily="34" charset="0"/>
                <a:ea typeface="Geist" pitchFamily="34" charset="-122"/>
                <a:cs typeface="Geist" pitchFamily="34" charset="-120"/>
              </a:rPr>
              <a:t>Test card: 4242 4242 4242 4242, any future expiry, any 3-digit CVC. Local demo accounts only; no real payments, ever.</a:t>
            </a:r>
            <a:endParaRPr lang="en-US" sz="1300" dirty="0"/>
          </a:p>
        </p:txBody>
      </p:sp>
      <p:sp>
        <p:nvSpPr>
          <p:cNvPr id="16" name="Text 14"/>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6B6252"/>
                </a:solidFill>
                <a:latin typeface="Geist" pitchFamily="34" charset="0"/>
                <a:ea typeface="Geist" pitchFamily="34" charset="-122"/>
                <a:cs typeface="Geist" pitchFamily="34" charset="-120"/>
              </a:rPr>
              <a:t>DAN FLASHES × SPEC KIT</a:t>
            </a:r>
            <a:endParaRPr lang="en-US" sz="1200" dirty="0"/>
          </a:p>
        </p:txBody>
      </p:sp>
      <p:sp>
        <p:nvSpPr>
          <p:cNvPr id="17" name="Text 15"/>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6252"/>
                </a:solidFill>
                <a:latin typeface="Geist" pitchFamily="34" charset="0"/>
                <a:ea typeface="Geist" pitchFamily="34" charset="-122"/>
                <a:cs typeface="Geist" pitchFamily="34" charset="-120"/>
              </a:rPr>
              <a:t>22</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111111"/>
        </a:solidFill>
      </p:bgPr>
    </p:bg>
    <p:spTree>
      <p:nvGrpSpPr>
        <p:cNvPr id="1" name=""/>
        <p:cNvGrpSpPr/>
        <p:nvPr/>
      </p:nvGrpSpPr>
      <p:grpSpPr>
        <a:xfrm>
          <a:off x="0" y="0"/>
          <a:ext cx="0" cy="0"/>
          <a:chOff x="0" y="0"/>
          <a:chExt cx="0" cy="0"/>
        </a:xfrm>
      </p:grpSpPr>
      <p:sp>
        <p:nvSpPr>
          <p:cNvPr id="2" name="Shape 0"/>
          <p:cNvSpPr/>
          <p:nvPr/>
        </p:nvSpPr>
        <p:spPr>
          <a:xfrm>
            <a:off x="0" y="0"/>
            <a:ext cx="12192000" cy="304800"/>
          </a:xfrm>
          <a:prstGeom prst="rect">
            <a:avLst/>
          </a:prstGeom>
          <a:gradFill rotWithShape="1">
            <a:gsLst>
              <a:gs pos="0">
                <a:srgbClr val="FF2D95"/>
              </a:gs>
              <a:gs pos="25000">
                <a:srgbClr val="FF2D95"/>
              </a:gs>
              <a:gs pos="25000">
                <a:srgbClr val="FFE600"/>
              </a:gs>
              <a:gs pos="50000">
                <a:srgbClr val="FFE600"/>
              </a:gs>
              <a:gs pos="50000">
                <a:srgbClr val="00E5FF"/>
              </a:gs>
              <a:gs pos="75000">
                <a:srgbClr val="00E5FF"/>
              </a:gs>
              <a:gs pos="75000">
                <a:srgbClr val="B6FF00"/>
              </a:gs>
              <a:gs pos="100000">
                <a:srgbClr val="B6FF00"/>
              </a:gs>
            </a:gsLst>
            <a:lin ang="2700000" scaled="0"/>
          </a:gradFill>
          <a:ln/>
        </p:spPr>
      </p:sp>
      <p:sp>
        <p:nvSpPr>
          <p:cNvPr id="3" name="Shape 1"/>
          <p:cNvSpPr/>
          <p:nvPr/>
        </p:nvSpPr>
        <p:spPr>
          <a:xfrm>
            <a:off x="0" y="6553200"/>
            <a:ext cx="12192000" cy="304800"/>
          </a:xfrm>
          <a:prstGeom prst="rect">
            <a:avLst/>
          </a:prstGeom>
          <a:gradFill rotWithShape="1">
            <a:gsLst>
              <a:gs pos="0">
                <a:srgbClr val="7A00FF"/>
              </a:gs>
              <a:gs pos="25000">
                <a:srgbClr val="7A00FF"/>
              </a:gs>
              <a:gs pos="25000">
                <a:srgbClr val="FF2D95"/>
              </a:gs>
              <a:gs pos="50000">
                <a:srgbClr val="FF2D95"/>
              </a:gs>
              <a:gs pos="50000">
                <a:srgbClr val="FFE600"/>
              </a:gs>
              <a:gs pos="75000">
                <a:srgbClr val="FFE600"/>
              </a:gs>
              <a:gs pos="75000">
                <a:srgbClr val="00E5FF"/>
              </a:gs>
              <a:gs pos="100000">
                <a:srgbClr val="00E5FF"/>
              </a:gs>
            </a:gsLst>
            <a:lin ang="18900000" scaled="0"/>
          </a:gradFill>
          <a:ln/>
        </p:spPr>
      </p:sp>
      <p:sp>
        <p:nvSpPr>
          <p:cNvPr id="4" name="Text 2"/>
          <p:cNvSpPr/>
          <p:nvPr/>
        </p:nvSpPr>
        <p:spPr>
          <a:xfrm>
            <a:off x="812800" y="1854299"/>
            <a:ext cx="9810750" cy="939800"/>
          </a:xfrm>
          <a:prstGeom prst="rect">
            <a:avLst/>
          </a:prstGeom>
          <a:noFill/>
          <a:ln/>
        </p:spPr>
        <p:txBody>
          <a:bodyPr wrap="square" lIns="0" tIns="0" rIns="0" bIns="0" rtlCol="0" anchor="t">
            <a:normAutofit/>
          </a:bodyPr>
          <a:lstStyle/>
          <a:p>
            <a:pPr algn="l" indent="0" marL="0">
              <a:lnSpc>
                <a:spcPts val="3600"/>
              </a:lnSpc>
              <a:buNone/>
            </a:pPr>
            <a:r>
              <a:rPr lang="en-US" sz="3000" b="1" dirty="0">
                <a:solidFill>
                  <a:srgbClr val="FFF8E7"/>
                </a:solidFill>
                <a:latin typeface="Geist" pitchFamily="34" charset="0"/>
                <a:ea typeface="Geist" pitchFamily="34" charset="-122"/>
                <a:cs typeface="Geist" pitchFamily="34" charset="-120"/>
              </a:rPr>
              <a:t>I wrote about 120 messages. I didn’t write the specs. </a:t>
            </a:r>
            <a:r>
              <a:rPr lang="en-US" sz="3000" b="1" dirty="0">
                <a:solidFill>
                  <a:srgbClr val="FF2D95"/>
                </a:solidFill>
                <a:latin typeface="Geist" pitchFamily="34" charset="0"/>
                <a:ea typeface="Geist" pitchFamily="34" charset="-122"/>
                <a:cs typeface="Geist" pitchFamily="34" charset="-120"/>
              </a:rPr>
              <a:t>I decided them.</a:t>
            </a:r>
            <a:endParaRPr lang="en-US" sz="3000" dirty="0"/>
          </a:p>
        </p:txBody>
      </p:sp>
      <p:sp>
        <p:nvSpPr>
          <p:cNvPr id="5" name="Shape 3"/>
          <p:cNvSpPr/>
          <p:nvPr/>
        </p:nvSpPr>
        <p:spPr>
          <a:xfrm>
            <a:off x="812800" y="3149699"/>
            <a:ext cx="3352800" cy="0"/>
          </a:xfrm>
          <a:prstGeom prst="line">
            <a:avLst/>
          </a:prstGeom>
          <a:noFill/>
          <a:ln w="50800">
            <a:solidFill>
              <a:srgbClr val="FFE600"/>
            </a:solidFill>
            <a:prstDash val="solid"/>
          </a:ln>
        </p:spPr>
      </p:sp>
      <p:sp>
        <p:nvSpPr>
          <p:cNvPr id="6" name="Text 4"/>
          <p:cNvSpPr/>
          <p:nvPr/>
        </p:nvSpPr>
        <p:spPr>
          <a:xfrm>
            <a:off x="812800" y="3327499"/>
            <a:ext cx="3453384"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FE600"/>
                </a:solidFill>
                <a:latin typeface="Geist" pitchFamily="34" charset="0"/>
                <a:ea typeface="Geist" pitchFamily="34" charset="-122"/>
                <a:cs typeface="Geist" pitchFamily="34" charset="-120"/>
              </a:rPr>
              <a:t>Decide before code</a:t>
            </a:r>
            <a:endParaRPr lang="en-US" sz="1800" dirty="0"/>
          </a:p>
        </p:txBody>
      </p:sp>
      <p:sp>
        <p:nvSpPr>
          <p:cNvPr id="7" name="Text 5"/>
          <p:cNvSpPr/>
          <p:nvPr/>
        </p:nvSpPr>
        <p:spPr>
          <a:xfrm>
            <a:off x="812800" y="3665240"/>
            <a:ext cx="3453384" cy="505420"/>
          </a:xfrm>
          <a:prstGeom prst="rect">
            <a:avLst/>
          </a:prstGeom>
          <a:noFill/>
          <a:ln/>
        </p:spPr>
        <p:txBody>
          <a:bodyPr wrap="square" lIns="0" tIns="0" rIns="0" bIns="0" rtlCol="0" anchor="t">
            <a:normAutofit/>
          </a:bodyPr>
          <a:lstStyle/>
          <a:p>
            <a:pPr algn="l" indent="0" marL="0">
              <a:lnSpc>
                <a:spcPts val="1890"/>
              </a:lnSpc>
              <a:buNone/>
            </a:pPr>
            <a:r>
              <a:rPr lang="en-US" sz="1350" dirty="0">
                <a:solidFill>
                  <a:srgbClr val="D9D0BD"/>
                </a:solidFill>
                <a:latin typeface="Geist" pitchFamily="34" charset="0"/>
                <a:ea typeface="Geist" pitchFamily="34" charset="-122"/>
                <a:cs typeface="Geist" pitchFamily="34" charset="-120"/>
              </a:rPr>
              <a:t>Answering good questions beats rewriting code.</a:t>
            </a:r>
            <a:endParaRPr lang="en-US" sz="1350" dirty="0"/>
          </a:p>
        </p:txBody>
      </p:sp>
      <p:sp>
        <p:nvSpPr>
          <p:cNvPr id="8" name="Shape 6"/>
          <p:cNvSpPr/>
          <p:nvPr/>
        </p:nvSpPr>
        <p:spPr>
          <a:xfrm>
            <a:off x="4419600" y="3149699"/>
            <a:ext cx="3352800" cy="0"/>
          </a:xfrm>
          <a:prstGeom prst="line">
            <a:avLst/>
          </a:prstGeom>
          <a:noFill/>
          <a:ln w="50800">
            <a:solidFill>
              <a:srgbClr val="00E5FF"/>
            </a:solidFill>
            <a:prstDash val="solid"/>
          </a:ln>
        </p:spPr>
      </p:sp>
      <p:sp>
        <p:nvSpPr>
          <p:cNvPr id="9" name="Text 7"/>
          <p:cNvSpPr/>
          <p:nvPr/>
        </p:nvSpPr>
        <p:spPr>
          <a:xfrm>
            <a:off x="4419600" y="3327499"/>
            <a:ext cx="3453384"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00E5FF"/>
                </a:solidFill>
                <a:latin typeface="Geist" pitchFamily="34" charset="0"/>
                <a:ea typeface="Geist" pitchFamily="34" charset="-122"/>
                <a:cs typeface="Geist" pitchFamily="34" charset="-120"/>
              </a:rPr>
              <a:t>Write the laws down</a:t>
            </a:r>
            <a:endParaRPr lang="en-US" sz="1800" dirty="0"/>
          </a:p>
        </p:txBody>
      </p:sp>
      <p:sp>
        <p:nvSpPr>
          <p:cNvPr id="10" name="Text 8"/>
          <p:cNvSpPr/>
          <p:nvPr/>
        </p:nvSpPr>
        <p:spPr>
          <a:xfrm>
            <a:off x="4419600" y="3665240"/>
            <a:ext cx="3453384" cy="505420"/>
          </a:xfrm>
          <a:prstGeom prst="rect">
            <a:avLst/>
          </a:prstGeom>
          <a:noFill/>
          <a:ln/>
        </p:spPr>
        <p:txBody>
          <a:bodyPr wrap="square" lIns="0" tIns="0" rIns="0" bIns="0" rtlCol="0" anchor="t">
            <a:normAutofit/>
          </a:bodyPr>
          <a:lstStyle/>
          <a:p>
            <a:pPr algn="l" indent="0" marL="0">
              <a:lnSpc>
                <a:spcPts val="1890"/>
              </a:lnSpc>
              <a:buNone/>
            </a:pPr>
            <a:r>
              <a:rPr lang="en-US" sz="1350" dirty="0">
                <a:solidFill>
                  <a:srgbClr val="D9D0BD"/>
                </a:solidFill>
                <a:latin typeface="Geist" pitchFamily="34" charset="0"/>
                <a:ea typeface="Geist" pitchFamily="34" charset="-122"/>
                <a:cs typeface="Geist" pitchFamily="34" charset="-120"/>
              </a:rPr>
              <a:t>The constitution held the joke for 12 features.</a:t>
            </a:r>
            <a:endParaRPr lang="en-US" sz="1350" dirty="0"/>
          </a:p>
        </p:txBody>
      </p:sp>
      <p:sp>
        <p:nvSpPr>
          <p:cNvPr id="11" name="Shape 9"/>
          <p:cNvSpPr/>
          <p:nvPr/>
        </p:nvSpPr>
        <p:spPr>
          <a:xfrm>
            <a:off x="8026400" y="3149699"/>
            <a:ext cx="3352800" cy="0"/>
          </a:xfrm>
          <a:prstGeom prst="line">
            <a:avLst/>
          </a:prstGeom>
          <a:noFill/>
          <a:ln w="50800">
            <a:solidFill>
              <a:srgbClr val="B6FF00"/>
            </a:solidFill>
            <a:prstDash val="solid"/>
          </a:ln>
        </p:spPr>
      </p:sp>
      <p:sp>
        <p:nvSpPr>
          <p:cNvPr id="12" name="Text 10"/>
          <p:cNvSpPr/>
          <p:nvPr/>
        </p:nvSpPr>
        <p:spPr>
          <a:xfrm>
            <a:off x="8026400" y="3327499"/>
            <a:ext cx="3453384"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B6FF00"/>
                </a:solidFill>
                <a:latin typeface="Geist" pitchFamily="34" charset="0"/>
                <a:ea typeface="Geist" pitchFamily="34" charset="-122"/>
                <a:cs typeface="Geist" pitchFamily="34" charset="-120"/>
              </a:rPr>
              <a:t>Start fresh sessions</a:t>
            </a:r>
            <a:endParaRPr lang="en-US" sz="1800" dirty="0"/>
          </a:p>
        </p:txBody>
      </p:sp>
      <p:sp>
        <p:nvSpPr>
          <p:cNvPr id="13" name="Text 11"/>
          <p:cNvSpPr/>
          <p:nvPr/>
        </p:nvSpPr>
        <p:spPr>
          <a:xfrm>
            <a:off x="8026400" y="3665240"/>
            <a:ext cx="3453384" cy="505420"/>
          </a:xfrm>
          <a:prstGeom prst="rect">
            <a:avLst/>
          </a:prstGeom>
          <a:noFill/>
          <a:ln/>
        </p:spPr>
        <p:txBody>
          <a:bodyPr wrap="square" lIns="0" tIns="0" rIns="0" bIns="0" rtlCol="0" anchor="t">
            <a:normAutofit/>
          </a:bodyPr>
          <a:lstStyle/>
          <a:p>
            <a:pPr algn="l" indent="0" marL="0">
              <a:lnSpc>
                <a:spcPts val="1890"/>
              </a:lnSpc>
              <a:buNone/>
            </a:pPr>
            <a:r>
              <a:rPr lang="en-US" sz="1350" dirty="0">
                <a:solidFill>
                  <a:srgbClr val="D9D0BD"/>
                </a:solidFill>
                <a:latin typeface="Geist" pitchFamily="34" charset="0"/>
                <a:ea typeface="Geist" pitchFamily="34" charset="-122"/>
                <a:cs typeface="Geist" pitchFamily="34" charset="-120"/>
              </a:rPr>
              <a:t>The specs remember, so the chat doesn’t have to.</a:t>
            </a:r>
            <a:endParaRPr lang="en-US" sz="1350" dirty="0"/>
          </a:p>
        </p:txBody>
      </p:sp>
      <p:sp>
        <p:nvSpPr>
          <p:cNvPr id="14" name="Text 12"/>
          <p:cNvSpPr/>
          <p:nvPr>
            <p:ph type="title"/>
          </p:nvPr>
        </p:nvSpPr>
        <p:spPr>
          <a:xfrm>
            <a:off x="812800" y="450086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0" i="0" dirty="0">
                <a:solidFill>
                  <a:srgbClr val="FFE600"/>
                </a:solidFill>
                <a:latin typeface="Bungee" pitchFamily="34" charset="0"/>
                <a:ea typeface="Bungee" pitchFamily="34" charset="-122"/>
                <a:cs typeface="Bungee" pitchFamily="34" charset="-120"/>
              </a:rPr>
              <a:t>Questions?</a:t>
            </a:r>
            <a:endParaRPr lang="en-US" sz="3600" dirty="0"/>
          </a:p>
        </p:txBody>
      </p:sp>
    </p:spTree>
  </p:cSld>
  <p:clrMapOvr>
    <a:masterClrMapping/>
  </p:clrMapOvr>
</p:sld>
</file>

<file path=ppt/theme/theme1.xml><?xml version="1.0" encoding="utf-8"?>
<a:theme xmlns:a="http://schemas.openxmlformats.org/drawingml/2006/main" name="Dan Flashes: Spec-Driven Development with Spec Kit">
  <a:themeElements>
    <a:clrScheme name="Dan Flashes: Spec-Driven Development with Spec Kit">
      <a:dk1>
        <a:srgbClr val="111111"/>
      </a:dk1>
      <a:lt1>
        <a:srgbClr val="FFF8E7"/>
      </a:lt1>
      <a:dk2>
        <a:srgbClr val="4D4B47"/>
      </a:dk2>
      <a:lt2>
        <a:srgbClr val="E7E1D2"/>
      </a:lt2>
      <a:accent1>
        <a:srgbClr val="FFE600"/>
      </a:accent1>
      <a:accent2>
        <a:srgbClr val="FF2D95"/>
      </a:accent2>
      <a:accent3>
        <a:srgbClr val="B6FF00"/>
      </a:accent3>
      <a:accent4>
        <a:srgbClr val="00E5FF"/>
      </a:accent4>
      <a:accent5>
        <a:srgbClr val="7A00FF"/>
      </a:accent5>
      <a:accent6>
        <a:srgbClr val="3D382F"/>
      </a:accent6>
      <a:hlink>
        <a:srgbClr val="0563C1"/>
      </a:hlink>
      <a:folHlink>
        <a:srgbClr val="954F72"/>
      </a:folHlink>
    </a:clrScheme>
    <a:fontScheme name="Dan Flashes: Spec-Driven Development with Spec Kit">
      <a:majorFont>
        <a:latin typeface="Geis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Geist"/>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Dan Flashes: Spec-Driven Development with Spec Kit</dc:title>
  <dc:subject/>
  <dc:description>The font files embedded in this presentation (stored inside it under ppt/fonts/) are files Google Fonts served when the presentation was exported, unpacked from WOFF2 to TrueType and wrapped as Embedded OpenType, the form PowerPoint reads. A file that named another cut of its family, unless it reserves that name, was also changed where it could be, so that PowerPoint matches it to this presentation’s text: its family and style names and the weight and style it declares were rewritten, and any digital signature, which no longer matched, was removed. Google Fonts serves each family in parts, one file per range of characters, so these may not be a family’s complete files. Each family’s copyright lines and license follow, and each family stays under its own license; if you pass this file on, keep these notices with it.
Geist
Copyright 2024 The Geist Project Authors (https://github.com/vercel/geist-font.git)
This Font Software is licensed under the SIL Open Font License, Version 1.1.
This license is copied below, and is also available with a FAQ at:
https://openfontlicense.org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Geist Mono
Copyright 2024 The Geist Project Authors (https://github.com/vercel/geist-font.git)
This Font Software is licensed under the SIL Open Font License, Version 1.1.
This license is copied below, and is also available with a FAQ at:
https://openfontlicense.org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Bungee
Copyright 2023 The Bungee Project Authors (https://github.com/djrrb/Bungee)
This Font Software is licensed under the SIL Open Font License, Version 1.1.
This license is copied below, and is also available with a FAQ at:
https://openfontlicense.org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dc:description>
  <dc:creator/>
  <cp:lastModifiedBy/>
  <cp:revision>1</cp:revision>
  <dcterms:created xsi:type="dcterms:W3CDTF">2026-10-28T15:26:45Z</dcterms:created>
  <dcterms:modified xsi:type="dcterms:W3CDTF">2026-10-28T15:26:45Z</dcterms:modified>
</cp:coreProperties>
</file>